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2"/>
  </p:notesMasterIdLst>
  <p:sldIdLst>
    <p:sldId id="375" r:id="rId2"/>
    <p:sldId id="257" r:id="rId3"/>
    <p:sldId id="358" r:id="rId4"/>
    <p:sldId id="278" r:id="rId5"/>
    <p:sldId id="285" r:id="rId6"/>
    <p:sldId id="287" r:id="rId7"/>
    <p:sldId id="357" r:id="rId8"/>
    <p:sldId id="288" r:id="rId9"/>
    <p:sldId id="279" r:id="rId10"/>
    <p:sldId id="291" r:id="rId11"/>
    <p:sldId id="290" r:id="rId12"/>
    <p:sldId id="280" r:id="rId13"/>
    <p:sldId id="292" r:id="rId14"/>
    <p:sldId id="293" r:id="rId15"/>
    <p:sldId id="294" r:id="rId16"/>
    <p:sldId id="295" r:id="rId17"/>
    <p:sldId id="296" r:id="rId18"/>
    <p:sldId id="297" r:id="rId19"/>
    <p:sldId id="299" r:id="rId20"/>
    <p:sldId id="302" r:id="rId21"/>
    <p:sldId id="281" r:id="rId22"/>
    <p:sldId id="365" r:id="rId23"/>
    <p:sldId id="364" r:id="rId24"/>
    <p:sldId id="301" r:id="rId25"/>
    <p:sldId id="303" r:id="rId26"/>
    <p:sldId id="362" r:id="rId27"/>
    <p:sldId id="304" r:id="rId28"/>
    <p:sldId id="307" r:id="rId29"/>
    <p:sldId id="308" r:id="rId30"/>
    <p:sldId id="309" r:id="rId31"/>
    <p:sldId id="310" r:id="rId32"/>
    <p:sldId id="360" r:id="rId33"/>
    <p:sldId id="343" r:id="rId34"/>
    <p:sldId id="282" r:id="rId35"/>
    <p:sldId id="312" r:id="rId36"/>
    <p:sldId id="313" r:id="rId37"/>
    <p:sldId id="366" r:id="rId38"/>
    <p:sldId id="368" r:id="rId39"/>
    <p:sldId id="367" r:id="rId40"/>
    <p:sldId id="316" r:id="rId41"/>
    <p:sldId id="317" r:id="rId42"/>
    <p:sldId id="369" r:id="rId43"/>
    <p:sldId id="283" r:id="rId44"/>
    <p:sldId id="318" r:id="rId45"/>
    <p:sldId id="345" r:id="rId46"/>
    <p:sldId id="314" r:id="rId47"/>
    <p:sldId id="335" r:id="rId48"/>
    <p:sldId id="338" r:id="rId49"/>
    <p:sldId id="319" r:id="rId50"/>
    <p:sldId id="320" r:id="rId51"/>
    <p:sldId id="321" r:id="rId52"/>
    <p:sldId id="322" r:id="rId53"/>
    <p:sldId id="323" r:id="rId54"/>
    <p:sldId id="324" r:id="rId55"/>
    <p:sldId id="325" r:id="rId56"/>
    <p:sldId id="284" r:id="rId57"/>
    <p:sldId id="349" r:id="rId58"/>
    <p:sldId id="350" r:id="rId59"/>
    <p:sldId id="331" r:id="rId60"/>
    <p:sldId id="344" r:id="rId61"/>
    <p:sldId id="326" r:id="rId62"/>
    <p:sldId id="327" r:id="rId63"/>
    <p:sldId id="328" r:id="rId64"/>
    <p:sldId id="329" r:id="rId65"/>
    <p:sldId id="351" r:id="rId66"/>
    <p:sldId id="352" r:id="rId67"/>
    <p:sldId id="354" r:id="rId68"/>
    <p:sldId id="330" r:id="rId69"/>
    <p:sldId id="353" r:id="rId70"/>
    <p:sldId id="332" r:id="rId71"/>
    <p:sldId id="370" r:id="rId72"/>
    <p:sldId id="371" r:id="rId73"/>
    <p:sldId id="372" r:id="rId74"/>
    <p:sldId id="333" r:id="rId75"/>
    <p:sldId id="373" r:id="rId76"/>
    <p:sldId id="374" r:id="rId77"/>
    <p:sldId id="334" r:id="rId78"/>
    <p:sldId id="339" r:id="rId79"/>
    <p:sldId id="341" r:id="rId80"/>
    <p:sldId id="340" r:id="rId8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3490" autoAdjust="0"/>
  </p:normalViewPr>
  <p:slideViewPr>
    <p:cSldViewPr>
      <p:cViewPr varScale="1">
        <p:scale>
          <a:sx n="64" d="100"/>
          <a:sy n="64" d="100"/>
        </p:scale>
        <p:origin x="1268" y="3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notesMaster" Target="notesMasters/notesMaster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1F59224-6E66-4927-9627-105E46AD64CB}" type="datetimeFigureOut">
              <a:rPr lang="en-US" smtClean="0"/>
              <a:pPr/>
              <a:t>27/04/2020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5E7AA0-7F62-47F0-A330-66698F704328}" type="slidenum">
              <a:rPr lang="en-US" smtClean="0"/>
              <a:pPr/>
              <a:t>‹#›</a:t>
            </a:fld>
            <a:endParaRPr lang="en-US"/>
          </a:p>
        </p:txBody>
      </p:sp>
    </p:spTree>
    <p:extLst>
      <p:ext uri="{BB962C8B-B14F-4D97-AF65-F5344CB8AC3E}">
        <p14:creationId xmlns:p14="http://schemas.microsoft.com/office/powerpoint/2010/main" val="9533368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8A70A0-C5C6-4022-8278-614F55BB15F4}" type="slidenum">
              <a:rPr lang="en-US" smtClean="0"/>
              <a:t>1</a:t>
            </a:fld>
            <a:endParaRPr lang="en-US"/>
          </a:p>
        </p:txBody>
      </p:sp>
    </p:spTree>
    <p:extLst>
      <p:ext uri="{BB962C8B-B14F-4D97-AF65-F5344CB8AC3E}">
        <p14:creationId xmlns:p14="http://schemas.microsoft.com/office/powerpoint/2010/main" val="39707385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65E7AA0-7F62-47F0-A330-66698F704328}" type="slidenum">
              <a:rPr lang="en-US" smtClean="0"/>
              <a:pPr/>
              <a:t>14</a:t>
            </a:fld>
            <a:endParaRPr lang="en-US"/>
          </a:p>
        </p:txBody>
      </p:sp>
    </p:spTree>
    <p:extLst>
      <p:ext uri="{BB962C8B-B14F-4D97-AF65-F5344CB8AC3E}">
        <p14:creationId xmlns:p14="http://schemas.microsoft.com/office/powerpoint/2010/main" val="33718251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mtClean="0"/>
              <a:t>truy vấn đệ quy, tức là nếu ai đi hỏi mà </a:t>
            </a:r>
            <a:r>
              <a:rPr lang="en-US" smtClean="0"/>
              <a:t>ta</a:t>
            </a:r>
            <a:r>
              <a:rPr lang="vi-VN" smtClean="0"/>
              <a:t> hổng biết, t</a:t>
            </a:r>
            <a:r>
              <a:rPr lang="en-US" smtClean="0"/>
              <a:t>a</a:t>
            </a:r>
            <a:r>
              <a:rPr lang="vi-VN" smtClean="0"/>
              <a:t> sẽ đi hỏi giùm rồi trả lời (lúc đó người hỏi sẽ nhận được non-authoritative answer)</a:t>
            </a:r>
            <a:br>
              <a:rPr lang="vi-VN" smtClean="0"/>
            </a:br>
            <a:endParaRPr lang="en-US"/>
          </a:p>
        </p:txBody>
      </p:sp>
      <p:sp>
        <p:nvSpPr>
          <p:cNvPr id="4" name="Slide Number Placeholder 3"/>
          <p:cNvSpPr>
            <a:spLocks noGrp="1"/>
          </p:cNvSpPr>
          <p:nvPr>
            <p:ph type="sldNum" sz="quarter" idx="10"/>
          </p:nvPr>
        </p:nvSpPr>
        <p:spPr/>
        <p:txBody>
          <a:bodyPr/>
          <a:lstStyle/>
          <a:p>
            <a:fld id="{565E7AA0-7F62-47F0-A330-66698F704328}" type="slidenum">
              <a:rPr lang="en-US" smtClean="0"/>
              <a:pPr/>
              <a:t>15</a:t>
            </a:fld>
            <a:endParaRPr lang="en-US"/>
          </a:p>
        </p:txBody>
      </p:sp>
    </p:spTree>
    <p:extLst>
      <p:ext uri="{BB962C8B-B14F-4D97-AF65-F5344CB8AC3E}">
        <p14:creationId xmlns:p14="http://schemas.microsoft.com/office/powerpoint/2010/main" val="42532341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vi-VN" smtClean="0"/>
              <a:t>Bản  thân name server không thực hiện bất cứ một truy vấn nào thêm</a:t>
            </a:r>
            <a:endParaRPr lang="en-US" smtClean="0"/>
          </a:p>
          <a:p>
            <a:endParaRPr lang="en-US"/>
          </a:p>
        </p:txBody>
      </p:sp>
      <p:sp>
        <p:nvSpPr>
          <p:cNvPr id="4" name="Slide Number Placeholder 3"/>
          <p:cNvSpPr>
            <a:spLocks noGrp="1"/>
          </p:cNvSpPr>
          <p:nvPr>
            <p:ph type="sldNum" sz="quarter" idx="10"/>
          </p:nvPr>
        </p:nvSpPr>
        <p:spPr/>
        <p:txBody>
          <a:bodyPr/>
          <a:lstStyle/>
          <a:p>
            <a:fld id="{565E7AA0-7F62-47F0-A330-66698F704328}" type="slidenum">
              <a:rPr lang="en-US" smtClean="0"/>
              <a:pPr/>
              <a:t>16</a:t>
            </a:fld>
            <a:endParaRPr lang="en-US"/>
          </a:p>
        </p:txBody>
      </p:sp>
    </p:spTree>
    <p:extLst>
      <p:ext uri="{BB962C8B-B14F-4D97-AF65-F5344CB8AC3E}">
        <p14:creationId xmlns:p14="http://schemas.microsoft.com/office/powerpoint/2010/main" val="1683030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B9CA0F2-E5DA-4043-B25C-C69E4D46B81D}" type="slidenum">
              <a:rPr lang="en-US"/>
              <a:pPr/>
              <a:t>26</a:t>
            </a:fld>
            <a:endParaRPr lang="en-US"/>
          </a:p>
        </p:txBody>
      </p:sp>
      <p:sp>
        <p:nvSpPr>
          <p:cNvPr id="49154" name="Rectangle 2"/>
          <p:cNvSpPr>
            <a:spLocks noGrp="1" noRot="1" noChangeAspect="1" noChangeArrowheads="1" noTextEdit="1"/>
          </p:cNvSpPr>
          <p:nvPr>
            <p:ph type="sldImg"/>
          </p:nvPr>
        </p:nvSpPr>
        <p:spPr>
          <a:xfrm>
            <a:off x="1146175" y="685800"/>
            <a:ext cx="4570413" cy="3427413"/>
          </a:xfrm>
          <a:ln/>
        </p:spPr>
      </p:sp>
      <p:sp>
        <p:nvSpPr>
          <p:cNvPr id="4915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0498960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p>
            <a:fld id="{76BB923E-9BAA-4897-9DE1-70FFE6D3872A}" type="slidenum">
              <a:rPr lang="en-US"/>
              <a:pPr/>
              <a:t>39</a:t>
            </a:fld>
            <a:endParaRPr lang="en-US"/>
          </a:p>
        </p:txBody>
      </p:sp>
      <p:sp>
        <p:nvSpPr>
          <p:cNvPr id="29699" name="Rectangle 2"/>
          <p:cNvSpPr>
            <a:spLocks noGrp="1" noRot="1" noChangeAspect="1" noChangeArrowheads="1" noTextEdit="1"/>
          </p:cNvSpPr>
          <p:nvPr>
            <p:ph type="sldImg"/>
          </p:nvPr>
        </p:nvSpPr>
        <p:spPr>
          <a:xfrm>
            <a:off x="929438" y="686421"/>
            <a:ext cx="5002324" cy="3426261"/>
          </a:xfrm>
          <a:ln/>
        </p:spPr>
      </p:sp>
      <p:sp>
        <p:nvSpPr>
          <p:cNvPr id="29700"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19470024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p>
            <a:fld id="{76BB923E-9BAA-4897-9DE1-70FFE6D3872A}" type="slidenum">
              <a:rPr lang="en-US"/>
              <a:pPr/>
              <a:t>65</a:t>
            </a:fld>
            <a:endParaRPr lang="en-US"/>
          </a:p>
        </p:txBody>
      </p:sp>
      <p:sp>
        <p:nvSpPr>
          <p:cNvPr id="29699" name="Rectangle 2"/>
          <p:cNvSpPr>
            <a:spLocks noGrp="1" noRot="1" noChangeAspect="1" noChangeArrowheads="1" noTextEdit="1"/>
          </p:cNvSpPr>
          <p:nvPr>
            <p:ph type="sldImg"/>
          </p:nvPr>
        </p:nvSpPr>
        <p:spPr>
          <a:xfrm>
            <a:off x="929438" y="686421"/>
            <a:ext cx="5002324" cy="3426261"/>
          </a:xfrm>
          <a:ln/>
        </p:spPr>
      </p:sp>
      <p:sp>
        <p:nvSpPr>
          <p:cNvPr id="29700"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4452993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65E7AA0-7F62-47F0-A330-66698F704328}" type="slidenum">
              <a:rPr lang="en-US" smtClean="0"/>
              <a:pPr/>
              <a:t>70</a:t>
            </a:fld>
            <a:endParaRPr lang="en-US"/>
          </a:p>
        </p:txBody>
      </p:sp>
    </p:spTree>
    <p:extLst>
      <p:ext uri="{BB962C8B-B14F-4D97-AF65-F5344CB8AC3E}">
        <p14:creationId xmlns:p14="http://schemas.microsoft.com/office/powerpoint/2010/main" val="8863668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65E7AA0-7F62-47F0-A330-66698F704328}" type="slidenum">
              <a:rPr lang="en-US" smtClean="0"/>
              <a:pPr/>
              <a:t>71</a:t>
            </a:fld>
            <a:endParaRPr lang="en-US"/>
          </a:p>
        </p:txBody>
      </p:sp>
    </p:spTree>
    <p:extLst>
      <p:ext uri="{BB962C8B-B14F-4D97-AF65-F5344CB8AC3E}">
        <p14:creationId xmlns:p14="http://schemas.microsoft.com/office/powerpoint/2010/main" val="8863668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65E7AA0-7F62-47F0-A330-66698F704328}" type="slidenum">
              <a:rPr lang="en-US" smtClean="0"/>
              <a:pPr/>
              <a:t>72</a:t>
            </a:fld>
            <a:endParaRPr lang="en-US"/>
          </a:p>
        </p:txBody>
      </p:sp>
    </p:spTree>
    <p:extLst>
      <p:ext uri="{BB962C8B-B14F-4D97-AF65-F5344CB8AC3E}">
        <p14:creationId xmlns:p14="http://schemas.microsoft.com/office/powerpoint/2010/main" val="88636689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ight Triangle 3"/>
          <p:cNvSpPr/>
          <p:nvPr/>
        </p:nvSpPr>
        <p:spPr>
          <a:xfrm>
            <a:off x="0" y="4664075"/>
            <a:ext cx="9150350"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grpSp>
        <p:nvGrpSpPr>
          <p:cNvPr id="2" name="Group 15"/>
          <p:cNvGrpSpPr>
            <a:grpSpLocks/>
          </p:cNvGrpSpPr>
          <p:nvPr/>
        </p:nvGrpSpPr>
        <p:grpSpPr bwMode="auto">
          <a:xfrm>
            <a:off x="-3175" y="4953000"/>
            <a:ext cx="9147175" cy="1911350"/>
            <a:chOff x="-3765" y="4832896"/>
            <a:chExt cx="9147765" cy="2032192"/>
          </a:xfrm>
        </p:grpSpPr>
        <p:sp>
          <p:nvSpPr>
            <p:cNvPr id="6" name="Freeform 5"/>
            <p:cNvSpPr>
              <a:spLocks/>
            </p:cNvSpPr>
            <p:nvPr/>
          </p:nvSpPr>
          <p:spPr bwMode="auto">
            <a:xfrm>
              <a:off x="1687032" y="4832896"/>
              <a:ext cx="7456968" cy="51817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a:p>
          </p:txBody>
        </p:sp>
        <p:sp>
          <p:nvSpPr>
            <p:cNvPr id="7" name="Freeform 6"/>
            <p:cNvSpPr>
              <a:spLocks/>
            </p:cNvSpPr>
            <p:nvPr/>
          </p:nvSpPr>
          <p:spPr bwMode="auto">
            <a:xfrm>
              <a:off x="35926" y="5135025"/>
              <a:ext cx="9108074" cy="838869"/>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lang="en-US"/>
            </a:p>
          </p:txBody>
        </p:sp>
        <p:sp>
          <p:nvSpPr>
            <p:cNvPr id="8" name="Freeform 7"/>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cxnSp>
          <p:nvCxnSpPr>
            <p:cNvPr id="10" name="Straight Connector 9"/>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9" name="Title 8"/>
          <p:cNvSpPr>
            <a:spLocks noGrp="1"/>
          </p:cNvSpPr>
          <p:nvPr>
            <p:ph type="ctrTitle"/>
          </p:nvPr>
        </p:nvSpPr>
        <p:spPr>
          <a:xfrm>
            <a:off x="685800" y="1752601"/>
            <a:ext cx="7772400" cy="1829761"/>
          </a:xfrm>
        </p:spPr>
        <p:txBody>
          <a:bodyPr anchor="b"/>
          <a:lstStyle>
            <a:lvl1pPr algn="r">
              <a:defRPr sz="4800" b="1">
                <a:solidFill>
                  <a:schemeClr val="tx2"/>
                </a:solidFill>
                <a:effectLst>
                  <a:outerShdw blurRad="31750" dist="25400" dir="5400000" algn="tl" rotWithShape="0">
                    <a:srgbClr val="000000">
                      <a:alpha val="25000"/>
                    </a:srgbClr>
                  </a:outerShdw>
                </a:effectLst>
              </a:defRPr>
            </a:lvl1pPr>
            <a:extLst/>
          </a:lstStyle>
          <a:p>
            <a:r>
              <a:rPr lang="en-US" smtClean="0"/>
              <a:t>Click to edit Master title style</a:t>
            </a:r>
            <a:endParaRPr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smtClean="0"/>
              <a:t>Click to edit Master subtitle style</a:t>
            </a:r>
            <a:endParaRPr lang="en-US"/>
          </a:p>
        </p:txBody>
      </p:sp>
      <p:sp>
        <p:nvSpPr>
          <p:cNvPr id="11" name="Date Placeholder 29"/>
          <p:cNvSpPr>
            <a:spLocks noGrp="1"/>
          </p:cNvSpPr>
          <p:nvPr>
            <p:ph type="dt" sz="half" idx="10"/>
          </p:nvPr>
        </p:nvSpPr>
        <p:spPr/>
        <p:txBody>
          <a:bodyPr/>
          <a:lstStyle>
            <a:lvl1pPr>
              <a:defRPr>
                <a:solidFill>
                  <a:srgbClr val="FFFFFF"/>
                </a:solidFill>
              </a:defRPr>
            </a:lvl1pPr>
            <a:extLst/>
          </a:lstStyle>
          <a:p>
            <a:fld id="{1D8BD707-D9CF-40AE-B4C6-C98DA3205C09}" type="datetimeFigureOut">
              <a:rPr lang="en-US" smtClean="0"/>
              <a:pPr/>
              <a:t>27/04/2020</a:t>
            </a:fld>
            <a:endParaRPr lang="en-US"/>
          </a:p>
        </p:txBody>
      </p:sp>
      <p:sp>
        <p:nvSpPr>
          <p:cNvPr id="12"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13" name="Slide Number Placeholder 26"/>
          <p:cNvSpPr>
            <a:spLocks noGrp="1"/>
          </p:cNvSpPr>
          <p:nvPr>
            <p:ph type="sldNum" sz="quarter" idx="12"/>
          </p:nvPr>
        </p:nvSpPr>
        <p:spPr/>
        <p:txBody>
          <a:bodyPr/>
          <a:lstStyle>
            <a:lvl1pPr>
              <a:defRPr>
                <a:solidFill>
                  <a:srgbClr val="FFFFFF"/>
                </a:solidFill>
              </a:defRPr>
            </a:lvl1pPr>
            <a:extLst/>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838200"/>
            <a:ext cx="8763000" cy="5334000"/>
          </a:xfrm>
        </p:spPr>
        <p:txBody>
          <a:bodyPr>
            <a:normAutofit/>
          </a:bodyPr>
          <a:lstStyle>
            <a:lvl1pPr>
              <a:buClr>
                <a:srgbClr val="0000CC"/>
              </a:buClr>
              <a:defRPr sz="3200">
                <a:solidFill>
                  <a:schemeClr val="tx1"/>
                </a:solidFill>
                <a:latin typeface="Arial" pitchFamily="34" charset="0"/>
                <a:cs typeface="Arial" pitchFamily="34" charset="0"/>
              </a:defRPr>
            </a:lvl1pPr>
            <a:lvl2pPr>
              <a:defRPr sz="2800">
                <a:solidFill>
                  <a:schemeClr val="tx1"/>
                </a:solidFill>
                <a:latin typeface="Arial" pitchFamily="34" charset="0"/>
                <a:cs typeface="Arial" pitchFamily="34" charset="0"/>
              </a:defRPr>
            </a:lvl2pPr>
            <a:lvl3pPr>
              <a:defRPr sz="2800">
                <a:solidFill>
                  <a:schemeClr val="tx1"/>
                </a:solidFill>
                <a:latin typeface="Arial" pitchFamily="34" charset="0"/>
                <a:cs typeface="Arial" pitchFamily="34" charset="0"/>
              </a:defRPr>
            </a:lvl3pPr>
            <a:lvl4pPr>
              <a:defRPr sz="2400">
                <a:solidFill>
                  <a:schemeClr val="tx1"/>
                </a:solidFill>
                <a:latin typeface="Arial" pitchFamily="34" charset="0"/>
                <a:cs typeface="Arial" pitchFamily="34" charset="0"/>
              </a:defRPr>
            </a:lvl4pPr>
            <a:lvl5pPr>
              <a:defRPr sz="2400">
                <a:solidFill>
                  <a:schemeClr val="tx1"/>
                </a:solidFill>
                <a:latin typeface="Arial" pitchFamily="34" charset="0"/>
                <a:cs typeface="Arial" pitchFamily="34" charset="0"/>
              </a:defRPr>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Title 6"/>
          <p:cNvSpPr>
            <a:spLocks noGrp="1"/>
          </p:cNvSpPr>
          <p:nvPr>
            <p:ph type="title"/>
          </p:nvPr>
        </p:nvSpPr>
        <p:spPr>
          <a:xfrm>
            <a:off x="0" y="0"/>
            <a:ext cx="9144000" cy="762000"/>
          </a:xfrm>
          <a:gradFill flip="none" rotWithShape="1">
            <a:gsLst>
              <a:gs pos="0">
                <a:srgbClr val="03D4A8"/>
              </a:gs>
              <a:gs pos="25000">
                <a:srgbClr val="21D6E0"/>
              </a:gs>
              <a:gs pos="75000">
                <a:srgbClr val="0087E6"/>
              </a:gs>
              <a:gs pos="100000">
                <a:srgbClr val="005CBF"/>
              </a:gs>
            </a:gsLst>
            <a:path path="shape">
              <a:fillToRect l="50000" t="50000" r="50000" b="50000"/>
            </a:path>
            <a:tileRect/>
          </a:gradFill>
        </p:spPr>
        <p:txBody>
          <a:bodyPr rtlCol="0">
            <a:noAutofit/>
          </a:bodyPr>
          <a:lstStyle>
            <a:lvl1pPr>
              <a:defRPr sz="4000">
                <a:solidFill>
                  <a:srgbClr val="FFFF00"/>
                </a:solidFill>
                <a:effectLst>
                  <a:outerShdw blurRad="38100" dist="38100" dir="2700000" algn="tl">
                    <a:srgbClr val="000000">
                      <a:alpha val="43137"/>
                    </a:srgbClr>
                  </a:outerShdw>
                </a:effectLst>
                <a:latin typeface="Arial" pitchFamily="34" charset="0"/>
                <a:cs typeface="Arial" pitchFamily="34" charset="0"/>
              </a:defRPr>
            </a:lvl1pPr>
            <a:extLst/>
          </a:lstStyle>
          <a:p>
            <a:r>
              <a:rPr lang="en-US" smtClean="0"/>
              <a:t>Click to edit Master title style</a:t>
            </a:r>
            <a:endParaRPr lang="en-US" dirty="0"/>
          </a:p>
        </p:txBody>
      </p:sp>
      <p:sp>
        <p:nvSpPr>
          <p:cNvPr id="4" name="Slide Number Placeholder 10"/>
          <p:cNvSpPr>
            <a:spLocks noGrp="1"/>
          </p:cNvSpPr>
          <p:nvPr>
            <p:ph type="sldNum" sz="quarter" idx="10"/>
          </p:nvPr>
        </p:nvSpPr>
        <p:spPr/>
        <p:txBody>
          <a:bodyPr/>
          <a:lstStyle>
            <a:lvl1pPr>
              <a:defRPr/>
            </a:lvl1pPr>
          </a:lstStyle>
          <a:p>
            <a:fld id="{B6F15528-21DE-4FAA-801E-634DDDAF4B2B}" type="slidenum">
              <a:rPr lang="en-US" smtClean="0"/>
              <a:pPr/>
              <a:t>‹#›</a:t>
            </a:fld>
            <a:endParaRPr lang="en-US"/>
          </a:p>
        </p:txBody>
      </p:sp>
      <p:sp>
        <p:nvSpPr>
          <p:cNvPr id="5" name="Footer Placeholder 12"/>
          <p:cNvSpPr>
            <a:spLocks noGrp="1" noChangeArrowheads="1"/>
          </p:cNvSpPr>
          <p:nvPr>
            <p:ph type="ftr" sz="quarter" idx="11"/>
          </p:nvPr>
        </p:nvSpPr>
        <p:spPr/>
        <p:txBody>
          <a:bodyPr/>
          <a:lstStyle>
            <a:defPPr>
              <a:defRPr lang="en-US"/>
            </a:defPPr>
            <a:lvl1pPr algn="l" rtl="0" eaLnBrk="1" fontAlgn="base" latinLnBrk="0" hangingPunct="1">
              <a:spcBef>
                <a:spcPct val="0"/>
              </a:spcBef>
              <a:spcAft>
                <a:spcPct val="0"/>
              </a:spcAft>
              <a:defRPr kumimoji="0" sz="1000" kern="1200">
                <a:solidFill>
                  <a:schemeClr val="tx1"/>
                </a:solidFill>
                <a:latin typeface="Arial" pitchFamily="34" charset="0"/>
                <a:ea typeface="+mn-ea"/>
                <a:cs typeface="+mn-cs"/>
              </a:defRPr>
            </a:lvl1pPr>
            <a:lvl2pPr marL="457200" algn="l" rtl="0" eaLnBrk="0" fontAlgn="base" hangingPunct="0">
              <a:spcBef>
                <a:spcPct val="0"/>
              </a:spcBef>
              <a:spcAft>
                <a:spcPct val="0"/>
              </a:spcAft>
              <a:defRPr kern="1200">
                <a:solidFill>
                  <a:schemeClr val="tx1"/>
                </a:solidFill>
                <a:latin typeface="Garamond" pitchFamily="18" charset="0"/>
                <a:ea typeface="+mn-ea"/>
                <a:cs typeface="+mn-cs"/>
              </a:defRPr>
            </a:lvl2pPr>
            <a:lvl3pPr marL="914400" algn="l" rtl="0" eaLnBrk="0" fontAlgn="base" hangingPunct="0">
              <a:spcBef>
                <a:spcPct val="0"/>
              </a:spcBef>
              <a:spcAft>
                <a:spcPct val="0"/>
              </a:spcAft>
              <a:defRPr kern="1200">
                <a:solidFill>
                  <a:schemeClr val="tx1"/>
                </a:solidFill>
                <a:latin typeface="Garamond" pitchFamily="18" charset="0"/>
                <a:ea typeface="+mn-ea"/>
                <a:cs typeface="+mn-cs"/>
              </a:defRPr>
            </a:lvl3pPr>
            <a:lvl4pPr marL="1371600" algn="l" rtl="0" eaLnBrk="0" fontAlgn="base" hangingPunct="0">
              <a:spcBef>
                <a:spcPct val="0"/>
              </a:spcBef>
              <a:spcAft>
                <a:spcPct val="0"/>
              </a:spcAft>
              <a:defRPr kern="1200">
                <a:solidFill>
                  <a:schemeClr val="tx1"/>
                </a:solidFill>
                <a:latin typeface="Garamond" pitchFamily="18" charset="0"/>
                <a:ea typeface="+mn-ea"/>
                <a:cs typeface="+mn-cs"/>
              </a:defRPr>
            </a:lvl4pPr>
            <a:lvl5pPr marL="1828800" algn="l" rtl="0" eaLnBrk="0" fontAlgn="base" hangingPunct="0">
              <a:spcBef>
                <a:spcPct val="0"/>
              </a:spcBef>
              <a:spcAft>
                <a:spcPct val="0"/>
              </a:spcAft>
              <a:defRPr kern="1200">
                <a:solidFill>
                  <a:schemeClr val="tx1"/>
                </a:solidFill>
                <a:latin typeface="Garamond" pitchFamily="18" charset="0"/>
                <a:ea typeface="+mn-ea"/>
                <a:cs typeface="+mn-cs"/>
              </a:defRPr>
            </a:lvl5pPr>
            <a:lvl6pPr marL="2286000" algn="l" defTabSz="914400" rtl="0" eaLnBrk="1" latinLnBrk="0" hangingPunct="1">
              <a:defRPr kern="1200">
                <a:solidFill>
                  <a:schemeClr val="tx1"/>
                </a:solidFill>
                <a:latin typeface="Garamond" pitchFamily="18" charset="0"/>
                <a:ea typeface="+mn-ea"/>
                <a:cs typeface="+mn-cs"/>
              </a:defRPr>
            </a:lvl6pPr>
            <a:lvl7pPr marL="2743200" algn="l" defTabSz="914400" rtl="0" eaLnBrk="1" latinLnBrk="0" hangingPunct="1">
              <a:defRPr kern="1200">
                <a:solidFill>
                  <a:schemeClr val="tx1"/>
                </a:solidFill>
                <a:latin typeface="Garamond" pitchFamily="18" charset="0"/>
                <a:ea typeface="+mn-ea"/>
                <a:cs typeface="+mn-cs"/>
              </a:defRPr>
            </a:lvl7pPr>
            <a:lvl8pPr marL="3200400" algn="l" defTabSz="914400" rtl="0" eaLnBrk="1" latinLnBrk="0" hangingPunct="1">
              <a:defRPr kern="1200">
                <a:solidFill>
                  <a:schemeClr val="tx1"/>
                </a:solidFill>
                <a:latin typeface="Garamond" pitchFamily="18" charset="0"/>
                <a:ea typeface="+mn-ea"/>
                <a:cs typeface="+mn-cs"/>
              </a:defRPr>
            </a:lvl8pPr>
            <a:lvl9pPr marL="3657600" algn="l" defTabSz="914400" rtl="0" eaLnBrk="1" latinLnBrk="0" hangingPunct="1">
              <a:defRPr kern="1200">
                <a:solidFill>
                  <a:schemeClr val="tx1"/>
                </a:solidFill>
                <a:latin typeface="Garamond" pitchFamily="18" charset="0"/>
                <a:ea typeface="+mn-ea"/>
                <a:cs typeface="+mn-cs"/>
              </a:defRPr>
            </a:lvl9pPr>
          </a:lstStyle>
          <a:p>
            <a:endParaRPr lang="en-US"/>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3" presetClass="entr" presetSubtype="1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blinds(horizontal)">
                      <p:cBhvr>
                        <p:cTn dur="500"/>
                        <p:tgtEl>
                          <p:spTgt spid="3"/>
                        </p:tgtEl>
                      </p:cBhvr>
                    </p:animEffect>
                  </p:childTnLst>
                </p:cTn>
              </p:par>
            </p:tnLst>
          </p:tmpl>
          <p:tmpl lvl="2">
            <p:tnLst>
              <p:par>
                <p:cTn presetID="3" presetClass="entr" presetSubtype="1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blinds(horizontal)">
                      <p:cBhvr>
                        <p:cTn dur="500"/>
                        <p:tgtEl>
                          <p:spTgt spid="3"/>
                        </p:tgtEl>
                      </p:cBhvr>
                    </p:animEffect>
                  </p:childTnLst>
                </p:cTn>
              </p:par>
            </p:tnLst>
          </p:tmpl>
          <p:tmpl lvl="3">
            <p:tnLst>
              <p:par>
                <p:cTn presetID="3" presetClass="entr" presetSubtype="1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blinds(horizontal)">
                      <p:cBhvr>
                        <p:cTn dur="500"/>
                        <p:tgtEl>
                          <p:spTgt spid="3"/>
                        </p:tgtEl>
                      </p:cBhvr>
                    </p:animEffect>
                  </p:childTnLst>
                </p:cTn>
              </p:par>
            </p:tnLst>
          </p:tmpl>
          <p:tmpl lvl="4">
            <p:tnLst>
              <p:par>
                <p:cTn presetID="3" presetClass="entr" presetSubtype="1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blinds(horizontal)">
                      <p:cBhvr>
                        <p:cTn dur="500"/>
                        <p:tgtEl>
                          <p:spTgt spid="3"/>
                        </p:tgtEl>
                      </p:cBhvr>
                    </p:animEffect>
                  </p:childTnLst>
                </p:cTn>
              </p:par>
            </p:tnLst>
          </p:tmpl>
          <p:tmpl lvl="5">
            <p:tnLst>
              <p:par>
                <p:cTn presetID="3" presetClass="entr" presetSubtype="1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blinds(horizontal)">
                      <p:cBhvr>
                        <p:cTn dur="500"/>
                        <p:tgtEl>
                          <p:spTgt spid="3"/>
                        </p:tgtEl>
                      </p:cBhvr>
                    </p:animEffec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Chevron 3"/>
          <p:cNvSpPr/>
          <p:nvPr/>
        </p:nvSpPr>
        <p:spPr>
          <a:xfrm>
            <a:off x="3636963" y="3005138"/>
            <a:ext cx="182562"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eaLnBrk="1" hangingPunct="1">
              <a:defRPr/>
            </a:pPr>
            <a:endParaRPr lang="en-US"/>
          </a:p>
        </p:txBody>
      </p:sp>
      <p:sp>
        <p:nvSpPr>
          <p:cNvPr id="5" name="Chevron 4"/>
          <p:cNvSpPr/>
          <p:nvPr/>
        </p:nvSpPr>
        <p:spPr>
          <a:xfrm>
            <a:off x="3449638" y="3005138"/>
            <a:ext cx="18415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eaLnBrk="1" hangingPunct="1">
              <a:defRPr/>
            </a:pPr>
            <a:endParaRPr lang="en-US"/>
          </a:p>
        </p:txBody>
      </p:sp>
      <p:sp>
        <p:nvSpPr>
          <p:cNvPr id="2" name="Title 1"/>
          <p:cNvSpPr>
            <a:spLocks noGrp="1"/>
          </p:cNvSpPr>
          <p:nvPr>
            <p:ph type="title"/>
          </p:nvPr>
        </p:nvSpPr>
        <p:spPr>
          <a:xfrm>
            <a:off x="722376" y="1059712"/>
            <a:ext cx="7772400" cy="1828800"/>
          </a:xfrm>
        </p:spPr>
        <p:txBody>
          <a:bodyPr anchor="b"/>
          <a:lstStyle>
            <a:lvl1pPr algn="r">
              <a:buNone/>
              <a:defRPr sz="4800" b="1" cap="none" baseline="0">
                <a:effectLst>
                  <a:outerShdw blurRad="31750" dist="25400" dir="5400000" algn="tl" rotWithShape="0">
                    <a:srgbClr val="000000">
                      <a:alpha val="25000"/>
                    </a:srgbClr>
                  </a:outerShdw>
                </a:effectLst>
              </a:defRPr>
            </a:lvl1pPr>
            <a:extLst/>
          </a:lstStyle>
          <a:p>
            <a:r>
              <a:rPr lang="en-US" smtClean="0"/>
              <a:t>Click to edit Master title style</a:t>
            </a:r>
            <a:endParaRPr lang="en-US"/>
          </a:p>
        </p:txBody>
      </p:sp>
      <p:sp>
        <p:nvSpPr>
          <p:cNvPr id="3" name="Text Placeholder 2"/>
          <p:cNvSpPr>
            <a:spLocks noGrp="1"/>
          </p:cNvSpPr>
          <p:nvPr>
            <p:ph type="body" idx="1"/>
          </p:nvPr>
        </p:nvSpPr>
        <p:spPr>
          <a:xfrm>
            <a:off x="3922713" y="2931712"/>
            <a:ext cx="4572000" cy="1454888"/>
          </a:xfrm>
        </p:spPr>
        <p:txBody>
          <a:bodyPr/>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smtClean="0"/>
              <a:t>Click to edit Master text styles</a:t>
            </a:r>
          </a:p>
        </p:txBody>
      </p:sp>
      <p:sp>
        <p:nvSpPr>
          <p:cNvPr id="6" name="Date Placeholder 3"/>
          <p:cNvSpPr>
            <a:spLocks noGrp="1"/>
          </p:cNvSpPr>
          <p:nvPr>
            <p:ph type="dt" sz="half" idx="10"/>
          </p:nvPr>
        </p:nvSpPr>
        <p:spPr/>
        <p:txBody>
          <a:bodyPr/>
          <a:lstStyle>
            <a:lvl1pPr>
              <a:defRPr/>
            </a:lvl1pPr>
            <a:extLst/>
          </a:lstStyle>
          <a:p>
            <a:fld id="{1D8BD707-D9CF-40AE-B4C6-C98DA3205C09}" type="datetimeFigureOut">
              <a:rPr lang="en-US" smtClean="0"/>
              <a:pPr/>
              <a:t>27/04/2020</a:t>
            </a:fld>
            <a:endParaRPr lang="en-US"/>
          </a:p>
        </p:txBody>
      </p:sp>
      <p:sp>
        <p:nvSpPr>
          <p:cNvPr id="7" name="Footer Placeholder 4"/>
          <p:cNvSpPr>
            <a:spLocks noGrp="1"/>
          </p:cNvSpPr>
          <p:nvPr>
            <p:ph type="ftr" sz="quarter" idx="11"/>
          </p:nvPr>
        </p:nvSpPr>
        <p:spPr/>
        <p:txBody>
          <a:bodyPr/>
          <a:lstStyle>
            <a:lvl1pPr>
              <a:defRPr/>
            </a:lvl1pPr>
            <a:extLst/>
          </a:lstStyle>
          <a:p>
            <a:endParaRPr lang="en-US"/>
          </a:p>
        </p:txBody>
      </p:sp>
      <p:sp>
        <p:nvSpPr>
          <p:cNvPr id="8" name="Slide Number Placeholder 5"/>
          <p:cNvSpPr>
            <a:spLocks noGrp="1"/>
          </p:cNvSpPr>
          <p:nvPr>
            <p:ph type="sldNum" sz="quarter" idx="12"/>
          </p:nvPr>
        </p:nvSpPr>
        <p:spPr/>
        <p:txBody>
          <a:bodyPr/>
          <a:lstStyle>
            <a:lvl1pPr>
              <a:defRPr/>
            </a:lvl1pPr>
            <a:extLst/>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8" name="Title 7"/>
          <p:cNvSpPr>
            <a:spLocks noGrp="1"/>
          </p:cNvSpPr>
          <p:nvPr>
            <p:ph type="title"/>
          </p:nvPr>
        </p:nvSpPr>
        <p:spPr/>
        <p:txBody>
          <a:bodyPr rtlCol="0"/>
          <a:lstStyle/>
          <a:p>
            <a:r>
              <a:rPr lang="en-US" smtClean="0"/>
              <a:t>Click to edit Master title style</a:t>
            </a:r>
            <a:endParaRPr lang="en-US"/>
          </a:p>
        </p:txBody>
      </p:sp>
      <p:sp>
        <p:nvSpPr>
          <p:cNvPr id="5" name="Date Placeholder 9"/>
          <p:cNvSpPr>
            <a:spLocks noGrp="1"/>
          </p:cNvSpPr>
          <p:nvPr>
            <p:ph type="dt" sz="half" idx="10"/>
          </p:nvPr>
        </p:nvSpPr>
        <p:spPr/>
        <p:txBody>
          <a:bodyPr/>
          <a:lstStyle>
            <a:lvl1pPr>
              <a:defRPr/>
            </a:lvl1pPr>
          </a:lstStyle>
          <a:p>
            <a:fld id="{1D8BD707-D9CF-40AE-B4C6-C98DA3205C09}" type="datetimeFigureOut">
              <a:rPr lang="en-US" smtClean="0"/>
              <a:pPr/>
              <a:t>27/04/2020</a:t>
            </a:fld>
            <a:endParaRPr lang="en-US"/>
          </a:p>
        </p:txBody>
      </p:sp>
      <p:sp>
        <p:nvSpPr>
          <p:cNvPr id="6" name="Footer Placeholder 21"/>
          <p:cNvSpPr>
            <a:spLocks noGrp="1"/>
          </p:cNvSpPr>
          <p:nvPr>
            <p:ph type="ftr" sz="quarter" idx="11"/>
          </p:nvPr>
        </p:nvSpPr>
        <p:spPr/>
        <p:txBody>
          <a:bodyPr/>
          <a:lstStyle>
            <a:lvl1pPr>
              <a:defRPr/>
            </a:lvl1pPr>
          </a:lstStyle>
          <a:p>
            <a:endParaRPr lang="en-US"/>
          </a:p>
        </p:txBody>
      </p:sp>
      <p:sp>
        <p:nvSpPr>
          <p:cNvPr id="7" name="Slide Number Placeholder 17"/>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lstStyle>
            <a:lvl1pPr>
              <a:defRPr/>
            </a:lvl1pPr>
            <a:extLst/>
          </a:lstStyle>
          <a:p>
            <a:r>
              <a:rPr lang="en-US" smtClean="0"/>
              <a:t>Click to edit Master title style</a:t>
            </a:r>
            <a:endParaRPr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extLst/>
          </a:lstStyle>
          <a:p>
            <a:fld id="{1D8BD707-D9CF-40AE-B4C6-C98DA3205C09}" type="datetimeFigureOut">
              <a:rPr lang="en-US" smtClean="0"/>
              <a:pPr/>
              <a:t>27/04/2020</a:t>
            </a:fld>
            <a:endParaRPr lang="en-US"/>
          </a:p>
        </p:txBody>
      </p:sp>
      <p:sp>
        <p:nvSpPr>
          <p:cNvPr id="8" name="Footer Placeholder 7"/>
          <p:cNvSpPr>
            <a:spLocks noGrp="1"/>
          </p:cNvSpPr>
          <p:nvPr>
            <p:ph type="ftr" sz="quarter" idx="11"/>
          </p:nvPr>
        </p:nvSpPr>
        <p:spPr/>
        <p:txBody>
          <a:bodyPr/>
          <a:lstStyle>
            <a:lvl1pPr>
              <a:defRPr/>
            </a:lvl1pPr>
            <a:extLst/>
          </a:lstStyle>
          <a:p>
            <a:endParaRPr lang="en-US"/>
          </a:p>
        </p:txBody>
      </p:sp>
      <p:sp>
        <p:nvSpPr>
          <p:cNvPr id="9" name="Slide Number Placeholder 8"/>
          <p:cNvSpPr>
            <a:spLocks noGrp="1"/>
          </p:cNvSpPr>
          <p:nvPr>
            <p:ph type="sldNum" sz="quarter" idx="12"/>
          </p:nvPr>
        </p:nvSpPr>
        <p:spPr/>
        <p:txBody>
          <a:bodyPr/>
          <a:lstStyle>
            <a:lvl1pPr>
              <a:defRPr/>
            </a:lvl1pPr>
            <a:extLst/>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rtlCol="0"/>
          <a:lstStyle/>
          <a:p>
            <a:r>
              <a:rPr lang="en-US" smtClean="0"/>
              <a:t>Click to edit Master title style</a:t>
            </a:r>
            <a:endParaRPr lang="en-US"/>
          </a:p>
        </p:txBody>
      </p:sp>
      <p:sp>
        <p:nvSpPr>
          <p:cNvPr id="3" name="Date Placeholder 9"/>
          <p:cNvSpPr>
            <a:spLocks noGrp="1"/>
          </p:cNvSpPr>
          <p:nvPr>
            <p:ph type="dt" sz="half" idx="10"/>
          </p:nvPr>
        </p:nvSpPr>
        <p:spPr/>
        <p:txBody>
          <a:bodyPr/>
          <a:lstStyle>
            <a:lvl1pPr>
              <a:defRPr/>
            </a:lvl1pPr>
          </a:lstStyle>
          <a:p>
            <a:fld id="{1D8BD707-D9CF-40AE-B4C6-C98DA3205C09}" type="datetimeFigureOut">
              <a:rPr lang="en-US" smtClean="0"/>
              <a:pPr/>
              <a:t>27/04/2020</a:t>
            </a:fld>
            <a:endParaRPr lang="en-US"/>
          </a:p>
        </p:txBody>
      </p:sp>
      <p:sp>
        <p:nvSpPr>
          <p:cNvPr id="4" name="Footer Placeholder 21"/>
          <p:cNvSpPr>
            <a:spLocks noGrp="1"/>
          </p:cNvSpPr>
          <p:nvPr>
            <p:ph type="ftr" sz="quarter" idx="11"/>
          </p:nvPr>
        </p:nvSpPr>
        <p:spPr/>
        <p:txBody>
          <a:bodyPr/>
          <a:lstStyle>
            <a:lvl1pPr>
              <a:defRPr/>
            </a:lvl1pPr>
          </a:lstStyle>
          <a:p>
            <a:endParaRPr lang="en-US"/>
          </a:p>
        </p:txBody>
      </p:sp>
      <p:sp>
        <p:nvSpPr>
          <p:cNvPr id="5" name="Slide Number Placeholder 17"/>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fld id="{1D8BD707-D9CF-40AE-B4C6-C98DA3205C09}" type="datetimeFigureOut">
              <a:rPr lang="en-US" smtClean="0"/>
              <a:pPr/>
              <a:t>27/04/2020</a:t>
            </a:fld>
            <a:endParaRPr lang="en-US"/>
          </a:p>
        </p:txBody>
      </p:sp>
      <p:sp>
        <p:nvSpPr>
          <p:cNvPr id="3" name="Footer Placeholder 21"/>
          <p:cNvSpPr>
            <a:spLocks noGrp="1"/>
          </p:cNvSpPr>
          <p:nvPr>
            <p:ph type="ftr" sz="quarter" idx="11"/>
          </p:nvPr>
        </p:nvSpPr>
        <p:spPr/>
        <p:txBody>
          <a:bodyPr/>
          <a:lstStyle>
            <a:lvl1pPr>
              <a:defRPr/>
            </a:lvl1pPr>
          </a:lstStyle>
          <a:p>
            <a:endParaRPr lang="en-US"/>
          </a:p>
        </p:txBody>
      </p:sp>
      <p:sp>
        <p:nvSpPr>
          <p:cNvPr id="4" name="Slide Number Placeholder 17"/>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anchor="t">
            <a:noAutofit/>
            <a:sp3d prstMaterial="softEdge">
              <a:bevelT w="0" h="0"/>
            </a:sp3d>
          </a:bodyPr>
          <a:lstStyle>
            <a:lvl1pPr algn="r">
              <a:buNone/>
              <a:defRPr sz="2500" b="0">
                <a:solidFill>
                  <a:schemeClr val="accent1"/>
                </a:solidFill>
                <a:effectLst/>
              </a:defRPr>
            </a:lvl1pPr>
            <a:extLst/>
          </a:lstStyle>
          <a:p>
            <a:r>
              <a:rPr lang="en-US" smtClean="0"/>
              <a:t>Click to edit Master title style</a:t>
            </a:r>
            <a:endParaRPr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a:r>
              <a:rPr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extLst/>
          </a:lstStyle>
          <a:p>
            <a:fld id="{1D8BD707-D9CF-40AE-B4C6-C98DA3205C09}" type="datetimeFigureOut">
              <a:rPr lang="en-US" smtClean="0"/>
              <a:pPr/>
              <a:t>27/04/2020</a:t>
            </a:fld>
            <a:endParaRPr lang="en-US"/>
          </a:p>
        </p:txBody>
      </p:sp>
      <p:sp>
        <p:nvSpPr>
          <p:cNvPr id="6" name="Footer Placeholder 5"/>
          <p:cNvSpPr>
            <a:spLocks noGrp="1"/>
          </p:cNvSpPr>
          <p:nvPr>
            <p:ph type="ftr" sz="quarter" idx="11"/>
          </p:nvPr>
        </p:nvSpPr>
        <p:spPr/>
        <p:txBody>
          <a:bodyPr/>
          <a:lstStyle>
            <a:lvl1pPr>
              <a:defRPr/>
            </a:lvl1pPr>
            <a:extLst/>
          </a:lstStyle>
          <a:p>
            <a:endParaRPr lang="en-US"/>
          </a:p>
        </p:txBody>
      </p:sp>
      <p:sp>
        <p:nvSpPr>
          <p:cNvPr id="7" name="Slide Number Placeholder 6"/>
          <p:cNvSpPr>
            <a:spLocks noGrp="1"/>
          </p:cNvSpPr>
          <p:nvPr>
            <p:ph type="sldNum" sz="quarter" idx="12"/>
          </p:nvPr>
        </p:nvSpPr>
        <p:spPr/>
        <p:txBody>
          <a:bodyPr/>
          <a:lstStyle>
            <a:lvl1pPr>
              <a:defRPr/>
            </a:lvl1pPr>
            <a:extLst/>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Freeform 4"/>
          <p:cNvSpPr>
            <a:spLocks/>
          </p:cNvSpPr>
          <p:nvPr/>
        </p:nvSpPr>
        <p:spPr bwMode="auto">
          <a:xfrm>
            <a:off x="715963" y="5002213"/>
            <a:ext cx="3802062" cy="144303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a:p>
        </p:txBody>
      </p:sp>
      <p:sp>
        <p:nvSpPr>
          <p:cNvPr id="6" name="Freeform 5"/>
          <p:cNvSpPr>
            <a:spLocks/>
          </p:cNvSpPr>
          <p:nvPr/>
        </p:nvSpPr>
        <p:spPr bwMode="auto">
          <a:xfrm>
            <a:off x="-53975" y="5784850"/>
            <a:ext cx="380206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lang="en-US"/>
          </a:p>
        </p:txBody>
      </p:sp>
      <p:sp>
        <p:nvSpPr>
          <p:cNvPr id="7" name="Right Triangle 6"/>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cxnSp>
        <p:nvCxnSpPr>
          <p:cNvPr id="8" name="Straight Connector 7"/>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Chevron 8"/>
          <p:cNvSpPr/>
          <p:nvPr/>
        </p:nvSpPr>
        <p:spPr>
          <a:xfrm>
            <a:off x="8664575"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eaLnBrk="1" hangingPunct="1">
              <a:defRPr/>
            </a:pPr>
            <a:endParaRPr lang="en-US"/>
          </a:p>
        </p:txBody>
      </p:sp>
      <p:sp>
        <p:nvSpPr>
          <p:cNvPr id="10" name="Chevron 9"/>
          <p:cNvSpPr/>
          <p:nvPr/>
        </p:nvSpPr>
        <p:spPr>
          <a:xfrm>
            <a:off x="8477250"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eaLnBrk="1" hangingPunct="1">
              <a:defRPr/>
            </a:pPr>
            <a:endParaRPr lang="en-US"/>
          </a:p>
        </p:txBody>
      </p:sp>
      <p:sp>
        <p:nvSpPr>
          <p:cNvPr id="4" name="Text Placeholder 3"/>
          <p:cNvSpPr>
            <a:spLocks noGrp="1"/>
          </p:cNvSpPr>
          <p:nvPr>
            <p:ph type="body" sz="half" idx="2"/>
          </p:nvPr>
        </p:nvSpPr>
        <p:spPr>
          <a:xfrm>
            <a:off x="1141232" y="5443402"/>
            <a:ext cx="7162800" cy="648232"/>
          </a:xfrm>
          <a:noFill/>
        </p:spPr>
        <p:txBody>
          <a:bodyPr tIns="0"/>
          <a:lstStyle>
            <a:lvl1pPr marL="0" marR="18288" indent="0" algn="r">
              <a:buNone/>
              <a:defRPr sz="1400"/>
            </a:lvl1pPr>
            <a:lvl2pPr>
              <a:defRPr sz="1200"/>
            </a:lvl2pPr>
            <a:lvl3pPr>
              <a:defRPr sz="1000"/>
            </a:lvl3pPr>
            <a:lvl4pPr>
              <a:defRPr sz="900"/>
            </a:lvl4pPr>
            <a:lvl5pPr>
              <a:defRPr sz="900"/>
            </a:lvl5pPr>
            <a:extLst/>
          </a:lstStyle>
          <a:p>
            <a:pPr lvl="0"/>
            <a:r>
              <a:rPr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normAutofit/>
          </a:bodyPr>
          <a:lstStyle>
            <a:lvl1pPr marL="0" indent="0">
              <a:buNone/>
              <a:defRPr sz="3200"/>
            </a:lvl1pPr>
            <a:extLst/>
          </a:lstStyle>
          <a:p>
            <a:pPr lvl="0"/>
            <a:r>
              <a:rPr lang="en-US" noProof="0" smtClean="0"/>
              <a:t>Click icon to add picture</a:t>
            </a:r>
            <a:endParaRPr lang="en-US" noProof="0" dirty="0"/>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lang="en-US" smtClean="0"/>
              <a:t>Click to edit Master title style</a:t>
            </a:r>
            <a:endParaRPr lang="en-US"/>
          </a:p>
        </p:txBody>
      </p:sp>
      <p:sp>
        <p:nvSpPr>
          <p:cNvPr id="11" name="Date Placeholder 4"/>
          <p:cNvSpPr>
            <a:spLocks noGrp="1"/>
          </p:cNvSpPr>
          <p:nvPr>
            <p:ph type="dt" sz="half" idx="10"/>
          </p:nvPr>
        </p:nvSpPr>
        <p:spPr/>
        <p:txBody>
          <a:bodyPr/>
          <a:lstStyle>
            <a:lvl1pPr>
              <a:defRPr>
                <a:solidFill>
                  <a:schemeClr val="tx1"/>
                </a:solidFill>
              </a:defRPr>
            </a:lvl1pPr>
            <a:extLst/>
          </a:lstStyle>
          <a:p>
            <a:fld id="{1D8BD707-D9CF-40AE-B4C6-C98DA3205C09}" type="datetimeFigureOut">
              <a:rPr lang="en-US" smtClean="0"/>
              <a:pPr/>
              <a:t>27/04/2020</a:t>
            </a:fld>
            <a:endParaRPr lang="en-US"/>
          </a:p>
        </p:txBody>
      </p:sp>
      <p:sp>
        <p:nvSpPr>
          <p:cNvPr id="12" name="Footer Placeholder 5"/>
          <p:cNvSpPr>
            <a:spLocks noGrp="1"/>
          </p:cNvSpPr>
          <p:nvPr>
            <p:ph type="ftr" sz="quarter" idx="11"/>
          </p:nvPr>
        </p:nvSpPr>
        <p:spPr/>
        <p:txBody>
          <a:bodyPr/>
          <a:lstStyle>
            <a:lvl1pPr>
              <a:defRPr>
                <a:solidFill>
                  <a:schemeClr val="tx1"/>
                </a:solidFill>
              </a:defRPr>
            </a:lvl1pPr>
            <a:extLst/>
          </a:lstStyle>
          <a:p>
            <a:endParaRPr lang="en-US"/>
          </a:p>
        </p:txBody>
      </p:sp>
      <p:sp>
        <p:nvSpPr>
          <p:cNvPr id="13" name="Slide Number Placeholder 6"/>
          <p:cNvSpPr>
            <a:spLocks noGrp="1"/>
          </p:cNvSpPr>
          <p:nvPr>
            <p:ph type="sldNum" sz="quarter" idx="12"/>
          </p:nvPr>
        </p:nvSpPr>
        <p:spPr/>
        <p:txBody>
          <a:bodyPr/>
          <a:lstStyle>
            <a:lvl1pPr>
              <a:defRPr>
                <a:solidFill>
                  <a:schemeClr val="tx1"/>
                </a:solidFill>
              </a:defRPr>
            </a:lvl1pPr>
            <a:extLst/>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481329"/>
            <a:ext cx="8229600" cy="438607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fld id="{1D8BD707-D9CF-40AE-B4C6-C98DA3205C09}" type="datetimeFigureOut">
              <a:rPr lang="en-US" smtClean="0"/>
              <a:pPr/>
              <a:t>27/04/2020</a:t>
            </a:fld>
            <a:endParaRPr lang="en-US"/>
          </a:p>
        </p:txBody>
      </p:sp>
      <p:sp>
        <p:nvSpPr>
          <p:cNvPr id="5" name="Footer Placeholder 21"/>
          <p:cNvSpPr>
            <a:spLocks noGrp="1"/>
          </p:cNvSpPr>
          <p:nvPr>
            <p:ph type="ftr" sz="quarter" idx="11"/>
          </p:nvPr>
        </p:nvSpPr>
        <p:spPr/>
        <p:txBody>
          <a:bodyPr/>
          <a:lstStyle>
            <a:lvl1pPr>
              <a:defRPr/>
            </a:lvl1pPr>
          </a:lstStyle>
          <a:p>
            <a:endParaRPr lang="en-US"/>
          </a:p>
        </p:txBody>
      </p:sp>
      <p:sp>
        <p:nvSpPr>
          <p:cNvPr id="6" name="Slide Number Placeholder 17"/>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41"/>
            <a:ext cx="6324600" cy="559276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fld id="{1D8BD707-D9CF-40AE-B4C6-C98DA3205C09}" type="datetimeFigureOut">
              <a:rPr lang="en-US" smtClean="0"/>
              <a:pPr/>
              <a:t>27/04/2020</a:t>
            </a:fld>
            <a:endParaRPr lang="en-US"/>
          </a:p>
        </p:txBody>
      </p:sp>
      <p:sp>
        <p:nvSpPr>
          <p:cNvPr id="5" name="Footer Placeholder 21"/>
          <p:cNvSpPr>
            <a:spLocks noGrp="1"/>
          </p:cNvSpPr>
          <p:nvPr>
            <p:ph type="ftr" sz="quarter" idx="11"/>
          </p:nvPr>
        </p:nvSpPr>
        <p:spPr/>
        <p:txBody>
          <a:bodyPr/>
          <a:lstStyle>
            <a:lvl1pPr>
              <a:defRPr/>
            </a:lvl1pPr>
          </a:lstStyle>
          <a:p>
            <a:endParaRPr lang="en-US"/>
          </a:p>
        </p:txBody>
      </p:sp>
      <p:sp>
        <p:nvSpPr>
          <p:cNvPr id="6" name="Slide Number Placeholder 17"/>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0"/>
            <a:ext cx="8229600" cy="6400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3" name="Rectangle 21"/>
          <p:cNvSpPr>
            <a:spLocks noGrp="1" noChangeArrowheads="1"/>
          </p:cNvSpPr>
          <p:nvPr>
            <p:ph type="sldNum" sz="quarter" idx="10"/>
          </p:nvPr>
        </p:nvSpPr>
        <p:spPr/>
        <p:txBody>
          <a:bodyPr/>
          <a:lstStyle>
            <a:lvl1pPr>
              <a:defRPr/>
            </a:lvl1p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5963" y="5002213"/>
            <a:ext cx="3802062" cy="144303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a:p>
        </p:txBody>
      </p:sp>
      <p:sp>
        <p:nvSpPr>
          <p:cNvPr id="12" name="Freeform 11"/>
          <p:cNvSpPr>
            <a:spLocks/>
          </p:cNvSpPr>
          <p:nvPr/>
        </p:nvSpPr>
        <p:spPr bwMode="auto">
          <a:xfrm>
            <a:off x="-53975" y="5784850"/>
            <a:ext cx="380206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lang="en-US"/>
          </a:p>
        </p:txBody>
      </p:sp>
      <p:sp>
        <p:nvSpPr>
          <p:cNvPr id="14" name="Right Triangle 13"/>
          <p:cNvSpPr>
            <a:spLocks/>
          </p:cNvSpPr>
          <p:nvPr/>
        </p:nvSpPr>
        <p:spPr bwMode="auto">
          <a:xfrm>
            <a:off x="-6042" y="5791253"/>
            <a:ext cx="3402314" cy="1080868"/>
          </a:xfrm>
          <a:prstGeom prst="rtTriangle">
            <a:avLst/>
          </a:prstGeom>
          <a:blipFill>
            <a:blip r:embed="rId14">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lang="en-US" smtClean="0"/>
              <a:t>Click to edit Master title style</a:t>
            </a:r>
            <a:endParaRPr lang="en-US"/>
          </a:p>
        </p:txBody>
      </p:sp>
      <p:sp>
        <p:nvSpPr>
          <p:cNvPr id="1033" name="Text Placeholder 29"/>
          <p:cNvSpPr>
            <a:spLocks noGrp="1"/>
          </p:cNvSpPr>
          <p:nvPr>
            <p:ph type="body" idx="1"/>
          </p:nvPr>
        </p:nvSpPr>
        <p:spPr bwMode="auto">
          <a:xfrm>
            <a:off x="457200" y="1481138"/>
            <a:ext cx="8229600" cy="45259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 name="Date Placeholder 9"/>
          <p:cNvSpPr>
            <a:spLocks noGrp="1"/>
          </p:cNvSpPr>
          <p:nvPr>
            <p:ph type="dt" sz="half" idx="2"/>
          </p:nvPr>
        </p:nvSpPr>
        <p:spPr>
          <a:xfrm>
            <a:off x="6727825" y="6408738"/>
            <a:ext cx="1919288" cy="365125"/>
          </a:xfrm>
          <a:prstGeom prst="rect">
            <a:avLst/>
          </a:prstGeom>
        </p:spPr>
        <p:txBody>
          <a:bodyPr vert="horz" anchor="b"/>
          <a:lstStyle>
            <a:lvl1pPr algn="l" eaLnBrk="1" latinLnBrk="0" hangingPunct="1">
              <a:defRPr kumimoji="0" sz="1000">
                <a:solidFill>
                  <a:schemeClr val="tx1"/>
                </a:solidFill>
              </a:defRPr>
            </a:lvl1pPr>
            <a:extLst/>
          </a:lstStyle>
          <a:p>
            <a:fld id="{1D8BD707-D9CF-40AE-B4C6-C98DA3205C09}" type="datetimeFigureOut">
              <a:rPr lang="en-US" smtClean="0"/>
              <a:pPr/>
              <a:t>27/04/2020</a:t>
            </a:fld>
            <a:endParaRPr lang="en-US"/>
          </a:p>
        </p:txBody>
      </p:sp>
      <p:sp>
        <p:nvSpPr>
          <p:cNvPr id="22" name="Footer Placeholder 21"/>
          <p:cNvSpPr>
            <a:spLocks noGrp="1"/>
          </p:cNvSpPr>
          <p:nvPr>
            <p:ph type="ftr" sz="quarter" idx="3"/>
          </p:nvPr>
        </p:nvSpPr>
        <p:spPr>
          <a:xfrm>
            <a:off x="4379913" y="6408738"/>
            <a:ext cx="2351087"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113" y="6408738"/>
            <a:ext cx="366712" cy="365125"/>
          </a:xfrm>
          <a:prstGeom prst="rect">
            <a:avLst/>
          </a:prstGeom>
        </p:spPr>
        <p:txBody>
          <a:bodyPr vert="horz" anchor="b"/>
          <a:lstStyle>
            <a:lvl1pPr algn="r" eaLnBrk="1" latinLnBrk="0" hangingPunct="1">
              <a:defRPr kumimoji="0" sz="1000" b="0">
                <a:solidFill>
                  <a:schemeClr val="tx1"/>
                </a:solidFill>
              </a:defRPr>
            </a:lvl1pPr>
            <a:extLst/>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iming>
    <p:tnLst>
      <p:par>
        <p:cTn id="1" dur="indefinite" restart="never" nodeType="tmRoot"/>
      </p:par>
    </p:tnLst>
  </p:timing>
  <p:txStyles>
    <p:titleStyle>
      <a:lvl1pPr algn="l" rtl="0" eaLnBrk="1" fontAlgn="base" hangingPunct="1">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mj-lt"/>
          <a:ea typeface="+mj-ea"/>
          <a:cs typeface="+mj-cs"/>
        </a:defRPr>
      </a:lvl1pPr>
      <a:lvl2pPr algn="l" rtl="0" eaLnBrk="1" fontAlgn="base" hangingPunct="1">
        <a:spcBef>
          <a:spcPct val="0"/>
        </a:spcBef>
        <a:spcAft>
          <a:spcPct val="0"/>
        </a:spcAft>
        <a:defRPr sz="4100" b="1">
          <a:solidFill>
            <a:schemeClr val="tx2"/>
          </a:solidFill>
          <a:latin typeface="Lucida Sans Unicode" pitchFamily="34" charset="0"/>
        </a:defRPr>
      </a:lvl2pPr>
      <a:lvl3pPr algn="l" rtl="0" eaLnBrk="1" fontAlgn="base" hangingPunct="1">
        <a:spcBef>
          <a:spcPct val="0"/>
        </a:spcBef>
        <a:spcAft>
          <a:spcPct val="0"/>
        </a:spcAft>
        <a:defRPr sz="4100" b="1">
          <a:solidFill>
            <a:schemeClr val="tx2"/>
          </a:solidFill>
          <a:latin typeface="Lucida Sans Unicode" pitchFamily="34" charset="0"/>
        </a:defRPr>
      </a:lvl3pPr>
      <a:lvl4pPr algn="l" rtl="0" eaLnBrk="1" fontAlgn="base" hangingPunct="1">
        <a:spcBef>
          <a:spcPct val="0"/>
        </a:spcBef>
        <a:spcAft>
          <a:spcPct val="0"/>
        </a:spcAft>
        <a:defRPr sz="4100" b="1">
          <a:solidFill>
            <a:schemeClr val="tx2"/>
          </a:solidFill>
          <a:latin typeface="Lucida Sans Unicode" pitchFamily="34" charset="0"/>
        </a:defRPr>
      </a:lvl4pPr>
      <a:lvl5pPr algn="l" rtl="0" eaLnBrk="1" fontAlgn="base" hangingPunct="1">
        <a:spcBef>
          <a:spcPct val="0"/>
        </a:spcBef>
        <a:spcAft>
          <a:spcPct val="0"/>
        </a:spcAft>
        <a:defRPr sz="4100" b="1">
          <a:solidFill>
            <a:schemeClr val="tx2"/>
          </a:solidFill>
          <a:latin typeface="Lucida Sans Unicode" pitchFamily="34" charset="0"/>
        </a:defRPr>
      </a:lvl5pPr>
      <a:lvl6pPr marL="457200" algn="l" rtl="0" eaLnBrk="1" fontAlgn="base" hangingPunct="1">
        <a:spcBef>
          <a:spcPct val="0"/>
        </a:spcBef>
        <a:spcAft>
          <a:spcPct val="0"/>
        </a:spcAft>
        <a:defRPr sz="4100" b="1">
          <a:solidFill>
            <a:schemeClr val="tx2"/>
          </a:solidFill>
          <a:latin typeface="Lucida Sans Unicode" pitchFamily="34" charset="0"/>
        </a:defRPr>
      </a:lvl6pPr>
      <a:lvl7pPr marL="914400" algn="l" rtl="0" eaLnBrk="1" fontAlgn="base" hangingPunct="1">
        <a:spcBef>
          <a:spcPct val="0"/>
        </a:spcBef>
        <a:spcAft>
          <a:spcPct val="0"/>
        </a:spcAft>
        <a:defRPr sz="4100" b="1">
          <a:solidFill>
            <a:schemeClr val="tx2"/>
          </a:solidFill>
          <a:latin typeface="Lucida Sans Unicode" pitchFamily="34" charset="0"/>
        </a:defRPr>
      </a:lvl7pPr>
      <a:lvl8pPr marL="1371600" algn="l" rtl="0" eaLnBrk="1" fontAlgn="base" hangingPunct="1">
        <a:spcBef>
          <a:spcPct val="0"/>
        </a:spcBef>
        <a:spcAft>
          <a:spcPct val="0"/>
        </a:spcAft>
        <a:defRPr sz="4100" b="1">
          <a:solidFill>
            <a:schemeClr val="tx2"/>
          </a:solidFill>
          <a:latin typeface="Lucida Sans Unicode" pitchFamily="34" charset="0"/>
        </a:defRPr>
      </a:lvl8pPr>
      <a:lvl9pPr marL="1828800" algn="l" rtl="0" eaLnBrk="1" fontAlgn="base" hangingPunct="1">
        <a:spcBef>
          <a:spcPct val="0"/>
        </a:spcBef>
        <a:spcAft>
          <a:spcPct val="0"/>
        </a:spcAft>
        <a:defRPr sz="4100" b="1">
          <a:solidFill>
            <a:schemeClr val="tx2"/>
          </a:solidFill>
          <a:latin typeface="Lucida Sans Unicode" pitchFamily="34" charset="0"/>
        </a:defRPr>
      </a:lvl9pPr>
      <a:extLst/>
    </p:titleStyle>
    <p:bodyStyle>
      <a:lvl1pPr marL="365125" indent="-255588" algn="l" rtl="0" eaLnBrk="1" fontAlgn="base" hangingPunct="1">
        <a:spcBef>
          <a:spcPts val="400"/>
        </a:spcBef>
        <a:spcAft>
          <a:spcPct val="0"/>
        </a:spcAft>
        <a:buClr>
          <a:schemeClr val="accent1"/>
        </a:buClr>
        <a:buSzPct val="68000"/>
        <a:buFont typeface="Wingdings 3" pitchFamily="18" charset="2"/>
        <a:buChar char=""/>
        <a:defRPr sz="2700" kern="1200">
          <a:solidFill>
            <a:schemeClr val="tx1"/>
          </a:solidFill>
          <a:latin typeface="+mn-lt"/>
          <a:ea typeface="+mn-ea"/>
          <a:cs typeface="+mn-cs"/>
        </a:defRPr>
      </a:lvl1pPr>
      <a:lvl2pPr marL="620713" indent="-228600" algn="l" rtl="0" eaLnBrk="1" fontAlgn="base" hangingPunct="1">
        <a:spcBef>
          <a:spcPts val="325"/>
        </a:spcBef>
        <a:spcAft>
          <a:spcPct val="0"/>
        </a:spcAft>
        <a:buClr>
          <a:schemeClr val="accent1"/>
        </a:buClr>
        <a:buFont typeface="Verdana" pitchFamily="34" charset="0"/>
        <a:buChar char="◦"/>
        <a:defRPr sz="2300" kern="1200">
          <a:solidFill>
            <a:schemeClr val="tx1"/>
          </a:solidFill>
          <a:latin typeface="+mn-lt"/>
          <a:ea typeface="+mn-ea"/>
          <a:cs typeface="+mn-cs"/>
        </a:defRPr>
      </a:lvl2pPr>
      <a:lvl3pPr marL="858838" indent="-228600" algn="l" rtl="0" eaLnBrk="1" fontAlgn="base" hangingPunct="1">
        <a:spcBef>
          <a:spcPts val="350"/>
        </a:spcBef>
        <a:spcAft>
          <a:spcPct val="0"/>
        </a:spcAft>
        <a:buClr>
          <a:schemeClr val="accent2"/>
        </a:buClr>
        <a:buSzPct val="100000"/>
        <a:buFont typeface="Wingdings 2" pitchFamily="18" charset="2"/>
        <a:buChar char=""/>
        <a:defRPr sz="2100" kern="1200">
          <a:solidFill>
            <a:schemeClr val="tx1"/>
          </a:solidFill>
          <a:latin typeface="+mn-lt"/>
          <a:ea typeface="+mn-ea"/>
          <a:cs typeface="+mn-cs"/>
        </a:defRPr>
      </a:lvl3pPr>
      <a:lvl4pPr marL="1143000" indent="-228600" algn="l" rtl="0" eaLnBrk="1" fontAlgn="base" hangingPunct="1">
        <a:spcBef>
          <a:spcPts val="350"/>
        </a:spcBef>
        <a:spcAft>
          <a:spcPct val="0"/>
        </a:spcAft>
        <a:buClr>
          <a:schemeClr val="accent2"/>
        </a:buClr>
        <a:buFont typeface="Wingdings 2" pitchFamily="18" charset="2"/>
        <a:buChar char=""/>
        <a:defRPr sz="1900" kern="1200">
          <a:solidFill>
            <a:schemeClr val="tx1"/>
          </a:solidFill>
          <a:latin typeface="+mn-lt"/>
          <a:ea typeface="+mn-ea"/>
          <a:cs typeface="+mn-cs"/>
        </a:defRPr>
      </a:lvl4pPr>
      <a:lvl5pPr marL="1371600" indent="-228600" algn="l" rtl="0" eaLnBrk="1" fontAlgn="base" hangingPunct="1">
        <a:spcBef>
          <a:spcPts val="350"/>
        </a:spcBef>
        <a:spcAft>
          <a:spcPct val="0"/>
        </a:spcAft>
        <a:buClr>
          <a:schemeClr val="accent2"/>
        </a:buClr>
        <a:buFont typeface="Wingdings 2" pitchFamily="18" charset="2"/>
        <a:buChar char=""/>
        <a:defRPr sz="20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gif"/><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19.png"/><Relationship Id="rId4" Type="http://schemas.openxmlformats.org/officeDocument/2006/relationships/image" Target="../media/image1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3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47.png"/><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42.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61.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6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1.png"/><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6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6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 y="3945082"/>
            <a:ext cx="8686800" cy="1693718"/>
          </a:xfrm>
        </p:spPr>
        <p:txBody>
          <a:bodyPr/>
          <a:lstStyle/>
          <a:p>
            <a:r>
              <a:rPr lang="en-US" sz="4400" dirty="0" smtClean="0">
                <a:solidFill>
                  <a:srgbClr val="FFC000"/>
                </a:solidFill>
                <a:effectLst/>
                <a:latin typeface="Arial" panose="020B0604020202020204" pitchFamily="34" charset="0"/>
                <a:cs typeface="Arial" panose="020B0604020202020204" pitchFamily="34" charset="0"/>
              </a:rPr>
              <a:t>Chapter 1.2:</a:t>
            </a:r>
            <a:br>
              <a:rPr lang="en-US" sz="4400" dirty="0" smtClean="0">
                <a:solidFill>
                  <a:srgbClr val="FFC000"/>
                </a:solidFill>
                <a:effectLst/>
                <a:latin typeface="Arial" panose="020B0604020202020204" pitchFamily="34" charset="0"/>
                <a:cs typeface="Arial" panose="020B0604020202020204" pitchFamily="34" charset="0"/>
              </a:rPr>
            </a:br>
            <a:r>
              <a:rPr lang="en-US" sz="4400" dirty="0" smtClean="0">
                <a:solidFill>
                  <a:srgbClr val="FFC000"/>
                </a:solidFill>
                <a:effectLst/>
                <a:latin typeface="Arial" panose="020B0604020202020204" pitchFamily="34" charset="0"/>
                <a:cs typeface="Arial" panose="020B0604020202020204" pitchFamily="34" charset="0"/>
              </a:rPr>
              <a:t>Ethernet</a:t>
            </a:r>
            <a:endParaRPr lang="en-US" sz="4400" dirty="0">
              <a:solidFill>
                <a:srgbClr val="FFC000"/>
              </a:solidFill>
              <a:effectLst/>
              <a:latin typeface="Arial" panose="020B0604020202020204" pitchFamily="34" charset="0"/>
              <a:cs typeface="Arial" panose="020B0604020202020204" pitchFamily="34" charset="0"/>
            </a:endParaRPr>
          </a:p>
        </p:txBody>
      </p:sp>
      <p:sp>
        <p:nvSpPr>
          <p:cNvPr id="4" name="Subtitle 3"/>
          <p:cNvSpPr>
            <a:spLocks noGrp="1"/>
          </p:cNvSpPr>
          <p:nvPr>
            <p:ph type="subTitle" idx="1"/>
          </p:nvPr>
        </p:nvSpPr>
        <p:spPr>
          <a:xfrm>
            <a:off x="381000" y="6096000"/>
            <a:ext cx="8001000" cy="533400"/>
          </a:xfrm>
        </p:spPr>
        <p:txBody>
          <a:bodyPr/>
          <a:lstStyle/>
          <a:p>
            <a:r>
              <a:rPr lang="en-US" sz="2000" dirty="0">
                <a:solidFill>
                  <a:srgbClr val="FFFF00"/>
                </a:solidFill>
                <a:latin typeface="Arial" panose="020B0604020202020204" pitchFamily="34" charset="0"/>
                <a:cs typeface="Arial" panose="020B0604020202020204" pitchFamily="34" charset="0"/>
              </a:rPr>
              <a:t>Lecturer: </a:t>
            </a:r>
            <a:r>
              <a:rPr lang="en-US" sz="2000" dirty="0" err="1">
                <a:solidFill>
                  <a:srgbClr val="FFFF00"/>
                </a:solidFill>
                <a:latin typeface="Arial" panose="020B0604020202020204" pitchFamily="34" charset="0"/>
                <a:cs typeface="Arial" panose="020B0604020202020204" pitchFamily="34" charset="0"/>
              </a:rPr>
              <a:t>Nguyễn</a:t>
            </a:r>
            <a:r>
              <a:rPr lang="en-US" sz="2000" dirty="0">
                <a:solidFill>
                  <a:srgbClr val="FFFF00"/>
                </a:solidFill>
                <a:latin typeface="Arial" panose="020B0604020202020204" pitchFamily="34" charset="0"/>
                <a:cs typeface="Arial" panose="020B0604020202020204" pitchFamily="34" charset="0"/>
              </a:rPr>
              <a:t> </a:t>
            </a:r>
            <a:r>
              <a:rPr lang="en-US" sz="2000" dirty="0" err="1">
                <a:solidFill>
                  <a:srgbClr val="FFFF00"/>
                </a:solidFill>
                <a:latin typeface="Arial" panose="020B0604020202020204" pitchFamily="34" charset="0"/>
                <a:cs typeface="Arial" panose="020B0604020202020204" pitchFamily="34" charset="0"/>
              </a:rPr>
              <a:t>Thị</a:t>
            </a:r>
            <a:r>
              <a:rPr lang="en-US" sz="2000" dirty="0">
                <a:solidFill>
                  <a:srgbClr val="FFFF00"/>
                </a:solidFill>
                <a:latin typeface="Arial" panose="020B0604020202020204" pitchFamily="34" charset="0"/>
                <a:cs typeface="Arial" panose="020B0604020202020204" pitchFamily="34" charset="0"/>
              </a:rPr>
              <a:t> </a:t>
            </a:r>
            <a:r>
              <a:rPr lang="en-US" sz="2000" dirty="0" err="1">
                <a:solidFill>
                  <a:srgbClr val="FFFF00"/>
                </a:solidFill>
                <a:latin typeface="Arial" panose="020B0604020202020204" pitchFamily="34" charset="0"/>
                <a:cs typeface="Arial" panose="020B0604020202020204" pitchFamily="34" charset="0"/>
              </a:rPr>
              <a:t>Thanh</a:t>
            </a:r>
            <a:r>
              <a:rPr lang="en-US" sz="2000" dirty="0">
                <a:solidFill>
                  <a:srgbClr val="FFFF00"/>
                </a:solidFill>
                <a:latin typeface="Arial" panose="020B0604020202020204" pitchFamily="34" charset="0"/>
                <a:cs typeface="Arial" panose="020B0604020202020204" pitchFamily="34" charset="0"/>
              </a:rPr>
              <a:t> </a:t>
            </a:r>
            <a:r>
              <a:rPr lang="en-US" sz="2000" dirty="0" err="1">
                <a:solidFill>
                  <a:srgbClr val="FFFF00"/>
                </a:solidFill>
                <a:latin typeface="Arial" panose="020B0604020202020204" pitchFamily="34" charset="0"/>
                <a:cs typeface="Arial" panose="020B0604020202020204" pitchFamily="34" charset="0"/>
              </a:rPr>
              <a:t>Vân</a:t>
            </a:r>
            <a:r>
              <a:rPr lang="en-US" sz="2000" dirty="0">
                <a:solidFill>
                  <a:srgbClr val="FFFF00"/>
                </a:solidFill>
                <a:latin typeface="Arial" panose="020B0604020202020204" pitchFamily="34" charset="0"/>
                <a:cs typeface="Arial" panose="020B0604020202020204" pitchFamily="34" charset="0"/>
              </a:rPr>
              <a:t> – FIT - HCMUTE</a:t>
            </a:r>
          </a:p>
          <a:p>
            <a:endParaRPr lang="en-US" sz="2000" dirty="0">
              <a:solidFill>
                <a:srgbClr val="FFFF00"/>
              </a:solidFill>
              <a:latin typeface="Arial" panose="020B0604020202020204" pitchFamily="34" charset="0"/>
              <a:cs typeface="Arial" panose="020B0604020202020204" pitchFamily="34" charset="0"/>
            </a:endParaRPr>
          </a:p>
        </p:txBody>
      </p:sp>
      <p:pic>
        <p:nvPicPr>
          <p:cNvPr id="2050" name="Picture 2" descr="https://kullabs.com/img/note_images/fDDcdEbgKNAuNabx.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5715000"/>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p:cNvSpPr txBox="1">
            <a:spLocks/>
          </p:cNvSpPr>
          <p:nvPr/>
        </p:nvSpPr>
        <p:spPr>
          <a:xfrm>
            <a:off x="228600" y="3564082"/>
            <a:ext cx="8686800" cy="1693718"/>
          </a:xfrm>
          <a:prstGeom prst="rect">
            <a:avLst/>
          </a:prstGeom>
        </p:spPr>
        <p:txBody>
          <a:bodyPr vert="horz" lIns="91440" tIns="45720" rIns="91440" bIns="45720" rtlCol="0" anchor="b">
            <a:noAutofit/>
          </a:bodyPr>
          <a:lstStyle>
            <a:lvl1pPr algn="ctr" defTabSz="914400" rtl="0" eaLnBrk="1" latinLnBrk="0" hangingPunct="1">
              <a:spcBef>
                <a:spcPct val="0"/>
              </a:spcBef>
              <a:buNone/>
              <a:defRPr sz="7200" b="0" kern="1200" cap="none" spc="0">
                <a:ln w="13970" cmpd="sng">
                  <a:solidFill>
                    <a:srgbClr val="FFFFFF"/>
                  </a:solidFill>
                  <a:prstDash val="solid"/>
                </a:ln>
                <a:solidFill>
                  <a:srgbClr val="FFFFFF"/>
                </a:solidFill>
                <a:effectLst>
                  <a:outerShdw blurRad="63500" dir="3600000" algn="tl" rotWithShape="0">
                    <a:srgbClr val="000000">
                      <a:alpha val="70000"/>
                    </a:srgbClr>
                  </a:outerShdw>
                </a:effectLst>
                <a:latin typeface="+mj-lt"/>
                <a:ea typeface="+mj-ea"/>
                <a:cs typeface="+mj-cs"/>
              </a:defRPr>
            </a:lvl1pPr>
          </a:lstStyle>
          <a:p>
            <a:r>
              <a:rPr lang="en-US" sz="4400" smtClean="0">
                <a:solidFill>
                  <a:srgbClr val="FFC000"/>
                </a:solidFill>
                <a:effectLst/>
                <a:latin typeface="Arial" panose="020B0604020202020204" pitchFamily="34" charset="0"/>
                <a:cs typeface="Arial" panose="020B0604020202020204" pitchFamily="34" charset="0"/>
              </a:rPr>
              <a:t>Chapter 5: Network services</a:t>
            </a:r>
          </a:p>
          <a:p>
            <a:endParaRPr lang="en-US" sz="4400" smtClean="0">
              <a:solidFill>
                <a:srgbClr val="FFC000"/>
              </a:solidFill>
              <a:effectLst/>
              <a:latin typeface="Arial" panose="020B0604020202020204" pitchFamily="34" charset="0"/>
              <a:cs typeface="Arial" panose="020B0604020202020204" pitchFamily="34" charset="0"/>
            </a:endParaRPr>
          </a:p>
          <a:p>
            <a:r>
              <a:rPr lang="en-US" sz="4000" smtClean="0">
                <a:solidFill>
                  <a:srgbClr val="FFC000"/>
                </a:solidFill>
                <a:effectLst/>
                <a:latin typeface="Arial" panose="020B0604020202020204" pitchFamily="34" charset="0"/>
                <a:cs typeface="Arial" panose="020B0604020202020204" pitchFamily="34" charset="0"/>
              </a:rPr>
              <a:t>DNS - Domain Name System </a:t>
            </a:r>
            <a:endParaRPr lang="en-US" sz="4000" dirty="0">
              <a:solidFill>
                <a:srgbClr val="FFC000"/>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158920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buNone/>
            </a:pPr>
            <a:r>
              <a:rPr lang="en-US" smtClean="0"/>
              <a:t>I. </a:t>
            </a:r>
            <a:r>
              <a:rPr lang="vi-VN" smtClean="0"/>
              <a:t>Tổng quan về DNS. .</a:t>
            </a:r>
            <a:endParaRPr lang="en-US" smtClean="0"/>
          </a:p>
          <a:p>
            <a:pPr>
              <a:buNone/>
            </a:pPr>
            <a:r>
              <a:rPr lang="vi-VN" smtClean="0"/>
              <a:t>II. Cách phân bổ dữ liệu quản lý domain name. </a:t>
            </a:r>
            <a:endParaRPr lang="en-US" smtClean="0"/>
          </a:p>
          <a:p>
            <a:pPr>
              <a:buNone/>
            </a:pPr>
            <a:r>
              <a:rPr lang="vi-VN" smtClean="0"/>
              <a:t>III.</a:t>
            </a:r>
            <a:r>
              <a:rPr lang="en-US" smtClean="0"/>
              <a:t> </a:t>
            </a:r>
            <a:r>
              <a:rPr lang="vi-VN" smtClean="0"/>
              <a:t>Cơ chế phân giải tên. .</a:t>
            </a:r>
            <a:endParaRPr lang="en-US" smtClean="0"/>
          </a:p>
          <a:p>
            <a:pPr>
              <a:buNone/>
            </a:pPr>
            <a:r>
              <a:rPr lang="vi-VN" smtClean="0"/>
              <a:t>IV.</a:t>
            </a:r>
            <a:r>
              <a:rPr lang="en-US" smtClean="0"/>
              <a:t> </a:t>
            </a:r>
            <a:r>
              <a:rPr lang="vi-VN" smtClean="0"/>
              <a:t>Một số Khái niệm cơ bản</a:t>
            </a:r>
            <a:endParaRPr lang="en-US" smtClean="0"/>
          </a:p>
          <a:p>
            <a:pPr>
              <a:buNone/>
            </a:pPr>
            <a:r>
              <a:rPr lang="vi-VN" smtClean="0"/>
              <a:t>V. Phân loại Domain Name Server.</a:t>
            </a:r>
            <a:endParaRPr lang="en-US" smtClean="0"/>
          </a:p>
          <a:p>
            <a:pPr>
              <a:buNone/>
            </a:pPr>
            <a:r>
              <a:rPr lang="vi-VN" smtClean="0"/>
              <a:t>VI.</a:t>
            </a:r>
            <a:r>
              <a:rPr lang="en-US" smtClean="0"/>
              <a:t> </a:t>
            </a:r>
            <a:r>
              <a:rPr lang="vi-VN" smtClean="0"/>
              <a:t>Resource Record (RR). </a:t>
            </a:r>
            <a:endParaRPr lang="en-US" smtClean="0"/>
          </a:p>
          <a:p>
            <a:pPr>
              <a:buNone/>
            </a:pPr>
            <a:r>
              <a:rPr lang="vi-VN" smtClean="0"/>
              <a:t>VII.</a:t>
            </a:r>
            <a:r>
              <a:rPr lang="en-US" smtClean="0"/>
              <a:t> C</a:t>
            </a:r>
            <a:r>
              <a:rPr lang="vi-VN" smtClean="0"/>
              <a:t>ài đặt và cấu hình dịch vụ DNS. </a:t>
            </a:r>
            <a:endParaRPr lang="en-US" smtClean="0"/>
          </a:p>
        </p:txBody>
      </p:sp>
      <p:sp>
        <p:nvSpPr>
          <p:cNvPr id="3" name="Title 2"/>
          <p:cNvSpPr>
            <a:spLocks noGrp="1"/>
          </p:cNvSpPr>
          <p:nvPr>
            <p:ph type="title"/>
          </p:nvPr>
        </p:nvSpPr>
        <p:spPr>
          <a:xfrm>
            <a:off x="0" y="76200"/>
            <a:ext cx="9144000" cy="609600"/>
          </a:xfrm>
        </p:spPr>
        <p:txBody>
          <a:bodyPr/>
          <a:lstStyle/>
          <a:p>
            <a:pPr algn="ctr"/>
            <a:r>
              <a:rPr lang="en-US" smtClean="0"/>
              <a:t>NỘI DUNG</a:t>
            </a:r>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52400" y="1066800"/>
            <a:ext cx="8763000" cy="5105400"/>
          </a:xfrm>
        </p:spPr>
        <p:txBody>
          <a:bodyPr/>
          <a:lstStyle/>
          <a:p>
            <a:r>
              <a:rPr lang="vi-VN" smtClean="0"/>
              <a:t> I.1.  Giới thiệu DNS</a:t>
            </a:r>
            <a:endParaRPr lang="en-US" smtClean="0"/>
          </a:p>
          <a:p>
            <a:r>
              <a:rPr lang="en-US" smtClean="0"/>
              <a:t>I.2. Sơ đồ tổ chức của </a:t>
            </a:r>
            <a:r>
              <a:rPr lang="vi-VN" smtClean="0"/>
              <a:t>DNS</a:t>
            </a:r>
            <a:endParaRPr lang="en-US" smtClean="0"/>
          </a:p>
          <a:p>
            <a:r>
              <a:rPr lang="en-US" smtClean="0"/>
              <a:t>I.3 Các thành phần trong dịch vụ DNS</a:t>
            </a:r>
          </a:p>
          <a:p>
            <a:r>
              <a:rPr lang="vi-VN" smtClean="0"/>
              <a:t>I.</a:t>
            </a:r>
            <a:r>
              <a:rPr lang="en-US" smtClean="0"/>
              <a:t>4</a:t>
            </a:r>
            <a:r>
              <a:rPr lang="vi-VN" smtClean="0"/>
              <a:t>.  Đặ</a:t>
            </a:r>
            <a:r>
              <a:rPr lang="en-US" smtClean="0"/>
              <a:t>c </a:t>
            </a:r>
            <a:r>
              <a:rPr lang="vi-VN" smtClean="0"/>
              <a:t>điểm của DNS trong Windows</a:t>
            </a:r>
            <a:endParaRPr lang="en-US" smtClean="0"/>
          </a:p>
          <a:p>
            <a:endParaRPr lang="en-US" smtClean="0"/>
          </a:p>
          <a:p>
            <a:endParaRPr lang="en-US" smtClean="0"/>
          </a:p>
          <a:p>
            <a:endParaRPr lang="en-US"/>
          </a:p>
        </p:txBody>
      </p:sp>
      <p:sp>
        <p:nvSpPr>
          <p:cNvPr id="3" name="Title 2"/>
          <p:cNvSpPr>
            <a:spLocks noGrp="1"/>
          </p:cNvSpPr>
          <p:nvPr>
            <p:ph type="title"/>
          </p:nvPr>
        </p:nvSpPr>
        <p:spPr>
          <a:xfrm>
            <a:off x="0" y="76200"/>
            <a:ext cx="9144000" cy="762000"/>
          </a:xfrm>
        </p:spPr>
        <p:txBody>
          <a:bodyPr/>
          <a:lstStyle/>
          <a:p>
            <a:r>
              <a:rPr lang="en-US" smtClean="0"/>
              <a:t>I. </a:t>
            </a:r>
            <a:r>
              <a:rPr lang="vi-VN" smtClean="0"/>
              <a:t>Tổng quan về DNS</a:t>
            </a:r>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52400" y="990600"/>
            <a:ext cx="8763000" cy="5181600"/>
          </a:xfrm>
        </p:spPr>
        <p:txBody>
          <a:bodyPr>
            <a:normAutofit fontScale="70000" lnSpcReduction="20000"/>
          </a:bodyPr>
          <a:lstStyle/>
          <a:p>
            <a:pPr marL="393700" indent="-284163" algn="just">
              <a:lnSpc>
                <a:spcPct val="120000"/>
              </a:lnSpc>
              <a:buFont typeface="Wingdings" pitchFamily="2" charset="2"/>
              <a:buChar char="q"/>
            </a:pPr>
            <a:r>
              <a:rPr lang="en-US" sz="3100" dirty="0" err="1" smtClean="0"/>
              <a:t>Chức</a:t>
            </a:r>
            <a:r>
              <a:rPr lang="en-US" sz="3100" dirty="0" smtClean="0"/>
              <a:t> </a:t>
            </a:r>
            <a:r>
              <a:rPr lang="en-US" sz="3100" dirty="0" err="1" smtClean="0"/>
              <a:t>năng</a:t>
            </a:r>
            <a:r>
              <a:rPr lang="en-US" sz="3100" dirty="0" smtClean="0"/>
              <a:t>: </a:t>
            </a:r>
            <a:r>
              <a:rPr lang="en-US" sz="3100" dirty="0" err="1" smtClean="0"/>
              <a:t>Ánh</a:t>
            </a:r>
            <a:r>
              <a:rPr lang="en-US" sz="3100" dirty="0" smtClean="0"/>
              <a:t> </a:t>
            </a:r>
            <a:r>
              <a:rPr lang="en-US" sz="3100" dirty="0" err="1" smtClean="0"/>
              <a:t>xạ</a:t>
            </a:r>
            <a:r>
              <a:rPr lang="en-US" sz="3100" dirty="0" smtClean="0"/>
              <a:t> </a:t>
            </a:r>
            <a:r>
              <a:rPr lang="en-US" sz="3100" dirty="0" err="1" smtClean="0"/>
              <a:t>địa</a:t>
            </a:r>
            <a:r>
              <a:rPr lang="en-US" sz="3100" dirty="0" smtClean="0"/>
              <a:t> </a:t>
            </a:r>
            <a:r>
              <a:rPr lang="en-US" sz="3100" dirty="0" err="1" smtClean="0"/>
              <a:t>chỉ</a:t>
            </a:r>
            <a:r>
              <a:rPr lang="en-US" sz="3100" dirty="0" smtClean="0"/>
              <a:t> IP – </a:t>
            </a:r>
            <a:r>
              <a:rPr lang="en-US" sz="3100" dirty="0" err="1" smtClean="0"/>
              <a:t>tên</a:t>
            </a:r>
            <a:r>
              <a:rPr lang="en-US" sz="3100" dirty="0" smtClean="0"/>
              <a:t> </a:t>
            </a:r>
            <a:r>
              <a:rPr lang="en-US" sz="3100" dirty="0" err="1" smtClean="0"/>
              <a:t>miền</a:t>
            </a:r>
            <a:endParaRPr lang="en-US" sz="3100" dirty="0" smtClean="0"/>
          </a:p>
          <a:p>
            <a:pPr marL="393700" indent="-284163" algn="just">
              <a:lnSpc>
                <a:spcPct val="120000"/>
              </a:lnSpc>
              <a:buFont typeface="Wingdings" pitchFamily="2" charset="2"/>
              <a:buChar char="q"/>
            </a:pPr>
            <a:r>
              <a:rPr lang="en-US" sz="3100" dirty="0" err="1" smtClean="0"/>
              <a:t>Lịch</a:t>
            </a:r>
            <a:r>
              <a:rPr lang="en-US" sz="3100" dirty="0" smtClean="0"/>
              <a:t> </a:t>
            </a:r>
            <a:r>
              <a:rPr lang="en-US" sz="3100" dirty="0" err="1" smtClean="0"/>
              <a:t>sử</a:t>
            </a:r>
            <a:r>
              <a:rPr lang="en-US" sz="3100" dirty="0" smtClean="0"/>
              <a:t>:</a:t>
            </a:r>
          </a:p>
          <a:p>
            <a:pPr marL="625475" lvl="1" indent="-288925" algn="just">
              <a:lnSpc>
                <a:spcPct val="120000"/>
              </a:lnSpc>
              <a:buFont typeface="Arial" panose="020B0604020202020204" pitchFamily="34" charset="0"/>
              <a:buChar char="•"/>
            </a:pPr>
            <a:r>
              <a:rPr lang="en-US" sz="2700" dirty="0" smtClean="0"/>
              <a:t>host.txt: </a:t>
            </a:r>
            <a:r>
              <a:rPr lang="en-US" sz="2700" dirty="0" err="1" smtClean="0"/>
              <a:t>lưu</a:t>
            </a:r>
            <a:r>
              <a:rPr lang="en-US" sz="2700" dirty="0" smtClean="0"/>
              <a:t> </a:t>
            </a:r>
            <a:r>
              <a:rPr lang="en-US" sz="2700" dirty="0" err="1" smtClean="0"/>
              <a:t>các</a:t>
            </a:r>
            <a:r>
              <a:rPr lang="en-US" sz="2700" dirty="0" smtClean="0"/>
              <a:t> </a:t>
            </a:r>
            <a:r>
              <a:rPr lang="en-US" sz="2700" dirty="0" err="1" smtClean="0"/>
              <a:t>ánh</a:t>
            </a:r>
            <a:r>
              <a:rPr lang="en-US" sz="2700" dirty="0" smtClean="0"/>
              <a:t> </a:t>
            </a:r>
            <a:r>
              <a:rPr lang="en-US" sz="2700" dirty="0" err="1" smtClean="0"/>
              <a:t>xạ</a:t>
            </a:r>
            <a:r>
              <a:rPr lang="en-US" sz="2700" dirty="0" smtClean="0"/>
              <a:t> </a:t>
            </a:r>
            <a:r>
              <a:rPr lang="en-US" sz="2700" dirty="0" err="1" smtClean="0"/>
              <a:t>tại</a:t>
            </a:r>
            <a:r>
              <a:rPr lang="en-US" sz="2700" dirty="0" smtClean="0"/>
              <a:t> server -&gt; </a:t>
            </a:r>
            <a:r>
              <a:rPr lang="en-US" sz="2700" dirty="0" err="1" smtClean="0"/>
              <a:t>hạn</a:t>
            </a:r>
            <a:r>
              <a:rPr lang="en-US" sz="2700" dirty="0" smtClean="0"/>
              <a:t> </a:t>
            </a:r>
            <a:r>
              <a:rPr lang="en-US" sz="2700" dirty="0" err="1" smtClean="0"/>
              <a:t>chế</a:t>
            </a:r>
            <a:endParaRPr lang="en-US" sz="2700" dirty="0" smtClean="0"/>
          </a:p>
          <a:p>
            <a:pPr marL="625475" lvl="1" indent="-288925" algn="just">
              <a:lnSpc>
                <a:spcPct val="120000"/>
              </a:lnSpc>
              <a:buFont typeface="Arial" panose="020B0604020202020204" pitchFamily="34" charset="0"/>
              <a:buChar char="•"/>
            </a:pPr>
            <a:r>
              <a:rPr lang="en-US" sz="2700" dirty="0" smtClean="0"/>
              <a:t>DNS </a:t>
            </a:r>
            <a:r>
              <a:rPr lang="en-US" sz="2700" dirty="0" err="1" smtClean="0"/>
              <a:t>ra</a:t>
            </a:r>
            <a:r>
              <a:rPr lang="en-US" sz="2700" dirty="0" smtClean="0"/>
              <a:t> </a:t>
            </a:r>
            <a:r>
              <a:rPr lang="en-US" sz="2700" dirty="0" err="1" smtClean="0"/>
              <a:t>đời</a:t>
            </a:r>
            <a:r>
              <a:rPr lang="en-US" sz="2700" dirty="0" smtClean="0"/>
              <a:t>: (Paul </a:t>
            </a:r>
            <a:r>
              <a:rPr lang="en-US" sz="2700" dirty="0" err="1" smtClean="0"/>
              <a:t>Mockapetris</a:t>
            </a:r>
            <a:r>
              <a:rPr lang="en-US" sz="2700" dirty="0" smtClean="0"/>
              <a:t> USC's  Information Sciences  Institute): </a:t>
            </a:r>
            <a:r>
              <a:rPr lang="en-US" sz="2700" dirty="0" err="1" smtClean="0"/>
              <a:t>thiết</a:t>
            </a:r>
            <a:r>
              <a:rPr lang="en-US" sz="2700" dirty="0" smtClean="0"/>
              <a:t> </a:t>
            </a:r>
            <a:r>
              <a:rPr lang="en-US" sz="2700" dirty="0" err="1" smtClean="0"/>
              <a:t>kế</a:t>
            </a:r>
            <a:r>
              <a:rPr lang="en-US" sz="2700" dirty="0" smtClean="0"/>
              <a:t>  </a:t>
            </a:r>
            <a:r>
              <a:rPr lang="en-US" sz="2700" dirty="0" err="1" smtClean="0"/>
              <a:t>cấu</a:t>
            </a:r>
            <a:r>
              <a:rPr lang="en-US" sz="2700" dirty="0" smtClean="0"/>
              <a:t>  </a:t>
            </a:r>
            <a:r>
              <a:rPr lang="en-US" sz="2700" dirty="0" err="1" smtClean="0"/>
              <a:t>trúc</a:t>
            </a:r>
            <a:endParaRPr lang="en-US" sz="2700" dirty="0" smtClean="0"/>
          </a:p>
          <a:p>
            <a:pPr marL="393700" indent="-284163" algn="just">
              <a:lnSpc>
                <a:spcPct val="120000"/>
              </a:lnSpc>
              <a:buFont typeface="Wingdings" pitchFamily="2" charset="2"/>
              <a:buChar char="q"/>
            </a:pPr>
            <a:r>
              <a:rPr lang="vi-VN" sz="3100" dirty="0" smtClean="0"/>
              <a:t>DNS hoạt động theo mô hình Client-Server:</a:t>
            </a:r>
            <a:endParaRPr lang="en-US" sz="3100" dirty="0" smtClean="0"/>
          </a:p>
          <a:p>
            <a:pPr lvl="1">
              <a:lnSpc>
                <a:spcPct val="120000"/>
              </a:lnSpc>
              <a:buFontTx/>
              <a:buChar char="-"/>
            </a:pPr>
            <a:r>
              <a:rPr lang="vi-VN" dirty="0" smtClean="0"/>
              <a:t>Server gọi là máy chủ phục vụ tên hay còn</a:t>
            </a:r>
            <a:r>
              <a:rPr lang="en-US" dirty="0" smtClean="0"/>
              <a:t> </a:t>
            </a:r>
            <a:r>
              <a:rPr lang="vi-VN" dirty="0" smtClean="0"/>
              <a:t>gọi là Name Server</a:t>
            </a:r>
            <a:r>
              <a:rPr lang="en-US" dirty="0" smtClean="0"/>
              <a:t>: </a:t>
            </a:r>
            <a:r>
              <a:rPr lang="vi-VN" dirty="0" smtClean="0"/>
              <a:t>chứa các thông</a:t>
            </a:r>
            <a:r>
              <a:rPr lang="en-US" dirty="0" smtClean="0"/>
              <a:t> </a:t>
            </a:r>
            <a:r>
              <a:rPr lang="vi-VN" dirty="0" smtClean="0"/>
              <a:t>tin CSDL của DNS</a:t>
            </a:r>
            <a:endParaRPr lang="en-US" dirty="0" smtClean="0"/>
          </a:p>
          <a:p>
            <a:pPr lvl="1">
              <a:lnSpc>
                <a:spcPct val="120000"/>
              </a:lnSpc>
              <a:buFontTx/>
              <a:buChar char="-"/>
            </a:pPr>
            <a:r>
              <a:rPr lang="vi-VN" dirty="0" smtClean="0"/>
              <a:t>Client là trình phân giải tên – Resolver</a:t>
            </a:r>
            <a:r>
              <a:rPr lang="en-US" dirty="0" smtClean="0"/>
              <a:t>: </a:t>
            </a:r>
            <a:r>
              <a:rPr lang="en-US" dirty="0" err="1" smtClean="0"/>
              <a:t>chứa</a:t>
            </a:r>
            <a:r>
              <a:rPr lang="vi-VN" dirty="0" smtClean="0"/>
              <a:t> các hàm  thư viện dùng để  tạo các truy vấn (query</a:t>
            </a:r>
            <a:r>
              <a:rPr lang="en-US" dirty="0" smtClean="0"/>
              <a:t>) </a:t>
            </a:r>
            <a:r>
              <a:rPr lang="vi-VN" dirty="0" smtClean="0"/>
              <a:t>và gửi chúng đến Name Server. </a:t>
            </a:r>
            <a:endParaRPr lang="en-US" dirty="0" smtClean="0"/>
          </a:p>
          <a:p>
            <a:pPr marL="393700" indent="-284163" algn="just">
              <a:lnSpc>
                <a:spcPct val="120000"/>
              </a:lnSpc>
              <a:buFont typeface="Wingdings" pitchFamily="2" charset="2"/>
              <a:buChar char="q"/>
            </a:pPr>
            <a:r>
              <a:rPr lang="en-US" dirty="0" err="1" smtClean="0"/>
              <a:t>Đặc</a:t>
            </a:r>
            <a:r>
              <a:rPr lang="en-US" dirty="0" smtClean="0"/>
              <a:t> </a:t>
            </a:r>
            <a:r>
              <a:rPr lang="en-US" dirty="0" err="1" smtClean="0"/>
              <a:t>điểm</a:t>
            </a:r>
            <a:r>
              <a:rPr lang="en-US" dirty="0" smtClean="0"/>
              <a:t>:</a:t>
            </a:r>
          </a:p>
          <a:p>
            <a:pPr marL="577850" lvl="1" indent="-288925" algn="just">
              <a:lnSpc>
                <a:spcPct val="120000"/>
              </a:lnSpc>
              <a:buFont typeface="Arial" panose="020B0604020202020204" pitchFamily="34" charset="0"/>
              <a:buChar char="•"/>
            </a:pPr>
            <a:r>
              <a:rPr lang="en-US" dirty="0" smtClean="0"/>
              <a:t>CSDL </a:t>
            </a:r>
            <a:r>
              <a:rPr lang="en-US" dirty="0" err="1" smtClean="0"/>
              <a:t>được</a:t>
            </a:r>
            <a:r>
              <a:rPr lang="en-US" dirty="0" smtClean="0"/>
              <a:t> </a:t>
            </a:r>
            <a:r>
              <a:rPr lang="en-US" dirty="0" err="1" smtClean="0"/>
              <a:t>phân</a:t>
            </a:r>
            <a:r>
              <a:rPr lang="en-US" dirty="0" smtClean="0"/>
              <a:t> </a:t>
            </a:r>
            <a:r>
              <a:rPr lang="en-US" dirty="0" err="1" smtClean="0"/>
              <a:t>tán</a:t>
            </a:r>
            <a:r>
              <a:rPr lang="en-US" dirty="0" smtClean="0"/>
              <a:t> </a:t>
            </a:r>
            <a:r>
              <a:rPr lang="en-US" dirty="0" err="1" smtClean="0"/>
              <a:t>trên</a:t>
            </a:r>
            <a:r>
              <a:rPr lang="en-US" dirty="0" smtClean="0"/>
              <a:t> </a:t>
            </a:r>
            <a:r>
              <a:rPr lang="en-US" dirty="0" err="1" smtClean="0"/>
              <a:t>nhiều</a:t>
            </a:r>
            <a:r>
              <a:rPr lang="en-US" dirty="0" smtClean="0"/>
              <a:t> Name Server.</a:t>
            </a:r>
          </a:p>
          <a:p>
            <a:pPr marL="577850" lvl="1" indent="-288925" algn="just">
              <a:lnSpc>
                <a:spcPct val="120000"/>
              </a:lnSpc>
              <a:buFont typeface="Arial" panose="020B0604020202020204" pitchFamily="34" charset="0"/>
              <a:buChar char="•"/>
            </a:pPr>
            <a:r>
              <a:rPr lang="en-US" dirty="0" err="1" smtClean="0"/>
              <a:t>Cơ</a:t>
            </a:r>
            <a:r>
              <a:rPr lang="en-US" dirty="0" smtClean="0"/>
              <a:t> </a:t>
            </a:r>
            <a:r>
              <a:rPr lang="en-US" dirty="0" err="1" smtClean="0"/>
              <a:t>chế</a:t>
            </a:r>
            <a:r>
              <a:rPr lang="en-US" dirty="0" smtClean="0"/>
              <a:t> </a:t>
            </a:r>
            <a:r>
              <a:rPr lang="en-US" dirty="0" err="1" smtClean="0"/>
              <a:t>nhân</a:t>
            </a:r>
            <a:r>
              <a:rPr lang="en-US" dirty="0" smtClean="0"/>
              <a:t> </a:t>
            </a:r>
            <a:r>
              <a:rPr lang="en-US" dirty="0" err="1" smtClean="0"/>
              <a:t>bản</a:t>
            </a:r>
            <a:r>
              <a:rPr lang="en-US" dirty="0" smtClean="0"/>
              <a:t>  (replication) </a:t>
            </a:r>
            <a:r>
              <a:rPr lang="en-US" dirty="0" err="1" smtClean="0"/>
              <a:t>và</a:t>
            </a:r>
            <a:r>
              <a:rPr lang="en-US" dirty="0" smtClean="0"/>
              <a:t> </a:t>
            </a:r>
            <a:r>
              <a:rPr lang="en-US" dirty="0" err="1" smtClean="0"/>
              <a:t>lưu</a:t>
            </a:r>
            <a:r>
              <a:rPr lang="en-US" dirty="0" smtClean="0"/>
              <a:t> </a:t>
            </a:r>
            <a:r>
              <a:rPr lang="en-US" dirty="0" err="1" smtClean="0"/>
              <a:t>tạm</a:t>
            </a:r>
            <a:r>
              <a:rPr lang="en-US" dirty="0" smtClean="0"/>
              <a:t> (caching</a:t>
            </a:r>
            <a:r>
              <a:rPr lang="en-US" dirty="0"/>
              <a:t>) =&gt; </a:t>
            </a:r>
            <a:r>
              <a:rPr lang="en-US" dirty="0" err="1" smtClean="0"/>
              <a:t>Tăng</a:t>
            </a:r>
            <a:r>
              <a:rPr lang="en-US" dirty="0" smtClean="0"/>
              <a:t> </a:t>
            </a:r>
            <a:r>
              <a:rPr lang="en-US" dirty="0" err="1" smtClean="0"/>
              <a:t>hiệu</a:t>
            </a:r>
            <a:r>
              <a:rPr lang="en-US" dirty="0" smtClean="0"/>
              <a:t> </a:t>
            </a:r>
            <a:r>
              <a:rPr lang="en-US" dirty="0" err="1" smtClean="0"/>
              <a:t>suất</a:t>
            </a:r>
            <a:endParaRPr lang="en-US" dirty="0" smtClean="0"/>
          </a:p>
          <a:p>
            <a:pPr marL="577850" lvl="1" indent="-288925" algn="just">
              <a:lnSpc>
                <a:spcPct val="120000"/>
              </a:lnSpc>
              <a:buFont typeface="Arial" panose="020B0604020202020204" pitchFamily="34" charset="0"/>
              <a:buChar char="•"/>
            </a:pPr>
            <a:r>
              <a:rPr lang="en-US" dirty="0" smtClean="0"/>
              <a:t>T</a:t>
            </a:r>
            <a:r>
              <a:rPr lang="vi-VN" dirty="0" smtClean="0"/>
              <a:t>hi hành như một giao  thức  tầng Application  trong</a:t>
            </a:r>
            <a:r>
              <a:rPr lang="en-US" dirty="0" smtClean="0"/>
              <a:t> </a:t>
            </a:r>
            <a:r>
              <a:rPr lang="vi-VN" dirty="0" smtClean="0"/>
              <a:t>mạng TCP/IP.</a:t>
            </a:r>
            <a:r>
              <a:rPr lang="en-US" dirty="0" smtClean="0"/>
              <a:t> </a:t>
            </a:r>
            <a:endParaRPr lang="vi-VN" dirty="0" smtClean="0"/>
          </a:p>
        </p:txBody>
      </p:sp>
      <p:sp>
        <p:nvSpPr>
          <p:cNvPr id="3" name="Title 2"/>
          <p:cNvSpPr>
            <a:spLocks noGrp="1"/>
          </p:cNvSpPr>
          <p:nvPr>
            <p:ph type="title"/>
          </p:nvPr>
        </p:nvSpPr>
        <p:spPr>
          <a:xfrm>
            <a:off x="0" y="76200"/>
            <a:ext cx="9144000" cy="609600"/>
          </a:xfrm>
        </p:spPr>
        <p:txBody>
          <a:bodyPr/>
          <a:lstStyle/>
          <a:p>
            <a:pPr>
              <a:lnSpc>
                <a:spcPct val="120000"/>
              </a:lnSpc>
            </a:pPr>
            <a:r>
              <a:rPr lang="vi-VN" smtClean="0"/>
              <a:t> I.1.  Giới thiệu DNS</a:t>
            </a:r>
            <a:endParaRPr lang="en-US" smtClean="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smtClean="0"/>
              <a:t>C</a:t>
            </a:r>
            <a:r>
              <a:rPr lang="vi-VN" smtClean="0"/>
              <a:t>SDL của DNS  là một cây đảo ngược</a:t>
            </a:r>
            <a:r>
              <a:rPr lang="en-US" smtClean="0"/>
              <a:t>:</a:t>
            </a:r>
          </a:p>
          <a:p>
            <a:pPr lvl="1"/>
            <a:r>
              <a:rPr lang="vi-VN" smtClean="0"/>
              <a:t>Mỗi nút trên cây cũng lại là gốc của 1 cây con. </a:t>
            </a:r>
            <a:endParaRPr lang="en-US" smtClean="0"/>
          </a:p>
          <a:p>
            <a:pPr lvl="1"/>
            <a:r>
              <a:rPr lang="vi-VN" smtClean="0"/>
              <a:t>Mỗi cây con là 1 phân vùng con  trong toàn bộ CSDL DNS gọi là 1 miền (domain). </a:t>
            </a:r>
            <a:endParaRPr lang="en-US" smtClean="0"/>
          </a:p>
          <a:p>
            <a:pPr lvl="1"/>
            <a:r>
              <a:rPr lang="vi-VN" smtClean="0"/>
              <a:t>Mỗi domain có thể phân chia thành các phân vùng con nhỏ hơn</a:t>
            </a:r>
            <a:r>
              <a:rPr lang="en-US" smtClean="0"/>
              <a:t>:</a:t>
            </a:r>
            <a:r>
              <a:rPr lang="vi-VN" smtClean="0"/>
              <a:t> gọi </a:t>
            </a:r>
            <a:r>
              <a:rPr lang="en-US" smtClean="0"/>
              <a:t>là </a:t>
            </a:r>
            <a:r>
              <a:rPr lang="vi-VN" smtClean="0"/>
              <a:t>subdomain</a:t>
            </a:r>
            <a:endParaRPr lang="en-US" smtClean="0"/>
          </a:p>
          <a:p>
            <a:pPr lvl="1"/>
            <a:r>
              <a:rPr lang="vi-VN" smtClean="0"/>
              <a:t>Mỗi domain có 1</a:t>
            </a:r>
            <a:r>
              <a:rPr lang="en-US" smtClean="0"/>
              <a:t> </a:t>
            </a:r>
            <a:r>
              <a:rPr lang="vi-VN" smtClean="0"/>
              <a:t>tên(domain name)</a:t>
            </a:r>
            <a:r>
              <a:rPr lang="en-US" smtClean="0"/>
              <a:t>: &lt;= 63 ký tự</a:t>
            </a:r>
          </a:p>
          <a:p>
            <a:r>
              <a:rPr lang="en-US" smtClean="0"/>
              <a:t>Chiều sâu của cây tối đa là 127 cấp. </a:t>
            </a:r>
          </a:p>
          <a:p>
            <a:endParaRPr lang="vi-VN" smtClean="0"/>
          </a:p>
        </p:txBody>
      </p:sp>
      <p:sp>
        <p:nvSpPr>
          <p:cNvPr id="3" name="Title 2"/>
          <p:cNvSpPr>
            <a:spLocks noGrp="1"/>
          </p:cNvSpPr>
          <p:nvPr>
            <p:ph type="title"/>
          </p:nvPr>
        </p:nvSpPr>
        <p:spPr>
          <a:xfrm>
            <a:off x="0" y="76200"/>
            <a:ext cx="9144000" cy="609600"/>
          </a:xfrm>
        </p:spPr>
        <p:txBody>
          <a:bodyPr/>
          <a:lstStyle/>
          <a:p>
            <a:r>
              <a:rPr lang="en-US" dirty="0" smtClean="0"/>
              <a:t>CSDL </a:t>
            </a:r>
            <a:r>
              <a:rPr lang="en-US" dirty="0" err="1" smtClean="0"/>
              <a:t>của</a:t>
            </a:r>
            <a:r>
              <a:rPr lang="en-US" dirty="0" smtClean="0"/>
              <a:t> </a:t>
            </a:r>
            <a:r>
              <a:rPr lang="vi-VN" dirty="0" smtClean="0"/>
              <a:t>DNS</a:t>
            </a: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vi-VN" smtClean="0"/>
              <a:t> </a:t>
            </a:r>
            <a:endParaRPr lang="en-US" smtClean="0"/>
          </a:p>
        </p:txBody>
      </p:sp>
      <p:sp>
        <p:nvSpPr>
          <p:cNvPr id="3" name="Title 2"/>
          <p:cNvSpPr>
            <a:spLocks noGrp="1"/>
          </p:cNvSpPr>
          <p:nvPr>
            <p:ph type="title"/>
          </p:nvPr>
        </p:nvSpPr>
        <p:spPr>
          <a:xfrm>
            <a:off x="0" y="76200"/>
            <a:ext cx="9144000" cy="609600"/>
          </a:xfrm>
        </p:spPr>
        <p:txBody>
          <a:bodyPr/>
          <a:lstStyle/>
          <a:p>
            <a:r>
              <a:rPr lang="en-US" smtClean="0"/>
              <a:t>I.2. Sơ đồ tổ chức của </a:t>
            </a:r>
            <a:r>
              <a:rPr lang="vi-VN" smtClean="0"/>
              <a:t>DNS</a:t>
            </a:r>
            <a:endParaRPr lang="en-US"/>
          </a:p>
        </p:txBody>
      </p:sp>
      <p:pic>
        <p:nvPicPr>
          <p:cNvPr id="1026" name="Picture 2"/>
          <p:cNvPicPr>
            <a:picLocks noChangeAspect="1" noChangeArrowheads="1"/>
          </p:cNvPicPr>
          <p:nvPr/>
        </p:nvPicPr>
        <p:blipFill>
          <a:blip r:embed="rId2"/>
          <a:srcRect/>
          <a:stretch>
            <a:fillRect/>
          </a:stretch>
        </p:blipFill>
        <p:spPr bwMode="auto">
          <a:xfrm>
            <a:off x="685799" y="914400"/>
            <a:ext cx="8076311" cy="5562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1371600" y="1524000"/>
            <a:ext cx="6858000" cy="4495800"/>
            <a:chOff x="562" y="742"/>
            <a:chExt cx="4569" cy="3186"/>
          </a:xfrm>
        </p:grpSpPr>
        <p:sp>
          <p:nvSpPr>
            <p:cNvPr id="10243" name="Rectangle 3"/>
            <p:cNvSpPr>
              <a:spLocks noChangeArrowheads="1"/>
            </p:cNvSpPr>
            <p:nvPr/>
          </p:nvSpPr>
          <p:spPr bwMode="auto">
            <a:xfrm>
              <a:off x="3167" y="769"/>
              <a:ext cx="1964" cy="3159"/>
            </a:xfrm>
            <a:prstGeom prst="rect">
              <a:avLst/>
            </a:prstGeom>
            <a:solidFill>
              <a:schemeClr val="accent2">
                <a:alpha val="80000"/>
              </a:schemeClr>
            </a:solidFill>
            <a:ln w="9525" algn="ctr">
              <a:noFill/>
              <a:miter lim="800000"/>
              <a:headEnd/>
              <a:tailEnd/>
            </a:ln>
            <a:effectLst/>
          </p:spPr>
          <p:txBody>
            <a:bodyPr wrap="none" bIns="228600" anchor="b"/>
            <a:lstStyle/>
            <a:p>
              <a:pPr algn="ctr" eaLnBrk="0" hangingPunct="0"/>
              <a:r>
                <a:rPr lang="en-US" b="1">
                  <a:latin typeface="Arial Narrow" pitchFamily="34" charset="0"/>
                </a:rPr>
                <a:t>DNS Servers trên Internet</a:t>
              </a:r>
            </a:p>
          </p:txBody>
        </p:sp>
        <p:sp>
          <p:nvSpPr>
            <p:cNvPr id="10244" name="Rectangle 4"/>
            <p:cNvSpPr>
              <a:spLocks noChangeArrowheads="1"/>
            </p:cNvSpPr>
            <p:nvPr/>
          </p:nvSpPr>
          <p:spPr bwMode="auto">
            <a:xfrm>
              <a:off x="1812" y="769"/>
              <a:ext cx="1322" cy="3159"/>
            </a:xfrm>
            <a:prstGeom prst="rect">
              <a:avLst/>
            </a:prstGeom>
            <a:solidFill>
              <a:srgbClr val="ADE2A1">
                <a:alpha val="80000"/>
              </a:srgbClr>
            </a:solidFill>
            <a:ln w="9525" algn="ctr">
              <a:noFill/>
              <a:miter lim="800000"/>
              <a:headEnd/>
              <a:tailEnd/>
            </a:ln>
            <a:effectLst/>
          </p:spPr>
          <p:txBody>
            <a:bodyPr wrap="none" bIns="228600" anchor="b"/>
            <a:lstStyle/>
            <a:p>
              <a:pPr algn="ctr" eaLnBrk="0" hangingPunct="0"/>
              <a:r>
                <a:rPr lang="en-US" b="1">
                  <a:latin typeface="Arial Narrow" pitchFamily="34" charset="0"/>
                </a:rPr>
                <a:t>DNS Servers</a:t>
              </a:r>
            </a:p>
          </p:txBody>
        </p:sp>
        <p:sp>
          <p:nvSpPr>
            <p:cNvPr id="10245" name="Rectangle 5"/>
            <p:cNvSpPr>
              <a:spLocks noChangeArrowheads="1"/>
            </p:cNvSpPr>
            <p:nvPr/>
          </p:nvSpPr>
          <p:spPr bwMode="auto">
            <a:xfrm>
              <a:off x="562" y="769"/>
              <a:ext cx="1217" cy="3159"/>
            </a:xfrm>
            <a:prstGeom prst="rect">
              <a:avLst/>
            </a:prstGeom>
            <a:solidFill>
              <a:schemeClr val="accent2">
                <a:alpha val="80000"/>
              </a:schemeClr>
            </a:solidFill>
            <a:ln w="9525" algn="ctr">
              <a:noFill/>
              <a:miter lim="800000"/>
              <a:headEnd/>
              <a:tailEnd/>
            </a:ln>
            <a:effectLst/>
          </p:spPr>
          <p:txBody>
            <a:bodyPr wrap="none" bIns="228600" anchor="b"/>
            <a:lstStyle/>
            <a:p>
              <a:pPr algn="ctr" eaLnBrk="0" hangingPunct="0"/>
              <a:r>
                <a:rPr lang="en-US" b="1">
                  <a:latin typeface="Arial Narrow" pitchFamily="34" charset="0"/>
                </a:rPr>
                <a:t>DNS Clients</a:t>
              </a:r>
            </a:p>
          </p:txBody>
        </p:sp>
        <p:sp>
          <p:nvSpPr>
            <p:cNvPr id="10246" name="Line 6"/>
            <p:cNvSpPr>
              <a:spLocks noChangeShapeType="1"/>
            </p:cNvSpPr>
            <p:nvPr/>
          </p:nvSpPr>
          <p:spPr bwMode="auto">
            <a:xfrm>
              <a:off x="2095" y="1866"/>
              <a:ext cx="1244" cy="356"/>
            </a:xfrm>
            <a:prstGeom prst="line">
              <a:avLst/>
            </a:prstGeom>
            <a:noFill/>
            <a:ln w="57150">
              <a:solidFill>
                <a:srgbClr val="333333"/>
              </a:solidFill>
              <a:prstDash val="sysDot"/>
              <a:round/>
              <a:headEnd/>
              <a:tailEnd/>
            </a:ln>
            <a:effectLst/>
          </p:spPr>
          <p:txBody>
            <a:bodyPr anchor="ctr"/>
            <a:lstStyle/>
            <a:p>
              <a:endParaRPr lang="en-US"/>
            </a:p>
          </p:txBody>
        </p:sp>
        <p:pic>
          <p:nvPicPr>
            <p:cNvPr id="10247" name="Picture 7" descr="Site01"/>
            <p:cNvPicPr>
              <a:picLocks noChangeAspect="1" noChangeArrowheads="1"/>
            </p:cNvPicPr>
            <p:nvPr/>
          </p:nvPicPr>
          <p:blipFill>
            <a:blip r:embed="rId2"/>
            <a:srcRect/>
            <a:stretch>
              <a:fillRect/>
            </a:stretch>
          </p:blipFill>
          <p:spPr bwMode="auto">
            <a:xfrm>
              <a:off x="681" y="1387"/>
              <a:ext cx="1559" cy="608"/>
            </a:xfrm>
            <a:prstGeom prst="rect">
              <a:avLst/>
            </a:prstGeom>
            <a:noFill/>
          </p:spPr>
        </p:pic>
        <p:pic>
          <p:nvPicPr>
            <p:cNvPr id="10248" name="Picture 8" descr="Server01"/>
            <p:cNvPicPr>
              <a:picLocks noChangeAspect="1" noChangeArrowheads="1"/>
            </p:cNvPicPr>
            <p:nvPr/>
          </p:nvPicPr>
          <p:blipFill>
            <a:blip r:embed="rId3" cstate="print"/>
            <a:srcRect/>
            <a:stretch>
              <a:fillRect/>
            </a:stretch>
          </p:blipFill>
          <p:spPr bwMode="auto">
            <a:xfrm>
              <a:off x="1959" y="1092"/>
              <a:ext cx="576" cy="677"/>
            </a:xfrm>
            <a:prstGeom prst="rect">
              <a:avLst/>
            </a:prstGeom>
            <a:noFill/>
          </p:spPr>
        </p:pic>
        <p:pic>
          <p:nvPicPr>
            <p:cNvPr id="10249" name="Picture 9" descr="Computer_DesktopComputerSansKeyboard01"/>
            <p:cNvPicPr>
              <a:picLocks noChangeAspect="1" noChangeArrowheads="1"/>
            </p:cNvPicPr>
            <p:nvPr/>
          </p:nvPicPr>
          <p:blipFill>
            <a:blip r:embed="rId4" cstate="print"/>
            <a:srcRect/>
            <a:stretch>
              <a:fillRect/>
            </a:stretch>
          </p:blipFill>
          <p:spPr bwMode="auto">
            <a:xfrm>
              <a:off x="719" y="1633"/>
              <a:ext cx="443" cy="539"/>
            </a:xfrm>
            <a:prstGeom prst="rect">
              <a:avLst/>
            </a:prstGeom>
            <a:noFill/>
          </p:spPr>
        </p:pic>
        <p:pic>
          <p:nvPicPr>
            <p:cNvPr id="10250" name="Picture 10" descr="Server01"/>
            <p:cNvPicPr>
              <a:picLocks noChangeAspect="1" noChangeArrowheads="1"/>
            </p:cNvPicPr>
            <p:nvPr/>
          </p:nvPicPr>
          <p:blipFill>
            <a:blip r:embed="rId5" cstate="print"/>
            <a:srcRect/>
            <a:stretch>
              <a:fillRect/>
            </a:stretch>
          </p:blipFill>
          <p:spPr bwMode="auto">
            <a:xfrm>
              <a:off x="1020" y="1082"/>
              <a:ext cx="506" cy="595"/>
            </a:xfrm>
            <a:prstGeom prst="rect">
              <a:avLst/>
            </a:prstGeom>
            <a:noFill/>
          </p:spPr>
        </p:pic>
        <p:pic>
          <p:nvPicPr>
            <p:cNvPr id="10251" name="Picture 11" descr="Site01"/>
            <p:cNvPicPr>
              <a:picLocks noChangeAspect="1" noChangeArrowheads="1"/>
            </p:cNvPicPr>
            <p:nvPr/>
          </p:nvPicPr>
          <p:blipFill>
            <a:blip r:embed="rId2"/>
            <a:srcRect/>
            <a:stretch>
              <a:fillRect/>
            </a:stretch>
          </p:blipFill>
          <p:spPr bwMode="auto">
            <a:xfrm>
              <a:off x="681" y="2596"/>
              <a:ext cx="1559" cy="608"/>
            </a:xfrm>
            <a:prstGeom prst="rect">
              <a:avLst/>
            </a:prstGeom>
            <a:noFill/>
          </p:spPr>
        </p:pic>
        <p:pic>
          <p:nvPicPr>
            <p:cNvPr id="10252" name="Picture 12" descr="Server01"/>
            <p:cNvPicPr>
              <a:picLocks noChangeAspect="1" noChangeArrowheads="1"/>
            </p:cNvPicPr>
            <p:nvPr/>
          </p:nvPicPr>
          <p:blipFill>
            <a:blip r:embed="rId3" cstate="print"/>
            <a:srcRect/>
            <a:stretch>
              <a:fillRect/>
            </a:stretch>
          </p:blipFill>
          <p:spPr bwMode="auto">
            <a:xfrm>
              <a:off x="1959" y="2777"/>
              <a:ext cx="576" cy="677"/>
            </a:xfrm>
            <a:prstGeom prst="rect">
              <a:avLst/>
            </a:prstGeom>
            <a:noFill/>
          </p:spPr>
        </p:pic>
        <p:pic>
          <p:nvPicPr>
            <p:cNvPr id="10253" name="Picture 13" descr="Computer_DesktopComputerSansKeyboard01"/>
            <p:cNvPicPr>
              <a:picLocks noChangeAspect="1" noChangeArrowheads="1"/>
            </p:cNvPicPr>
            <p:nvPr/>
          </p:nvPicPr>
          <p:blipFill>
            <a:blip r:embed="rId4" cstate="print"/>
            <a:srcRect/>
            <a:stretch>
              <a:fillRect/>
            </a:stretch>
          </p:blipFill>
          <p:spPr bwMode="auto">
            <a:xfrm>
              <a:off x="719" y="2440"/>
              <a:ext cx="443" cy="539"/>
            </a:xfrm>
            <a:prstGeom prst="rect">
              <a:avLst/>
            </a:prstGeom>
            <a:noFill/>
          </p:spPr>
        </p:pic>
        <p:pic>
          <p:nvPicPr>
            <p:cNvPr id="10254" name="Picture 14" descr="LaptopComputer01"/>
            <p:cNvPicPr>
              <a:picLocks noChangeAspect="1" noChangeArrowheads="1"/>
            </p:cNvPicPr>
            <p:nvPr/>
          </p:nvPicPr>
          <p:blipFill>
            <a:blip r:embed="rId6" cstate="print"/>
            <a:srcRect/>
            <a:stretch>
              <a:fillRect/>
            </a:stretch>
          </p:blipFill>
          <p:spPr bwMode="auto">
            <a:xfrm>
              <a:off x="1089" y="2843"/>
              <a:ext cx="488" cy="537"/>
            </a:xfrm>
            <a:prstGeom prst="rect">
              <a:avLst/>
            </a:prstGeom>
            <a:noFill/>
          </p:spPr>
        </p:pic>
        <p:sp>
          <p:nvSpPr>
            <p:cNvPr id="10255" name="Line 15"/>
            <p:cNvSpPr>
              <a:spLocks noChangeShapeType="1"/>
            </p:cNvSpPr>
            <p:nvPr/>
          </p:nvSpPr>
          <p:spPr bwMode="auto">
            <a:xfrm flipH="1">
              <a:off x="2103" y="2409"/>
              <a:ext cx="1220" cy="308"/>
            </a:xfrm>
            <a:prstGeom prst="line">
              <a:avLst/>
            </a:prstGeom>
            <a:noFill/>
            <a:ln w="57150">
              <a:solidFill>
                <a:srgbClr val="333333"/>
              </a:solidFill>
              <a:prstDash val="sysDot"/>
              <a:round/>
              <a:headEnd/>
              <a:tailEnd/>
            </a:ln>
            <a:effectLst/>
          </p:spPr>
          <p:txBody>
            <a:bodyPr anchor="ctr"/>
            <a:lstStyle/>
            <a:p>
              <a:endParaRPr lang="en-US"/>
            </a:p>
          </p:txBody>
        </p:sp>
        <p:sp>
          <p:nvSpPr>
            <p:cNvPr id="10256" name="Line 16"/>
            <p:cNvSpPr>
              <a:spLocks noChangeShapeType="1"/>
            </p:cNvSpPr>
            <p:nvPr/>
          </p:nvSpPr>
          <p:spPr bwMode="auto">
            <a:xfrm>
              <a:off x="1444" y="1996"/>
              <a:ext cx="0" cy="601"/>
            </a:xfrm>
            <a:prstGeom prst="line">
              <a:avLst/>
            </a:prstGeom>
            <a:noFill/>
            <a:ln w="57150">
              <a:solidFill>
                <a:srgbClr val="333333"/>
              </a:solidFill>
              <a:prstDash val="sysDot"/>
              <a:round/>
              <a:headEnd/>
              <a:tailEnd/>
            </a:ln>
            <a:effectLst/>
          </p:spPr>
          <p:txBody>
            <a:bodyPr anchor="ctr"/>
            <a:lstStyle/>
            <a:p>
              <a:endParaRPr lang="en-US"/>
            </a:p>
          </p:txBody>
        </p:sp>
        <p:pic>
          <p:nvPicPr>
            <p:cNvPr id="10257" name="Picture 17" descr="Internet01"/>
            <p:cNvPicPr>
              <a:picLocks noChangeAspect="1" noChangeArrowheads="1"/>
            </p:cNvPicPr>
            <p:nvPr/>
          </p:nvPicPr>
          <p:blipFill>
            <a:blip r:embed="rId7"/>
            <a:srcRect/>
            <a:stretch>
              <a:fillRect/>
            </a:stretch>
          </p:blipFill>
          <p:spPr bwMode="auto">
            <a:xfrm>
              <a:off x="3314" y="1776"/>
              <a:ext cx="1243" cy="1240"/>
            </a:xfrm>
            <a:prstGeom prst="rect">
              <a:avLst/>
            </a:prstGeom>
            <a:noFill/>
          </p:spPr>
        </p:pic>
        <p:pic>
          <p:nvPicPr>
            <p:cNvPr id="10258" name="Picture 18" descr="Server01"/>
            <p:cNvPicPr>
              <a:picLocks noChangeAspect="1" noChangeArrowheads="1"/>
            </p:cNvPicPr>
            <p:nvPr/>
          </p:nvPicPr>
          <p:blipFill>
            <a:blip r:embed="rId5" cstate="print"/>
            <a:srcRect/>
            <a:stretch>
              <a:fillRect/>
            </a:stretch>
          </p:blipFill>
          <p:spPr bwMode="auto">
            <a:xfrm>
              <a:off x="3787" y="1383"/>
              <a:ext cx="506" cy="595"/>
            </a:xfrm>
            <a:prstGeom prst="rect">
              <a:avLst/>
            </a:prstGeom>
            <a:noFill/>
          </p:spPr>
        </p:pic>
        <p:sp>
          <p:nvSpPr>
            <p:cNvPr id="10259" name="AutoShape 19"/>
            <p:cNvSpPr>
              <a:spLocks noChangeArrowheads="1"/>
            </p:cNvSpPr>
            <p:nvPr/>
          </p:nvSpPr>
          <p:spPr bwMode="auto">
            <a:xfrm>
              <a:off x="4048" y="1317"/>
              <a:ext cx="536" cy="216"/>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gn="ctr" eaLnBrk="0" hangingPunct="0"/>
              <a:r>
                <a:rPr lang="en-US" b="1">
                  <a:latin typeface="Arial Narrow" pitchFamily="34" charset="0"/>
                </a:rPr>
                <a:t>Root “.”</a:t>
              </a:r>
            </a:p>
          </p:txBody>
        </p:sp>
        <p:pic>
          <p:nvPicPr>
            <p:cNvPr id="10260" name="Picture 20" descr="Server01"/>
            <p:cNvPicPr>
              <a:picLocks noChangeAspect="1" noChangeArrowheads="1"/>
            </p:cNvPicPr>
            <p:nvPr/>
          </p:nvPicPr>
          <p:blipFill>
            <a:blip r:embed="rId5" cstate="print"/>
            <a:srcRect/>
            <a:stretch>
              <a:fillRect/>
            </a:stretch>
          </p:blipFill>
          <p:spPr bwMode="auto">
            <a:xfrm>
              <a:off x="4352" y="1929"/>
              <a:ext cx="506" cy="595"/>
            </a:xfrm>
            <a:prstGeom prst="rect">
              <a:avLst/>
            </a:prstGeom>
            <a:noFill/>
          </p:spPr>
        </p:pic>
        <p:sp>
          <p:nvSpPr>
            <p:cNvPr id="10261" name="AutoShape 21"/>
            <p:cNvSpPr>
              <a:spLocks noChangeArrowheads="1"/>
            </p:cNvSpPr>
            <p:nvPr/>
          </p:nvSpPr>
          <p:spPr bwMode="auto">
            <a:xfrm>
              <a:off x="4570" y="1821"/>
              <a:ext cx="420" cy="228"/>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gn="ctr" eaLnBrk="0" hangingPunct="0"/>
              <a:r>
                <a:rPr lang="en-US" b="1">
                  <a:latin typeface="Arial Narrow" pitchFamily="34" charset="0"/>
                </a:rPr>
                <a:t>.com</a:t>
              </a:r>
            </a:p>
          </p:txBody>
        </p:sp>
        <p:pic>
          <p:nvPicPr>
            <p:cNvPr id="10262" name="Picture 22" descr="Server01"/>
            <p:cNvPicPr>
              <a:picLocks noChangeAspect="1" noChangeArrowheads="1"/>
            </p:cNvPicPr>
            <p:nvPr/>
          </p:nvPicPr>
          <p:blipFill>
            <a:blip r:embed="rId5" cstate="print"/>
            <a:srcRect/>
            <a:stretch>
              <a:fillRect/>
            </a:stretch>
          </p:blipFill>
          <p:spPr bwMode="auto">
            <a:xfrm>
              <a:off x="3907" y="2747"/>
              <a:ext cx="506" cy="595"/>
            </a:xfrm>
            <a:prstGeom prst="rect">
              <a:avLst/>
            </a:prstGeom>
            <a:noFill/>
          </p:spPr>
        </p:pic>
        <p:sp>
          <p:nvSpPr>
            <p:cNvPr id="10263" name="AutoShape 23"/>
            <p:cNvSpPr>
              <a:spLocks noChangeArrowheads="1"/>
            </p:cNvSpPr>
            <p:nvPr/>
          </p:nvSpPr>
          <p:spPr bwMode="auto">
            <a:xfrm>
              <a:off x="4260" y="2949"/>
              <a:ext cx="390" cy="206"/>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gn="ctr" eaLnBrk="0" hangingPunct="0"/>
              <a:r>
                <a:rPr lang="en-US" b="1">
                  <a:latin typeface="Arial Narrow" pitchFamily="34" charset="0"/>
                </a:rPr>
                <a:t>.edu</a:t>
              </a:r>
            </a:p>
          </p:txBody>
        </p:sp>
        <p:sp>
          <p:nvSpPr>
            <p:cNvPr id="10264" name="Text Box 24"/>
            <p:cNvSpPr txBox="1">
              <a:spLocks noChangeArrowheads="1"/>
            </p:cNvSpPr>
            <p:nvPr/>
          </p:nvSpPr>
          <p:spPr bwMode="auto">
            <a:xfrm>
              <a:off x="1271" y="742"/>
              <a:ext cx="2965" cy="281"/>
            </a:xfrm>
            <a:prstGeom prst="rect">
              <a:avLst/>
            </a:prstGeom>
            <a:noFill/>
            <a:ln w="9525" algn="ctr">
              <a:noFill/>
              <a:miter lim="800000"/>
              <a:headEnd/>
              <a:tailEnd/>
            </a:ln>
            <a:effectLst/>
          </p:spPr>
          <p:txBody>
            <a:bodyPr>
              <a:spAutoFit/>
            </a:bodyPr>
            <a:lstStyle/>
            <a:p>
              <a:pPr algn="ctr" eaLnBrk="0" hangingPunct="0"/>
              <a:endParaRPr lang="en-US" sz="2000" b="1">
                <a:latin typeface="Arial Narrow" pitchFamily="34" charset="0"/>
              </a:endParaRPr>
            </a:p>
          </p:txBody>
        </p:sp>
        <p:pic>
          <p:nvPicPr>
            <p:cNvPr id="10265" name="Picture 25" descr="Database01"/>
            <p:cNvPicPr>
              <a:picLocks noChangeAspect="1" noChangeArrowheads="1"/>
            </p:cNvPicPr>
            <p:nvPr/>
          </p:nvPicPr>
          <p:blipFill>
            <a:blip r:embed="rId8" cstate="print"/>
            <a:srcRect/>
            <a:stretch>
              <a:fillRect/>
            </a:stretch>
          </p:blipFill>
          <p:spPr bwMode="auto">
            <a:xfrm>
              <a:off x="2313" y="1526"/>
              <a:ext cx="412" cy="333"/>
            </a:xfrm>
            <a:prstGeom prst="rect">
              <a:avLst/>
            </a:prstGeom>
            <a:noFill/>
          </p:spPr>
        </p:pic>
        <p:pic>
          <p:nvPicPr>
            <p:cNvPr id="10266" name="Picture 26" descr="Database01"/>
            <p:cNvPicPr>
              <a:picLocks noChangeAspect="1" noChangeArrowheads="1"/>
            </p:cNvPicPr>
            <p:nvPr/>
          </p:nvPicPr>
          <p:blipFill>
            <a:blip r:embed="rId8" cstate="print"/>
            <a:srcRect/>
            <a:stretch>
              <a:fillRect/>
            </a:stretch>
          </p:blipFill>
          <p:spPr bwMode="auto">
            <a:xfrm>
              <a:off x="2292" y="3134"/>
              <a:ext cx="412" cy="333"/>
            </a:xfrm>
            <a:prstGeom prst="rect">
              <a:avLst/>
            </a:prstGeom>
            <a:noFill/>
          </p:spPr>
        </p:pic>
        <p:pic>
          <p:nvPicPr>
            <p:cNvPr id="10267" name="Picture 27" descr="Database01"/>
            <p:cNvPicPr>
              <a:picLocks noChangeAspect="1" noChangeArrowheads="1"/>
            </p:cNvPicPr>
            <p:nvPr/>
          </p:nvPicPr>
          <p:blipFill>
            <a:blip r:embed="rId8" cstate="print"/>
            <a:srcRect/>
            <a:stretch>
              <a:fillRect/>
            </a:stretch>
          </p:blipFill>
          <p:spPr bwMode="auto">
            <a:xfrm>
              <a:off x="2313" y="1544"/>
              <a:ext cx="412" cy="333"/>
            </a:xfrm>
            <a:prstGeom prst="rect">
              <a:avLst/>
            </a:prstGeom>
            <a:noFill/>
          </p:spPr>
        </p:pic>
        <p:pic>
          <p:nvPicPr>
            <p:cNvPr id="10268" name="Picture 28" descr="Document_Writing01"/>
            <p:cNvPicPr>
              <a:picLocks noChangeAspect="1" noChangeArrowheads="1"/>
            </p:cNvPicPr>
            <p:nvPr/>
          </p:nvPicPr>
          <p:blipFill>
            <a:blip r:embed="rId9" cstate="print"/>
            <a:srcRect/>
            <a:stretch>
              <a:fillRect/>
            </a:stretch>
          </p:blipFill>
          <p:spPr bwMode="auto">
            <a:xfrm>
              <a:off x="2393" y="2765"/>
              <a:ext cx="318" cy="518"/>
            </a:xfrm>
            <a:prstGeom prst="rect">
              <a:avLst/>
            </a:prstGeom>
            <a:noFill/>
          </p:spPr>
        </p:pic>
        <p:sp>
          <p:nvSpPr>
            <p:cNvPr id="10269" name="AutoShape 29"/>
            <p:cNvSpPr>
              <a:spLocks noChangeArrowheads="1"/>
            </p:cNvSpPr>
            <p:nvPr/>
          </p:nvSpPr>
          <p:spPr bwMode="auto">
            <a:xfrm>
              <a:off x="2615" y="3131"/>
              <a:ext cx="692" cy="306"/>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gn="ctr" eaLnBrk="0" hangingPunct="0"/>
              <a:r>
                <a:rPr lang="en-US" b="1">
                  <a:latin typeface="Arial Narrow" pitchFamily="34" charset="0"/>
                </a:rPr>
                <a:t>Resource</a:t>
              </a:r>
            </a:p>
            <a:p>
              <a:pPr algn="ctr" eaLnBrk="0" hangingPunct="0"/>
              <a:r>
                <a:rPr lang="en-US" b="1">
                  <a:latin typeface="Arial Narrow" pitchFamily="34" charset="0"/>
                </a:rPr>
                <a:t>Record</a:t>
              </a:r>
            </a:p>
          </p:txBody>
        </p:sp>
        <p:pic>
          <p:nvPicPr>
            <p:cNvPr id="10270" name="Picture 30" descr="Document_Writing01"/>
            <p:cNvPicPr>
              <a:picLocks noChangeAspect="1" noChangeArrowheads="1"/>
            </p:cNvPicPr>
            <p:nvPr/>
          </p:nvPicPr>
          <p:blipFill>
            <a:blip r:embed="rId9" cstate="print"/>
            <a:srcRect/>
            <a:stretch>
              <a:fillRect/>
            </a:stretch>
          </p:blipFill>
          <p:spPr bwMode="auto">
            <a:xfrm>
              <a:off x="2390" y="1133"/>
              <a:ext cx="318" cy="518"/>
            </a:xfrm>
            <a:prstGeom prst="rect">
              <a:avLst/>
            </a:prstGeom>
            <a:noFill/>
          </p:spPr>
        </p:pic>
        <p:sp>
          <p:nvSpPr>
            <p:cNvPr id="10271" name="AutoShape 31"/>
            <p:cNvSpPr>
              <a:spLocks noChangeArrowheads="1"/>
            </p:cNvSpPr>
            <p:nvPr/>
          </p:nvSpPr>
          <p:spPr bwMode="auto">
            <a:xfrm>
              <a:off x="2630" y="1436"/>
              <a:ext cx="692" cy="306"/>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gn="ctr" eaLnBrk="0" hangingPunct="0"/>
              <a:r>
                <a:rPr lang="en-US" b="1">
                  <a:latin typeface="Arial Narrow" pitchFamily="34" charset="0"/>
                </a:rPr>
                <a:t>Resource</a:t>
              </a:r>
            </a:p>
            <a:p>
              <a:pPr algn="ctr" eaLnBrk="0" hangingPunct="0"/>
              <a:r>
                <a:rPr lang="en-US" b="1">
                  <a:latin typeface="Arial Narrow" pitchFamily="34" charset="0"/>
                </a:rPr>
                <a:t>Record</a:t>
              </a:r>
            </a:p>
          </p:txBody>
        </p:sp>
      </p:grpSp>
      <p:sp>
        <p:nvSpPr>
          <p:cNvPr id="10275" name="Rectangle 35"/>
          <p:cNvSpPr>
            <a:spLocks noGrp="1" noChangeArrowheads="1"/>
          </p:cNvSpPr>
          <p:nvPr>
            <p:ph type="title"/>
          </p:nvPr>
        </p:nvSpPr>
        <p:spPr>
          <a:xfrm>
            <a:off x="0" y="76200"/>
            <a:ext cx="9144000" cy="762000"/>
          </a:xfrm>
          <a:gradFill flip="none" rotWithShape="1">
            <a:gsLst>
              <a:gs pos="0">
                <a:srgbClr val="03D4A8"/>
              </a:gs>
              <a:gs pos="25000">
                <a:srgbClr val="21D6E0"/>
              </a:gs>
              <a:gs pos="75000">
                <a:srgbClr val="0087E6"/>
              </a:gs>
              <a:gs pos="100000">
                <a:srgbClr val="005CBF"/>
              </a:gs>
            </a:gsLst>
            <a:path path="shape">
              <a:fillToRect l="50000" t="50000" r="50000" b="50000"/>
            </a:path>
            <a:tileRect/>
          </a:gradFill>
        </p:spPr>
        <p:txBody>
          <a:bodyPr vert="horz" rtlCol="0" anchor="ctr">
            <a:noAutofit/>
            <a:scene3d>
              <a:camera prst="orthographicFront"/>
              <a:lightRig rig="soft" dir="t"/>
            </a:scene3d>
            <a:sp3d prstMaterial="softEdge">
              <a:bevelT w="25400" h="25400"/>
            </a:sp3d>
          </a:bodyPr>
          <a:lstStyle/>
          <a:p>
            <a:r>
              <a:rPr lang="en-US" smtClean="0">
                <a:latin typeface="Times New Roman" pitchFamily="18" charset="0"/>
              </a:rPr>
              <a:t>I.3. Các thành phần trong dịch vụ DNS:</a:t>
            </a:r>
            <a:endParaRPr lang="en-US">
              <a:latin typeface="Times New Roman"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52400" y="990600"/>
            <a:ext cx="8991600" cy="5562600"/>
          </a:xfrm>
        </p:spPr>
        <p:txBody>
          <a:bodyPr>
            <a:normAutofit fontScale="77500" lnSpcReduction="20000"/>
          </a:bodyPr>
          <a:lstStyle/>
          <a:p>
            <a:r>
              <a:rPr lang="vi-VN" dirty="0" smtClean="0"/>
              <a:t>Conditional  forwarder:  </a:t>
            </a:r>
            <a:endParaRPr lang="en-US" dirty="0" smtClean="0"/>
          </a:p>
          <a:p>
            <a:pPr lvl="1"/>
            <a:r>
              <a:rPr lang="vi-VN" dirty="0" smtClean="0"/>
              <a:t>Name  Server  chuyển  các  </a:t>
            </a:r>
            <a:r>
              <a:rPr lang="en-US" dirty="0" smtClean="0"/>
              <a:t>y/c </a:t>
            </a:r>
            <a:r>
              <a:rPr lang="vi-VN" dirty="0" smtClean="0"/>
              <a:t>phân  giải  dựa  theo  tên domain </a:t>
            </a:r>
            <a:endParaRPr lang="en-US" dirty="0" smtClean="0"/>
          </a:p>
          <a:p>
            <a:r>
              <a:rPr lang="vi-VN" dirty="0" smtClean="0"/>
              <a:t>Stub zone: </a:t>
            </a:r>
            <a:endParaRPr lang="en-US" dirty="0" smtClean="0"/>
          </a:p>
          <a:p>
            <a:pPr lvl="1"/>
            <a:r>
              <a:rPr lang="vi-VN" dirty="0" smtClean="0"/>
              <a:t>hỗ trợ cơ chế phân giải hiệu quả hơn. </a:t>
            </a:r>
          </a:p>
          <a:p>
            <a:r>
              <a:rPr lang="vi-VN" dirty="0" smtClean="0"/>
              <a:t>DNS zone replication in Active Directory</a:t>
            </a:r>
            <a:r>
              <a:rPr lang="en-US" dirty="0" smtClean="0"/>
              <a:t>:</a:t>
            </a:r>
          </a:p>
          <a:p>
            <a:pPr lvl="1"/>
            <a:r>
              <a:rPr lang="vi-VN" dirty="0"/>
              <a:t>Đồng bộ các DNS zone  trong Active Directory </a:t>
            </a:r>
            <a:endParaRPr lang="vi-VN" dirty="0" smtClean="0"/>
          </a:p>
          <a:p>
            <a:r>
              <a:rPr lang="en-US" dirty="0" smtClean="0"/>
              <a:t>Security:	</a:t>
            </a:r>
          </a:p>
          <a:p>
            <a:pPr lvl="1"/>
            <a:r>
              <a:rPr lang="vi-VN" dirty="0" smtClean="0"/>
              <a:t>tốt hơn trong các hệ thống Windows trước đây. </a:t>
            </a:r>
          </a:p>
          <a:p>
            <a:r>
              <a:rPr lang="vi-VN" dirty="0" smtClean="0"/>
              <a:t>Round robin</a:t>
            </a:r>
            <a:r>
              <a:rPr lang="en-US" dirty="0" smtClean="0"/>
              <a:t>:</a:t>
            </a:r>
            <a:r>
              <a:rPr lang="vi-VN" dirty="0" smtClean="0"/>
              <a:t> </a:t>
            </a:r>
            <a:endParaRPr lang="en-US" dirty="0" smtClean="0"/>
          </a:p>
          <a:p>
            <a:pPr lvl="1"/>
            <a:r>
              <a:rPr lang="vi-VN" dirty="0" smtClean="0"/>
              <a:t>tất cả các loại RR.</a:t>
            </a:r>
            <a:endParaRPr lang="en-US" dirty="0" smtClean="0"/>
          </a:p>
          <a:p>
            <a:r>
              <a:rPr lang="vi-VN" dirty="0"/>
              <a:t>DNS Security Extensions  (DNSSEC</a:t>
            </a:r>
            <a:r>
              <a:rPr lang="vi-VN" dirty="0" smtClean="0"/>
              <a:t>)</a:t>
            </a:r>
            <a:r>
              <a:rPr lang="en-US" dirty="0" smtClean="0"/>
              <a:t>:</a:t>
            </a:r>
          </a:p>
          <a:p>
            <a:pPr lvl="1"/>
            <a:r>
              <a:rPr lang="vi-VN" dirty="0" smtClean="0"/>
              <a:t>tính năng bảo mật cho việc lưu trữ và nhân bản (replicate) zone. </a:t>
            </a:r>
          </a:p>
          <a:p>
            <a:r>
              <a:rPr lang="vi-VN" dirty="0"/>
              <a:t>EDNS0   (Extension  Mechanisms   for  DNS) </a:t>
            </a:r>
            <a:endParaRPr lang="en-US" dirty="0" smtClean="0"/>
          </a:p>
          <a:p>
            <a:pPr lvl="1"/>
            <a:r>
              <a:rPr lang="vi-VN" dirty="0" smtClean="0"/>
              <a:t>DNS  Requestor quản</a:t>
            </a:r>
            <a:r>
              <a:rPr lang="en-US" dirty="0" smtClean="0"/>
              <a:t>g</a:t>
            </a:r>
            <a:r>
              <a:rPr lang="vi-VN" dirty="0" smtClean="0"/>
              <a:t> bá những zone transfer packet có kích thước lớn hơn 512 byte</a:t>
            </a:r>
            <a:endParaRPr lang="en-US" dirty="0" smtClean="0"/>
          </a:p>
        </p:txBody>
      </p:sp>
      <p:sp>
        <p:nvSpPr>
          <p:cNvPr id="3" name="Title 2"/>
          <p:cNvSpPr>
            <a:spLocks noGrp="1"/>
          </p:cNvSpPr>
          <p:nvPr>
            <p:ph type="title"/>
          </p:nvPr>
        </p:nvSpPr>
        <p:spPr>
          <a:xfrm>
            <a:off x="0" y="76200"/>
            <a:ext cx="9144000" cy="609600"/>
          </a:xfrm>
        </p:spPr>
        <p:txBody>
          <a:bodyPr/>
          <a:lstStyle/>
          <a:p>
            <a:r>
              <a:rPr lang="vi-VN" sz="3600" smtClean="0"/>
              <a:t>I.</a:t>
            </a:r>
            <a:r>
              <a:rPr lang="en-US" sz="3600" smtClean="0"/>
              <a:t>4</a:t>
            </a:r>
            <a:r>
              <a:rPr lang="vi-VN" sz="3600" smtClean="0"/>
              <a:t>.  Đặ</a:t>
            </a:r>
            <a:r>
              <a:rPr lang="en-US" sz="3600" smtClean="0"/>
              <a:t>c </a:t>
            </a:r>
            <a:r>
              <a:rPr lang="vi-VN" sz="3600" smtClean="0"/>
              <a:t>điểm của DNS trong Windows</a:t>
            </a:r>
            <a:endParaRPr lang="en-US" sz="3600" smtClean="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smtClean="0"/>
              <a:t>R</a:t>
            </a:r>
            <a:r>
              <a:rPr lang="vi-VN" smtClean="0"/>
              <a:t>oot name server  (.)</a:t>
            </a:r>
            <a:r>
              <a:rPr lang="en-US" smtClean="0"/>
              <a:t>: máy chủ </a:t>
            </a:r>
            <a:r>
              <a:rPr lang="vi-VN" smtClean="0"/>
              <a:t>quản  lý </a:t>
            </a:r>
            <a:r>
              <a:rPr lang="en-US" smtClean="0"/>
              <a:t>các name server ở mức </a:t>
            </a:r>
            <a:r>
              <a:rPr lang="vi-VN" smtClean="0"/>
              <a:t>top-level domain</a:t>
            </a:r>
            <a:r>
              <a:rPr lang="en-US" smtClean="0"/>
              <a:t>.</a:t>
            </a:r>
          </a:p>
          <a:p>
            <a:r>
              <a:rPr lang="vi-VN" smtClean="0"/>
              <a:t>Tên máy  và địa  chỉ  IP của </a:t>
            </a:r>
            <a:r>
              <a:rPr lang="en-US" smtClean="0"/>
              <a:t>root</a:t>
            </a:r>
            <a:r>
              <a:rPr lang="vi-VN" smtClean="0"/>
              <a:t> name server này được </a:t>
            </a:r>
            <a:r>
              <a:rPr lang="en-US" smtClean="0"/>
              <a:t>public</a:t>
            </a:r>
          </a:p>
          <a:p>
            <a:r>
              <a:rPr lang="en-US" smtClean="0"/>
              <a:t>Có nhiều R</a:t>
            </a:r>
            <a:r>
              <a:rPr lang="vi-VN" smtClean="0"/>
              <a:t>oot name server </a:t>
            </a:r>
            <a:r>
              <a:rPr lang="en-US" smtClean="0"/>
              <a:t>để dự phòng, giảm tải. C</a:t>
            </a:r>
            <a:r>
              <a:rPr lang="vi-VN" smtClean="0"/>
              <a:t>ó thể đặt </a:t>
            </a:r>
            <a:r>
              <a:rPr lang="en-US" smtClean="0"/>
              <a:t>chúng </a:t>
            </a:r>
            <a:r>
              <a:rPr lang="vi-VN" smtClean="0"/>
              <a:t>khắp nơi trên thế giới</a:t>
            </a:r>
            <a:r>
              <a:rPr lang="en-US" smtClean="0"/>
              <a:t> và chúng có liên kết với nhau</a:t>
            </a:r>
            <a:r>
              <a:rPr lang="vi-VN" smtClean="0"/>
              <a:t>.</a:t>
            </a:r>
            <a:endParaRPr lang="en-US" smtClean="0"/>
          </a:p>
          <a:p>
            <a:pPr marL="109537" indent="0">
              <a:buNone/>
            </a:pPr>
            <a:r>
              <a:rPr lang="en-US" smtClean="0"/>
              <a:t>=&gt; Đáp ứng kịp thời các yêu cầu phân giải</a:t>
            </a:r>
            <a:r>
              <a:rPr lang="vi-VN" smtClean="0"/>
              <a:t> </a:t>
            </a:r>
            <a:endParaRPr lang="en-US" smtClean="0"/>
          </a:p>
        </p:txBody>
      </p:sp>
      <p:sp>
        <p:nvSpPr>
          <p:cNvPr id="3" name="Title 2"/>
          <p:cNvSpPr>
            <a:spLocks noGrp="1"/>
          </p:cNvSpPr>
          <p:nvPr>
            <p:ph type="title"/>
          </p:nvPr>
        </p:nvSpPr>
        <p:spPr>
          <a:xfrm>
            <a:off x="0" y="76200"/>
            <a:ext cx="9144000" cy="609600"/>
          </a:xfrm>
        </p:spPr>
        <p:txBody>
          <a:bodyPr/>
          <a:lstStyle/>
          <a:p>
            <a:r>
              <a:rPr lang="vi-VN" sz="3200" smtClean="0"/>
              <a:t>II.Cách phân bổ dữ liệu quản lý domain name. </a:t>
            </a:r>
            <a:endParaRPr lang="en-US" sz="3200" smtClean="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vi-VN" smtClean="0"/>
              <a:t>.</a:t>
            </a:r>
            <a:endParaRPr lang="en-US"/>
          </a:p>
        </p:txBody>
      </p:sp>
      <p:sp>
        <p:nvSpPr>
          <p:cNvPr id="3" name="Title 2"/>
          <p:cNvSpPr>
            <a:spLocks noGrp="1"/>
          </p:cNvSpPr>
          <p:nvPr>
            <p:ph type="title"/>
          </p:nvPr>
        </p:nvSpPr>
        <p:spPr>
          <a:xfrm>
            <a:off x="0" y="76200"/>
            <a:ext cx="9144000" cy="609600"/>
          </a:xfrm>
        </p:spPr>
        <p:txBody>
          <a:bodyPr/>
          <a:lstStyle/>
          <a:p>
            <a:r>
              <a:rPr lang="vi-VN" sz="3200" smtClean="0"/>
              <a:t>II.Cách phân bổ dữ liệu quản lý domain name. </a:t>
            </a:r>
            <a:endParaRPr lang="en-US" sz="3200" smtClean="0"/>
          </a:p>
        </p:txBody>
      </p:sp>
      <p:pic>
        <p:nvPicPr>
          <p:cNvPr id="2050" name="Picture 2"/>
          <p:cNvPicPr>
            <a:picLocks noChangeAspect="1" noChangeArrowheads="1"/>
          </p:cNvPicPr>
          <p:nvPr/>
        </p:nvPicPr>
        <p:blipFill>
          <a:blip r:embed="rId2"/>
          <a:srcRect/>
          <a:stretch>
            <a:fillRect/>
          </a:stretch>
        </p:blipFill>
        <p:spPr bwMode="auto">
          <a:xfrm>
            <a:off x="1600200" y="762000"/>
            <a:ext cx="5181600" cy="606468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a:p>
        </p:txBody>
      </p:sp>
      <p:sp>
        <p:nvSpPr>
          <p:cNvPr id="3" name="Title 2"/>
          <p:cNvSpPr>
            <a:spLocks noGrp="1"/>
          </p:cNvSpPr>
          <p:nvPr>
            <p:ph type="title"/>
          </p:nvPr>
        </p:nvSpPr>
        <p:spPr/>
        <p:txBody>
          <a:bodyPr/>
          <a:lstStyle/>
          <a:p>
            <a:r>
              <a:rPr lang="en-US" smtClean="0"/>
              <a:t>Mô hình</a:t>
            </a:r>
            <a:endParaRPr lang="en-US"/>
          </a:p>
        </p:txBody>
      </p:sp>
      <p:pic>
        <p:nvPicPr>
          <p:cNvPr id="3074" name="Picture 2"/>
          <p:cNvPicPr>
            <a:picLocks noChangeAspect="1" noChangeArrowheads="1"/>
          </p:cNvPicPr>
          <p:nvPr/>
        </p:nvPicPr>
        <p:blipFill>
          <a:blip r:embed="rId2"/>
          <a:srcRect/>
          <a:stretch>
            <a:fillRect/>
          </a:stretch>
        </p:blipFill>
        <p:spPr bwMode="auto">
          <a:xfrm>
            <a:off x="457200" y="914400"/>
            <a:ext cx="8168754" cy="4953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buNone/>
            </a:pPr>
            <a:r>
              <a:rPr lang="vi-VN" dirty="0" smtClean="0"/>
              <a:t>III.1.  Phân giải tên thành IP. </a:t>
            </a:r>
            <a:endParaRPr lang="en-US" dirty="0" smtClean="0"/>
          </a:p>
          <a:p>
            <a:r>
              <a:rPr lang="vi-VN" dirty="0" smtClean="0"/>
              <a:t>Khi có  truy vấn</a:t>
            </a:r>
            <a:r>
              <a:rPr lang="en-US" dirty="0" smtClean="0"/>
              <a:t> </a:t>
            </a:r>
            <a:r>
              <a:rPr lang="vi-VN" dirty="0" smtClean="0"/>
              <a:t>về một tên miền nào đó thì Root Name Server phải cung cấp tên và địa chỉ IP của name server quản</a:t>
            </a:r>
            <a:r>
              <a:rPr lang="en-US" dirty="0" smtClean="0"/>
              <a:t> </a:t>
            </a:r>
            <a:r>
              <a:rPr lang="vi-VN" dirty="0" smtClean="0"/>
              <a:t>lý top-level  domain</a:t>
            </a:r>
            <a:endParaRPr lang="en-US" dirty="0" smtClean="0"/>
          </a:p>
          <a:p>
            <a:r>
              <a:rPr lang="en-US" dirty="0" smtClean="0"/>
              <a:t> </a:t>
            </a:r>
            <a:r>
              <a:rPr lang="vi-VN" dirty="0" smtClean="0"/>
              <a:t>Cứ như thế đến khi nào tìm được máy quản lý tên miền cần truy vấn</a:t>
            </a:r>
            <a:endParaRPr lang="en-US" dirty="0" smtClean="0"/>
          </a:p>
          <a:p>
            <a:r>
              <a:rPr lang="vi-VN" dirty="0" smtClean="0"/>
              <a:t>Quá trình tìm kiếm tên miền luôn được bắt đầu bằng các truy vấn gửi cho máy chủ ROOT</a:t>
            </a:r>
            <a:endParaRPr lang="en-US" dirty="0" smtClean="0"/>
          </a:p>
        </p:txBody>
      </p:sp>
      <p:sp>
        <p:nvSpPr>
          <p:cNvPr id="3" name="Title 2"/>
          <p:cNvSpPr>
            <a:spLocks noGrp="1"/>
          </p:cNvSpPr>
          <p:nvPr>
            <p:ph type="title"/>
          </p:nvPr>
        </p:nvSpPr>
        <p:spPr>
          <a:xfrm>
            <a:off x="0" y="76200"/>
            <a:ext cx="9144000" cy="609600"/>
          </a:xfrm>
        </p:spPr>
        <p:txBody>
          <a:bodyPr/>
          <a:lstStyle/>
          <a:p>
            <a:r>
              <a:rPr lang="vi-VN" smtClean="0"/>
              <a:t>III. Cơ chế phân giải tên.</a:t>
            </a:r>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4" descr="http://dns.vnnic.vn/images/4-6-400-0-7-01-20081211_02.gif"/>
          <p:cNvPicPr>
            <a:picLocks noChangeAspect="1" noChangeArrowheads="1"/>
          </p:cNvPicPr>
          <p:nvPr/>
        </p:nvPicPr>
        <p:blipFill>
          <a:blip r:embed="rId2"/>
          <a:srcRect/>
          <a:stretch>
            <a:fillRect/>
          </a:stretch>
        </p:blipFill>
        <p:spPr bwMode="auto">
          <a:xfrm>
            <a:off x="0" y="759654"/>
            <a:ext cx="8458200" cy="6098346"/>
          </a:xfrm>
          <a:prstGeom prst="rect">
            <a:avLst/>
          </a:prstGeom>
          <a:noFill/>
        </p:spPr>
      </p:pic>
      <p:sp>
        <p:nvSpPr>
          <p:cNvPr id="2" name="Content Placeholder 1"/>
          <p:cNvSpPr>
            <a:spLocks noGrp="1"/>
          </p:cNvSpPr>
          <p:nvPr>
            <p:ph idx="1"/>
          </p:nvPr>
        </p:nvSpPr>
        <p:spPr/>
        <p:txBody>
          <a:bodyPr/>
          <a:lstStyle/>
          <a:p>
            <a:endParaRPr lang="en-US"/>
          </a:p>
        </p:txBody>
      </p:sp>
      <p:sp>
        <p:nvSpPr>
          <p:cNvPr id="3" name="Title 2"/>
          <p:cNvSpPr>
            <a:spLocks noGrp="1"/>
          </p:cNvSpPr>
          <p:nvPr>
            <p:ph type="title"/>
          </p:nvPr>
        </p:nvSpPr>
        <p:spPr/>
        <p:txBody>
          <a:bodyPr/>
          <a:lstStyle/>
          <a:p>
            <a:r>
              <a:rPr lang="en-US" smtClean="0"/>
              <a:t>Ví dụ: www.hcmute.edu.vn</a:t>
            </a:r>
            <a:endParaRPr lang="en-US"/>
          </a:p>
        </p:txBody>
      </p:sp>
      <p:grpSp>
        <p:nvGrpSpPr>
          <p:cNvPr id="18" name="Group 17"/>
          <p:cNvGrpSpPr/>
          <p:nvPr/>
        </p:nvGrpSpPr>
        <p:grpSpPr>
          <a:xfrm>
            <a:off x="2590800" y="914400"/>
            <a:ext cx="5943600" cy="5334000"/>
            <a:chOff x="2590800" y="914400"/>
            <a:chExt cx="5943600" cy="5334000"/>
          </a:xfrm>
        </p:grpSpPr>
        <p:pic>
          <p:nvPicPr>
            <p:cNvPr id="1026" name="Picture 2"/>
            <p:cNvPicPr>
              <a:picLocks noChangeAspect="1" noChangeArrowheads="1"/>
            </p:cNvPicPr>
            <p:nvPr/>
          </p:nvPicPr>
          <p:blipFill>
            <a:blip r:embed="rId3"/>
            <a:srcRect/>
            <a:stretch>
              <a:fillRect/>
            </a:stretch>
          </p:blipFill>
          <p:spPr bwMode="auto">
            <a:xfrm>
              <a:off x="5638800" y="4267200"/>
              <a:ext cx="628650" cy="1219200"/>
            </a:xfrm>
            <a:prstGeom prst="rect">
              <a:avLst/>
            </a:prstGeom>
            <a:noFill/>
            <a:ln w="9525">
              <a:noFill/>
              <a:miter lim="800000"/>
              <a:headEnd/>
              <a:tailEnd/>
            </a:ln>
            <a:effectLst/>
          </p:spPr>
        </p:pic>
        <p:sp>
          <p:nvSpPr>
            <p:cNvPr id="6" name="Rectangle 5"/>
            <p:cNvSpPr/>
            <p:nvPr/>
          </p:nvSpPr>
          <p:spPr>
            <a:xfrm>
              <a:off x="5562600" y="3505200"/>
              <a:ext cx="18288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mtClean="0"/>
                <a:t>.edu.vn</a:t>
              </a:r>
            </a:p>
            <a:p>
              <a:pPr algn="ctr"/>
              <a:r>
                <a:rPr lang="en-US" smtClean="0"/>
                <a:t>Name server</a:t>
              </a:r>
              <a:endParaRPr lang="en-US"/>
            </a:p>
          </p:txBody>
        </p:sp>
        <p:sp>
          <p:nvSpPr>
            <p:cNvPr id="7" name="Rectangle 6"/>
            <p:cNvSpPr/>
            <p:nvPr/>
          </p:nvSpPr>
          <p:spPr>
            <a:xfrm>
              <a:off x="6477000" y="2057400"/>
              <a:ext cx="18288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mtClean="0"/>
                <a:t>.vn</a:t>
              </a:r>
            </a:p>
            <a:p>
              <a:pPr algn="ctr"/>
              <a:r>
                <a:rPr lang="en-US" smtClean="0"/>
                <a:t>Name server</a:t>
              </a:r>
              <a:endParaRPr lang="en-US"/>
            </a:p>
          </p:txBody>
        </p:sp>
        <p:sp>
          <p:nvSpPr>
            <p:cNvPr id="8" name="Rectangle 7"/>
            <p:cNvSpPr/>
            <p:nvPr/>
          </p:nvSpPr>
          <p:spPr>
            <a:xfrm>
              <a:off x="5562600" y="914400"/>
              <a:ext cx="18288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mtClean="0"/>
                <a:t>Root (.)</a:t>
              </a:r>
            </a:p>
            <a:p>
              <a:pPr algn="ctr"/>
              <a:r>
                <a:rPr lang="en-US" smtClean="0"/>
                <a:t>Name server</a:t>
              </a:r>
              <a:endParaRPr lang="en-US"/>
            </a:p>
          </p:txBody>
        </p:sp>
        <p:sp>
          <p:nvSpPr>
            <p:cNvPr id="9" name="Rectangle 8"/>
            <p:cNvSpPr/>
            <p:nvPr/>
          </p:nvSpPr>
          <p:spPr>
            <a:xfrm>
              <a:off x="5486400" y="5638800"/>
              <a:ext cx="18288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mtClean="0"/>
                <a:t>Webserver</a:t>
              </a:r>
            </a:p>
            <a:p>
              <a:pPr algn="ctr"/>
              <a:r>
                <a:rPr lang="en-US" smtClean="0"/>
                <a:t>(www)</a:t>
              </a:r>
              <a:endParaRPr lang="en-US"/>
            </a:p>
          </p:txBody>
        </p:sp>
        <p:sp>
          <p:nvSpPr>
            <p:cNvPr id="11" name="Rectangle 10"/>
            <p:cNvSpPr/>
            <p:nvPr/>
          </p:nvSpPr>
          <p:spPr>
            <a:xfrm>
              <a:off x="6553200" y="4724400"/>
              <a:ext cx="19812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mtClean="0"/>
                <a:t>.hcmute.edu.vn</a:t>
              </a:r>
            </a:p>
            <a:p>
              <a:pPr algn="ctr"/>
              <a:r>
                <a:rPr lang="en-US" smtClean="0"/>
                <a:t>Name server</a:t>
              </a:r>
              <a:endParaRPr lang="en-US"/>
            </a:p>
          </p:txBody>
        </p:sp>
        <p:cxnSp>
          <p:nvCxnSpPr>
            <p:cNvPr id="13" name="Straight Arrow Connector 12"/>
            <p:cNvCxnSpPr/>
            <p:nvPr/>
          </p:nvCxnSpPr>
          <p:spPr>
            <a:xfrm>
              <a:off x="2819400" y="3352800"/>
              <a:ext cx="2895600" cy="1752600"/>
            </a:xfrm>
            <a:prstGeom prst="straightConnector1">
              <a:avLst/>
            </a:prstGeom>
            <a:ln w="28575">
              <a:tailEnd type="arrow"/>
            </a:ln>
          </p:spPr>
          <p:style>
            <a:lnRef idx="1">
              <a:schemeClr val="dk1"/>
            </a:lnRef>
            <a:fillRef idx="0">
              <a:schemeClr val="dk1"/>
            </a:fillRef>
            <a:effectRef idx="0">
              <a:schemeClr val="dk1"/>
            </a:effectRef>
            <a:fontRef idx="minor">
              <a:schemeClr val="tx1"/>
            </a:fontRef>
          </p:style>
        </p:cxnSp>
        <p:cxnSp>
          <p:nvCxnSpPr>
            <p:cNvPr id="15" name="Straight Arrow Connector 14"/>
            <p:cNvCxnSpPr/>
            <p:nvPr/>
          </p:nvCxnSpPr>
          <p:spPr>
            <a:xfrm>
              <a:off x="2590800" y="3429000"/>
              <a:ext cx="3124200" cy="1905000"/>
            </a:xfrm>
            <a:prstGeom prst="straightConnector1">
              <a:avLst/>
            </a:prstGeom>
            <a:ln w="28575">
              <a:prstDash val="dash"/>
              <a:headEnd type="arrow" w="med" len="med"/>
              <a:tailEnd type="none" w="med" len="med"/>
            </a:ln>
          </p:spPr>
          <p:style>
            <a:lnRef idx="1">
              <a:schemeClr val="dk1"/>
            </a:lnRef>
            <a:fillRef idx="0">
              <a:schemeClr val="dk1"/>
            </a:fillRef>
            <a:effectRef idx="0">
              <a:schemeClr val="dk1"/>
            </a:effectRef>
            <a:fontRef idx="minor">
              <a:schemeClr val="tx1"/>
            </a:fontRef>
          </p:style>
        </p:cxnSp>
      </p:grpSp>
      <p:pic>
        <p:nvPicPr>
          <p:cNvPr id="1027" name="Picture 3"/>
          <p:cNvPicPr>
            <a:picLocks noChangeAspect="1" noChangeArrowheads="1"/>
          </p:cNvPicPr>
          <p:nvPr/>
        </p:nvPicPr>
        <p:blipFill>
          <a:blip r:embed="rId4"/>
          <a:srcRect/>
          <a:stretch>
            <a:fillRect/>
          </a:stretch>
        </p:blipFill>
        <p:spPr bwMode="auto">
          <a:xfrm>
            <a:off x="304800" y="742950"/>
            <a:ext cx="8582025" cy="61150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buNone/>
            </a:pPr>
            <a:r>
              <a:rPr lang="vi-VN" dirty="0" smtClean="0"/>
              <a:t>Truy vấn có thể ở 2 dạng : </a:t>
            </a:r>
          </a:p>
          <a:p>
            <a:r>
              <a:rPr lang="vi-VN" dirty="0" smtClean="0"/>
              <a:t>Truy vấn đệ quy (recursive query):</a:t>
            </a:r>
            <a:endParaRPr lang="en-US" dirty="0" smtClean="0"/>
          </a:p>
          <a:p>
            <a:pPr lvl="1"/>
            <a:r>
              <a:rPr lang="vi-VN" dirty="0" smtClean="0"/>
              <a:t>khi name server nhận được truy vấn dạng này, nó </a:t>
            </a:r>
            <a:r>
              <a:rPr lang="vi-VN" u="sng" dirty="0" smtClean="0"/>
              <a:t>bắt buộc phải   trả  về  kết  quả   tìm  được  hoặc   thông  báo   lỗi</a:t>
            </a:r>
            <a:r>
              <a:rPr lang="vi-VN" dirty="0" smtClean="0"/>
              <a:t>  nếu  như   truy  vấn  này  không  phân  giải  được. </a:t>
            </a:r>
            <a:endParaRPr lang="en-US" dirty="0" smtClean="0"/>
          </a:p>
          <a:p>
            <a:pPr lvl="1"/>
            <a:r>
              <a:rPr lang="vi-VN" dirty="0" smtClean="0"/>
              <a:t>Name server có thể gửi truy  vấn dạng đệ quy hoặc  tương  tác đến name server  khác nhưng phải  thực hiện cho đến  khi nào có kết quả mới thôi</a:t>
            </a:r>
            <a:endParaRPr lang="en-US" dirty="0" smtClean="0"/>
          </a:p>
        </p:txBody>
      </p:sp>
      <p:sp>
        <p:nvSpPr>
          <p:cNvPr id="3" name="Title 2"/>
          <p:cNvSpPr>
            <a:spLocks noGrp="1"/>
          </p:cNvSpPr>
          <p:nvPr>
            <p:ph type="title"/>
          </p:nvPr>
        </p:nvSpPr>
        <p:spPr/>
        <p:txBody>
          <a:bodyPr/>
          <a:lstStyle/>
          <a:p>
            <a:r>
              <a:rPr lang="en-US" smtClean="0"/>
              <a:t>1. </a:t>
            </a:r>
            <a:r>
              <a:rPr lang="vi-VN" smtClean="0"/>
              <a:t>Phân giải tên thành IP. </a:t>
            </a:r>
            <a:endParaRPr lang="en-US" smtClean="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mtClean="0"/>
              <a:t>Truy vấn đệ quy</a:t>
            </a:r>
          </a:p>
          <a:p>
            <a:endParaRPr lang="en-US"/>
          </a:p>
        </p:txBody>
      </p:sp>
      <p:sp>
        <p:nvSpPr>
          <p:cNvPr id="3" name="Title 2"/>
          <p:cNvSpPr>
            <a:spLocks noGrp="1"/>
          </p:cNvSpPr>
          <p:nvPr>
            <p:ph type="title"/>
          </p:nvPr>
        </p:nvSpPr>
        <p:spPr/>
        <p:txBody>
          <a:bodyPr/>
          <a:lstStyle/>
          <a:p>
            <a:r>
              <a:rPr lang="en-US" smtClean="0"/>
              <a:t>1. </a:t>
            </a:r>
            <a:r>
              <a:rPr lang="vi-VN" smtClean="0"/>
              <a:t>Phân giải tên thành IP. </a:t>
            </a:r>
            <a:endParaRPr lang="en-US"/>
          </a:p>
        </p:txBody>
      </p:sp>
      <p:pic>
        <p:nvPicPr>
          <p:cNvPr id="52226" name="Picture 2"/>
          <p:cNvPicPr>
            <a:picLocks noChangeAspect="1" noChangeArrowheads="1"/>
          </p:cNvPicPr>
          <p:nvPr/>
        </p:nvPicPr>
        <p:blipFill>
          <a:blip r:embed="rId3"/>
          <a:srcRect/>
          <a:stretch>
            <a:fillRect/>
          </a:stretch>
        </p:blipFill>
        <p:spPr bwMode="auto">
          <a:xfrm>
            <a:off x="609600" y="1295400"/>
            <a:ext cx="7952096" cy="4876800"/>
          </a:xfrm>
          <a:prstGeom prst="rect">
            <a:avLst/>
          </a:prstGeom>
          <a:noFill/>
          <a:ln w="9525">
            <a:noFill/>
            <a:miter lim="800000"/>
            <a:headEnd/>
            <a:tailEnd/>
          </a:ln>
          <a:effectLst/>
        </p:spPr>
      </p:pic>
      <p:sp>
        <p:nvSpPr>
          <p:cNvPr id="4" name="Rectangle 3"/>
          <p:cNvSpPr/>
          <p:nvPr/>
        </p:nvSpPr>
        <p:spPr>
          <a:xfrm>
            <a:off x="3352800" y="3352800"/>
            <a:ext cx="1752600" cy="152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vi-VN" smtClean="0"/>
              <a:t>Truy vấn  tương  tác  (I</a:t>
            </a:r>
            <a:r>
              <a:rPr lang="en-US" smtClean="0"/>
              <a:t>n</a:t>
            </a:r>
            <a:r>
              <a:rPr lang="vi-VN" smtClean="0"/>
              <a:t>teractive query): </a:t>
            </a:r>
            <a:endParaRPr lang="en-US" smtClean="0"/>
          </a:p>
          <a:p>
            <a:pPr lvl="1"/>
            <a:r>
              <a:rPr lang="vi-VN" smtClean="0"/>
              <a:t>khi name server nhận được  truy vấn dạng này, nó  </a:t>
            </a:r>
            <a:r>
              <a:rPr lang="vi-VN" u="sng" smtClean="0"/>
              <a:t>trả  lời cho Resolver với  thông  tin  tốt nhất mà nó có được vào  thời điểm  lúc đó</a:t>
            </a:r>
            <a:r>
              <a:rPr lang="vi-VN" smtClean="0"/>
              <a:t>. </a:t>
            </a:r>
            <a:endParaRPr lang="en-US" smtClean="0"/>
          </a:p>
          <a:p>
            <a:pPr lvl="1"/>
            <a:r>
              <a:rPr lang="vi-VN" smtClean="0"/>
              <a:t>Thông tin  tốt nhất trả về có  thể  lấy từ dữ liệu cục bộ (kể cả cache). Trong trường hợp name server không tìm thấy trong dữ liệu cục bộ nó sẽ trả về tên miền và địa chỉ IP của name server gần nhất mà nó biết. </a:t>
            </a:r>
            <a:endParaRPr lang="en-US" smtClean="0"/>
          </a:p>
        </p:txBody>
      </p:sp>
      <p:sp>
        <p:nvSpPr>
          <p:cNvPr id="3" name="Title 2"/>
          <p:cNvSpPr>
            <a:spLocks noGrp="1"/>
          </p:cNvSpPr>
          <p:nvPr>
            <p:ph type="title"/>
          </p:nvPr>
        </p:nvSpPr>
        <p:spPr/>
        <p:txBody>
          <a:bodyPr/>
          <a:lstStyle/>
          <a:p>
            <a:r>
              <a:rPr lang="en-US" smtClean="0"/>
              <a:t>1. </a:t>
            </a:r>
            <a:r>
              <a:rPr lang="vi-VN" smtClean="0"/>
              <a:t>Phân giải tên thành IP. </a:t>
            </a:r>
            <a:endParaRPr 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mtClean="0"/>
              <a:t>Truy vấn tương tác</a:t>
            </a:r>
          </a:p>
          <a:p>
            <a:endParaRPr lang="en-US"/>
          </a:p>
        </p:txBody>
      </p:sp>
      <p:sp>
        <p:nvSpPr>
          <p:cNvPr id="3" name="Title 2"/>
          <p:cNvSpPr>
            <a:spLocks noGrp="1"/>
          </p:cNvSpPr>
          <p:nvPr>
            <p:ph type="title"/>
          </p:nvPr>
        </p:nvSpPr>
        <p:spPr/>
        <p:txBody>
          <a:bodyPr/>
          <a:lstStyle/>
          <a:p>
            <a:r>
              <a:rPr lang="vi-VN" smtClean="0"/>
              <a:t>1.  Phân giải tên thành IP. </a:t>
            </a:r>
            <a:endParaRPr lang="en-US"/>
          </a:p>
        </p:txBody>
      </p:sp>
      <p:sp>
        <p:nvSpPr>
          <p:cNvPr id="5" name="Oval 4"/>
          <p:cNvSpPr>
            <a:spLocks noChangeArrowheads="1"/>
          </p:cNvSpPr>
          <p:nvPr/>
        </p:nvSpPr>
        <p:spPr bwMode="auto">
          <a:xfrm>
            <a:off x="1441121" y="2846387"/>
            <a:ext cx="2522537" cy="2978150"/>
          </a:xfrm>
          <a:prstGeom prst="ellipse">
            <a:avLst/>
          </a:prstGeom>
          <a:gradFill rotWithShape="1">
            <a:gsLst>
              <a:gs pos="0">
                <a:srgbClr val="F0F1FF"/>
              </a:gs>
              <a:gs pos="100000">
                <a:srgbClr val="B3C8DF"/>
              </a:gs>
            </a:gsLst>
            <a:path path="shape">
              <a:fillToRect l="50000" t="50000" r="50000" b="50000"/>
            </a:path>
          </a:gradFill>
          <a:ln w="9525">
            <a:noFill/>
            <a:round/>
            <a:headEnd/>
            <a:tailEnd/>
          </a:ln>
        </p:spPr>
        <p:txBody>
          <a:bodyPr wrap="none" anchor="ctr"/>
          <a:lstStyle/>
          <a:p>
            <a:endParaRPr lang="en-US" sz="2000"/>
          </a:p>
        </p:txBody>
      </p:sp>
      <p:pic>
        <p:nvPicPr>
          <p:cNvPr id="6" name="Picture 5" descr="Computer_DesktopComputerSansKeyboard01"/>
          <p:cNvPicPr>
            <a:picLocks noChangeAspect="1" noChangeArrowheads="1"/>
          </p:cNvPicPr>
          <p:nvPr/>
        </p:nvPicPr>
        <p:blipFill>
          <a:blip r:embed="rId2"/>
          <a:srcRect/>
          <a:stretch>
            <a:fillRect/>
          </a:stretch>
        </p:blipFill>
        <p:spPr bwMode="auto">
          <a:xfrm>
            <a:off x="1563358" y="5295900"/>
            <a:ext cx="782638" cy="952500"/>
          </a:xfrm>
          <a:prstGeom prst="rect">
            <a:avLst/>
          </a:prstGeom>
          <a:noFill/>
          <a:ln w="9525">
            <a:noFill/>
            <a:miter lim="800000"/>
            <a:headEnd/>
            <a:tailEnd/>
          </a:ln>
        </p:spPr>
      </p:pic>
      <p:pic>
        <p:nvPicPr>
          <p:cNvPr id="7" name="Picture 6" descr="Server01"/>
          <p:cNvPicPr>
            <a:picLocks noChangeAspect="1" noChangeArrowheads="1"/>
          </p:cNvPicPr>
          <p:nvPr/>
        </p:nvPicPr>
        <p:blipFill>
          <a:blip r:embed="rId3">
            <a:grayscl/>
          </a:blip>
          <a:srcRect/>
          <a:stretch>
            <a:fillRect/>
          </a:stretch>
        </p:blipFill>
        <p:spPr bwMode="auto">
          <a:xfrm>
            <a:off x="2592058" y="2679700"/>
            <a:ext cx="912813" cy="1073150"/>
          </a:xfrm>
          <a:prstGeom prst="rect">
            <a:avLst/>
          </a:prstGeom>
          <a:noFill/>
          <a:ln w="9525">
            <a:noFill/>
            <a:miter lim="800000"/>
            <a:headEnd/>
            <a:tailEnd/>
          </a:ln>
        </p:spPr>
      </p:pic>
      <p:sp>
        <p:nvSpPr>
          <p:cNvPr id="8" name="AutoShape 7"/>
          <p:cNvSpPr>
            <a:spLocks noChangeArrowheads="1"/>
          </p:cNvSpPr>
          <p:nvPr/>
        </p:nvSpPr>
        <p:spPr bwMode="auto">
          <a:xfrm>
            <a:off x="2377746" y="5594350"/>
            <a:ext cx="1276350" cy="333375"/>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nSpc>
                <a:spcPct val="85000"/>
              </a:lnSpc>
              <a:defRPr/>
            </a:pPr>
            <a:r>
              <a:rPr lang="en-US" sz="1200"/>
              <a:t>Client Server</a:t>
            </a:r>
          </a:p>
        </p:txBody>
      </p:sp>
      <p:sp>
        <p:nvSpPr>
          <p:cNvPr id="9" name="AutoShape 8"/>
          <p:cNvSpPr>
            <a:spLocks noChangeArrowheads="1"/>
          </p:cNvSpPr>
          <p:nvPr/>
        </p:nvSpPr>
        <p:spPr bwMode="auto">
          <a:xfrm>
            <a:off x="1674483" y="2420937"/>
            <a:ext cx="1196975" cy="565150"/>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defRPr/>
            </a:pPr>
            <a:r>
              <a:rPr lang="en-US" sz="1400"/>
              <a:t>Local </a:t>
            </a:r>
          </a:p>
          <a:p>
            <a:pPr>
              <a:defRPr/>
            </a:pPr>
            <a:r>
              <a:rPr lang="en-US" sz="1400"/>
              <a:t>DNS Server</a:t>
            </a:r>
          </a:p>
        </p:txBody>
      </p:sp>
      <p:pic>
        <p:nvPicPr>
          <p:cNvPr id="10" name="Picture 9" descr="Internet01"/>
          <p:cNvPicPr>
            <a:picLocks noChangeAspect="1" noChangeArrowheads="1"/>
          </p:cNvPicPr>
          <p:nvPr/>
        </p:nvPicPr>
        <p:blipFill>
          <a:blip r:embed="rId4"/>
          <a:srcRect/>
          <a:stretch>
            <a:fillRect/>
          </a:stretch>
        </p:blipFill>
        <p:spPr bwMode="auto">
          <a:xfrm>
            <a:off x="6667171" y="3146425"/>
            <a:ext cx="1909762" cy="1905000"/>
          </a:xfrm>
          <a:prstGeom prst="rect">
            <a:avLst/>
          </a:prstGeom>
          <a:noFill/>
          <a:ln w="9525">
            <a:noFill/>
            <a:miter lim="800000"/>
            <a:headEnd/>
            <a:tailEnd/>
          </a:ln>
        </p:spPr>
      </p:pic>
      <p:pic>
        <p:nvPicPr>
          <p:cNvPr id="11" name="Picture 10" descr="Server01"/>
          <p:cNvPicPr>
            <a:picLocks noChangeAspect="1" noChangeArrowheads="1"/>
          </p:cNvPicPr>
          <p:nvPr/>
        </p:nvPicPr>
        <p:blipFill>
          <a:blip r:embed="rId5">
            <a:grayscl/>
          </a:blip>
          <a:srcRect/>
          <a:stretch>
            <a:fillRect/>
          </a:stretch>
        </p:blipFill>
        <p:spPr bwMode="auto">
          <a:xfrm>
            <a:off x="6081383" y="2438400"/>
            <a:ext cx="884238" cy="1039812"/>
          </a:xfrm>
          <a:prstGeom prst="rect">
            <a:avLst/>
          </a:prstGeom>
          <a:noFill/>
          <a:ln w="9525">
            <a:noFill/>
            <a:miter lim="800000"/>
            <a:headEnd/>
            <a:tailEnd/>
          </a:ln>
        </p:spPr>
      </p:pic>
      <p:pic>
        <p:nvPicPr>
          <p:cNvPr id="12" name="Picture 11" descr="Server01"/>
          <p:cNvPicPr>
            <a:picLocks noChangeAspect="1" noChangeArrowheads="1"/>
          </p:cNvPicPr>
          <p:nvPr/>
        </p:nvPicPr>
        <p:blipFill>
          <a:blip r:embed="rId5">
            <a:grayscl/>
          </a:blip>
          <a:srcRect/>
          <a:stretch>
            <a:fillRect/>
          </a:stretch>
        </p:blipFill>
        <p:spPr bwMode="auto">
          <a:xfrm>
            <a:off x="6209971" y="3567112"/>
            <a:ext cx="884237" cy="1039813"/>
          </a:xfrm>
          <a:prstGeom prst="rect">
            <a:avLst/>
          </a:prstGeom>
          <a:noFill/>
          <a:ln w="9525">
            <a:noFill/>
            <a:miter lim="800000"/>
            <a:headEnd/>
            <a:tailEnd/>
          </a:ln>
        </p:spPr>
      </p:pic>
      <p:pic>
        <p:nvPicPr>
          <p:cNvPr id="13" name="Picture 12" descr="Server01"/>
          <p:cNvPicPr>
            <a:picLocks noChangeAspect="1" noChangeArrowheads="1"/>
          </p:cNvPicPr>
          <p:nvPr/>
        </p:nvPicPr>
        <p:blipFill>
          <a:blip r:embed="rId5">
            <a:grayscl/>
          </a:blip>
          <a:srcRect/>
          <a:stretch>
            <a:fillRect/>
          </a:stretch>
        </p:blipFill>
        <p:spPr bwMode="auto">
          <a:xfrm>
            <a:off x="6779883" y="5057775"/>
            <a:ext cx="884238" cy="1039812"/>
          </a:xfrm>
          <a:prstGeom prst="rect">
            <a:avLst/>
          </a:prstGeom>
          <a:noFill/>
          <a:ln w="9525">
            <a:noFill/>
            <a:miter lim="800000"/>
            <a:headEnd/>
            <a:tailEnd/>
          </a:ln>
        </p:spPr>
      </p:pic>
      <p:sp>
        <p:nvSpPr>
          <p:cNvPr id="14" name="AutoShape 13"/>
          <p:cNvSpPr>
            <a:spLocks noChangeArrowheads="1"/>
          </p:cNvSpPr>
          <p:nvPr/>
        </p:nvSpPr>
        <p:spPr bwMode="auto">
          <a:xfrm>
            <a:off x="6794171" y="2435225"/>
            <a:ext cx="1276350" cy="333375"/>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defRPr/>
            </a:pPr>
            <a:r>
              <a:rPr lang="en-US" sz="1400"/>
              <a:t>Root Hint (.)</a:t>
            </a:r>
          </a:p>
        </p:txBody>
      </p:sp>
      <p:sp>
        <p:nvSpPr>
          <p:cNvPr id="15" name="AutoShape 14"/>
          <p:cNvSpPr>
            <a:spLocks noChangeArrowheads="1"/>
          </p:cNvSpPr>
          <p:nvPr/>
        </p:nvSpPr>
        <p:spPr bwMode="auto">
          <a:xfrm>
            <a:off x="7052933" y="3533775"/>
            <a:ext cx="552450" cy="333375"/>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defRPr/>
            </a:pPr>
            <a:r>
              <a:rPr lang="en-US" sz="1400"/>
              <a:t>.com</a:t>
            </a:r>
          </a:p>
        </p:txBody>
      </p:sp>
      <p:sp>
        <p:nvSpPr>
          <p:cNvPr id="16" name="Line 15"/>
          <p:cNvSpPr>
            <a:spLocks noChangeShapeType="1"/>
          </p:cNvSpPr>
          <p:nvPr/>
        </p:nvSpPr>
        <p:spPr bwMode="auto">
          <a:xfrm flipV="1">
            <a:off x="2047546" y="3709987"/>
            <a:ext cx="644525" cy="1608138"/>
          </a:xfrm>
          <a:prstGeom prst="line">
            <a:avLst/>
          </a:prstGeom>
          <a:noFill/>
          <a:ln w="50800">
            <a:solidFill>
              <a:srgbClr val="CC0000"/>
            </a:solidFill>
            <a:round/>
            <a:headEnd/>
            <a:tailEnd type="triangle" w="med" len="med"/>
          </a:ln>
        </p:spPr>
        <p:txBody>
          <a:bodyPr/>
          <a:lstStyle/>
          <a:p>
            <a:endParaRPr lang="en-US" sz="2000"/>
          </a:p>
        </p:txBody>
      </p:sp>
      <p:sp>
        <p:nvSpPr>
          <p:cNvPr id="17" name="Line 16"/>
          <p:cNvSpPr>
            <a:spLocks noChangeShapeType="1"/>
          </p:cNvSpPr>
          <p:nvPr/>
        </p:nvSpPr>
        <p:spPr bwMode="auto">
          <a:xfrm flipH="1">
            <a:off x="2209471" y="3810000"/>
            <a:ext cx="617537" cy="1536700"/>
          </a:xfrm>
          <a:prstGeom prst="line">
            <a:avLst/>
          </a:prstGeom>
          <a:noFill/>
          <a:ln w="50800" cap="rnd">
            <a:solidFill>
              <a:srgbClr val="CC0000"/>
            </a:solidFill>
            <a:prstDash val="sysDot"/>
            <a:round/>
            <a:headEnd/>
            <a:tailEnd type="triangle" w="med" len="med"/>
          </a:ln>
        </p:spPr>
        <p:txBody>
          <a:bodyPr wrap="none" anchor="ctr"/>
          <a:lstStyle/>
          <a:p>
            <a:endParaRPr lang="en-US" sz="2000"/>
          </a:p>
        </p:txBody>
      </p:sp>
      <p:sp>
        <p:nvSpPr>
          <p:cNvPr id="18" name="Rectangle 17"/>
          <p:cNvSpPr>
            <a:spLocks noChangeArrowheads="1"/>
          </p:cNvSpPr>
          <p:nvPr/>
        </p:nvSpPr>
        <p:spPr bwMode="auto">
          <a:xfrm>
            <a:off x="1996746" y="4522787"/>
            <a:ext cx="914400" cy="914400"/>
          </a:xfrm>
          <a:prstGeom prst="rect">
            <a:avLst/>
          </a:prstGeom>
          <a:noFill/>
          <a:ln w="9525" algn="ctr">
            <a:noFill/>
            <a:miter lim="800000"/>
            <a:headEnd/>
            <a:tailEnd/>
          </a:ln>
        </p:spPr>
        <p:txBody>
          <a:bodyPr wrap="none" anchor="ctr"/>
          <a:lstStyle/>
          <a:p>
            <a:endParaRPr lang="en-US" sz="2000"/>
          </a:p>
        </p:txBody>
      </p:sp>
      <p:sp>
        <p:nvSpPr>
          <p:cNvPr id="19" name="Rectangle 18"/>
          <p:cNvSpPr>
            <a:spLocks noChangeArrowheads="1"/>
          </p:cNvSpPr>
          <p:nvPr/>
        </p:nvSpPr>
        <p:spPr bwMode="auto">
          <a:xfrm rot="17556324">
            <a:off x="1001383" y="4022725"/>
            <a:ext cx="2109787" cy="769938"/>
          </a:xfrm>
          <a:prstGeom prst="rect">
            <a:avLst/>
          </a:prstGeom>
          <a:noFill/>
          <a:ln w="9525" algn="ctr">
            <a:noFill/>
            <a:miter lim="800000"/>
            <a:headEnd/>
            <a:tailEnd/>
          </a:ln>
        </p:spPr>
        <p:txBody>
          <a:bodyPr wrap="none" anchor="ctr"/>
          <a:lstStyle/>
          <a:p>
            <a:pPr>
              <a:lnSpc>
                <a:spcPct val="85000"/>
              </a:lnSpc>
            </a:pPr>
            <a:r>
              <a:rPr lang="en-US" sz="1600" b="0"/>
              <a:t>Recursive Query</a:t>
            </a:r>
          </a:p>
          <a:p>
            <a:pPr>
              <a:lnSpc>
                <a:spcPct val="85000"/>
              </a:lnSpc>
            </a:pPr>
            <a:r>
              <a:rPr lang="en-US" sz="1600" b="0"/>
              <a:t>mail1.nwtraders.com</a:t>
            </a:r>
          </a:p>
        </p:txBody>
      </p:sp>
      <p:sp>
        <p:nvSpPr>
          <p:cNvPr id="20" name="Rectangle 19"/>
          <p:cNvSpPr>
            <a:spLocks noChangeArrowheads="1"/>
          </p:cNvSpPr>
          <p:nvPr/>
        </p:nvSpPr>
        <p:spPr bwMode="auto">
          <a:xfrm rot="17599021">
            <a:off x="1874508" y="4527550"/>
            <a:ext cx="1654175" cy="508000"/>
          </a:xfrm>
          <a:prstGeom prst="rect">
            <a:avLst/>
          </a:prstGeom>
          <a:noFill/>
          <a:ln w="9525" algn="ctr">
            <a:noFill/>
            <a:miter lim="800000"/>
            <a:headEnd/>
            <a:tailEnd/>
          </a:ln>
        </p:spPr>
        <p:txBody>
          <a:bodyPr wrap="none" anchor="ctr"/>
          <a:lstStyle/>
          <a:p>
            <a:r>
              <a:rPr lang="en-US" sz="2000" b="0"/>
              <a:t>172.16.64.11</a:t>
            </a:r>
          </a:p>
        </p:txBody>
      </p:sp>
      <p:sp>
        <p:nvSpPr>
          <p:cNvPr id="21" name="Line 20"/>
          <p:cNvSpPr>
            <a:spLocks noChangeShapeType="1"/>
          </p:cNvSpPr>
          <p:nvPr/>
        </p:nvSpPr>
        <p:spPr bwMode="auto">
          <a:xfrm>
            <a:off x="3736646" y="2916237"/>
            <a:ext cx="2206625" cy="1588"/>
          </a:xfrm>
          <a:prstGeom prst="line">
            <a:avLst/>
          </a:prstGeom>
          <a:noFill/>
          <a:ln w="50800">
            <a:solidFill>
              <a:srgbClr val="CC0000"/>
            </a:solidFill>
            <a:round/>
            <a:headEnd/>
            <a:tailEnd type="triangle" w="med" len="med"/>
          </a:ln>
        </p:spPr>
        <p:txBody>
          <a:bodyPr/>
          <a:lstStyle/>
          <a:p>
            <a:endParaRPr lang="en-US" sz="2000"/>
          </a:p>
        </p:txBody>
      </p:sp>
      <p:sp>
        <p:nvSpPr>
          <p:cNvPr id="22" name="Line 21"/>
          <p:cNvSpPr>
            <a:spLocks noChangeShapeType="1"/>
          </p:cNvSpPr>
          <p:nvPr/>
        </p:nvSpPr>
        <p:spPr bwMode="auto">
          <a:xfrm>
            <a:off x="3547733" y="3389312"/>
            <a:ext cx="2603500" cy="550863"/>
          </a:xfrm>
          <a:prstGeom prst="line">
            <a:avLst/>
          </a:prstGeom>
          <a:noFill/>
          <a:ln w="50800">
            <a:solidFill>
              <a:srgbClr val="CC0000"/>
            </a:solidFill>
            <a:round/>
            <a:headEnd/>
            <a:tailEnd type="triangle" w="med" len="med"/>
          </a:ln>
        </p:spPr>
        <p:txBody>
          <a:bodyPr/>
          <a:lstStyle/>
          <a:p>
            <a:endParaRPr lang="en-US" sz="2000"/>
          </a:p>
        </p:txBody>
      </p:sp>
      <p:sp>
        <p:nvSpPr>
          <p:cNvPr id="23" name="Line 22"/>
          <p:cNvSpPr>
            <a:spLocks noChangeShapeType="1"/>
          </p:cNvSpPr>
          <p:nvPr/>
        </p:nvSpPr>
        <p:spPr bwMode="auto">
          <a:xfrm>
            <a:off x="3311196" y="3763962"/>
            <a:ext cx="3443287" cy="1554163"/>
          </a:xfrm>
          <a:prstGeom prst="line">
            <a:avLst/>
          </a:prstGeom>
          <a:noFill/>
          <a:ln w="50800">
            <a:solidFill>
              <a:srgbClr val="CC0000"/>
            </a:solidFill>
            <a:round/>
            <a:headEnd/>
            <a:tailEnd type="triangle" w="med" len="med"/>
          </a:ln>
        </p:spPr>
        <p:txBody>
          <a:bodyPr/>
          <a:lstStyle/>
          <a:p>
            <a:endParaRPr lang="en-US" sz="2000"/>
          </a:p>
        </p:txBody>
      </p:sp>
      <p:sp>
        <p:nvSpPr>
          <p:cNvPr id="24" name="Rectangle 23"/>
          <p:cNvSpPr>
            <a:spLocks noChangeArrowheads="1"/>
          </p:cNvSpPr>
          <p:nvPr/>
        </p:nvSpPr>
        <p:spPr bwMode="auto">
          <a:xfrm>
            <a:off x="4011283" y="2563812"/>
            <a:ext cx="1611313" cy="393700"/>
          </a:xfrm>
          <a:prstGeom prst="rect">
            <a:avLst/>
          </a:prstGeom>
          <a:noFill/>
          <a:ln w="9525" algn="ctr">
            <a:noFill/>
            <a:miter lim="800000"/>
            <a:headEnd/>
            <a:tailEnd/>
          </a:ln>
        </p:spPr>
        <p:txBody>
          <a:bodyPr wrap="none" anchor="ctr"/>
          <a:lstStyle/>
          <a:p>
            <a:r>
              <a:rPr lang="en-US" sz="1600" b="0"/>
              <a:t>Iterative Query</a:t>
            </a:r>
          </a:p>
        </p:txBody>
      </p:sp>
      <p:sp>
        <p:nvSpPr>
          <p:cNvPr id="25" name="Rectangle 24"/>
          <p:cNvSpPr>
            <a:spLocks noChangeArrowheads="1"/>
          </p:cNvSpPr>
          <p:nvPr/>
        </p:nvSpPr>
        <p:spPr bwMode="auto">
          <a:xfrm rot="1409217">
            <a:off x="4995533" y="4441825"/>
            <a:ext cx="1611313" cy="449262"/>
          </a:xfrm>
          <a:prstGeom prst="rect">
            <a:avLst/>
          </a:prstGeom>
          <a:noFill/>
          <a:ln w="9525" algn="ctr">
            <a:noFill/>
            <a:miter lim="800000"/>
            <a:headEnd/>
            <a:tailEnd/>
          </a:ln>
        </p:spPr>
        <p:txBody>
          <a:bodyPr wrap="none" anchor="ctr"/>
          <a:lstStyle/>
          <a:p>
            <a:r>
              <a:rPr lang="en-US" sz="1800" b="0"/>
              <a:t>Iterative Query</a:t>
            </a:r>
          </a:p>
        </p:txBody>
      </p:sp>
      <p:sp>
        <p:nvSpPr>
          <p:cNvPr id="26" name="Rectangle 25"/>
          <p:cNvSpPr>
            <a:spLocks noChangeArrowheads="1"/>
          </p:cNvSpPr>
          <p:nvPr/>
        </p:nvSpPr>
        <p:spPr bwMode="auto">
          <a:xfrm rot="690929">
            <a:off x="4268458" y="3327400"/>
            <a:ext cx="1443038" cy="417512"/>
          </a:xfrm>
          <a:prstGeom prst="rect">
            <a:avLst/>
          </a:prstGeom>
          <a:noFill/>
          <a:ln w="9525" algn="ctr">
            <a:noFill/>
            <a:miter lim="800000"/>
            <a:headEnd/>
            <a:tailEnd/>
          </a:ln>
        </p:spPr>
        <p:txBody>
          <a:bodyPr wrap="none" anchor="ctr"/>
          <a:lstStyle/>
          <a:p>
            <a:r>
              <a:rPr lang="en-US" sz="1600" b="0"/>
              <a:t>Iterative Query</a:t>
            </a:r>
          </a:p>
        </p:txBody>
      </p:sp>
      <p:sp>
        <p:nvSpPr>
          <p:cNvPr id="27" name="Text Box 26"/>
          <p:cNvSpPr txBox="1">
            <a:spLocks noChangeArrowheads="1"/>
          </p:cNvSpPr>
          <p:nvPr/>
        </p:nvSpPr>
        <p:spPr bwMode="auto">
          <a:xfrm>
            <a:off x="4281158" y="3016250"/>
            <a:ext cx="1510042" cy="338554"/>
          </a:xfrm>
          <a:prstGeom prst="rect">
            <a:avLst/>
          </a:prstGeom>
          <a:noFill/>
          <a:ln w="9525" algn="ctr">
            <a:noFill/>
            <a:miter lim="800000"/>
            <a:headEnd/>
            <a:tailEnd/>
          </a:ln>
        </p:spPr>
        <p:txBody>
          <a:bodyPr wrap="square">
            <a:spAutoFit/>
          </a:bodyPr>
          <a:lstStyle/>
          <a:p>
            <a:r>
              <a:rPr lang="en-US" sz="1600" b="0"/>
              <a:t>Ask .com</a:t>
            </a:r>
          </a:p>
        </p:txBody>
      </p:sp>
      <p:sp>
        <p:nvSpPr>
          <p:cNvPr id="28" name="Line 27"/>
          <p:cNvSpPr>
            <a:spLocks noChangeShapeType="1"/>
          </p:cNvSpPr>
          <p:nvPr/>
        </p:nvSpPr>
        <p:spPr bwMode="auto">
          <a:xfrm flipH="1" flipV="1">
            <a:off x="3530271" y="3044825"/>
            <a:ext cx="2390775" cy="17462"/>
          </a:xfrm>
          <a:prstGeom prst="line">
            <a:avLst/>
          </a:prstGeom>
          <a:noFill/>
          <a:ln w="50800" cap="rnd">
            <a:solidFill>
              <a:srgbClr val="CC0000"/>
            </a:solidFill>
            <a:prstDash val="sysDot"/>
            <a:round/>
            <a:headEnd/>
            <a:tailEnd type="triangle" w="med" len="med"/>
          </a:ln>
        </p:spPr>
        <p:txBody>
          <a:bodyPr wrap="none" anchor="ctr"/>
          <a:lstStyle/>
          <a:p>
            <a:endParaRPr lang="en-US" sz="2000"/>
          </a:p>
        </p:txBody>
      </p:sp>
      <p:sp>
        <p:nvSpPr>
          <p:cNvPr id="29" name="Line 28"/>
          <p:cNvSpPr>
            <a:spLocks noChangeShapeType="1"/>
          </p:cNvSpPr>
          <p:nvPr/>
        </p:nvSpPr>
        <p:spPr bwMode="auto">
          <a:xfrm flipH="1" flipV="1">
            <a:off x="3115933" y="3802062"/>
            <a:ext cx="3498850" cy="1576388"/>
          </a:xfrm>
          <a:prstGeom prst="line">
            <a:avLst/>
          </a:prstGeom>
          <a:noFill/>
          <a:ln w="50800" cap="rnd">
            <a:solidFill>
              <a:srgbClr val="CC0000"/>
            </a:solidFill>
            <a:prstDash val="sysDot"/>
            <a:round/>
            <a:headEnd/>
            <a:tailEnd type="triangle" w="med" len="med"/>
          </a:ln>
        </p:spPr>
        <p:txBody>
          <a:bodyPr wrap="none" anchor="ctr"/>
          <a:lstStyle/>
          <a:p>
            <a:endParaRPr lang="en-US" sz="2000"/>
          </a:p>
        </p:txBody>
      </p:sp>
      <p:sp>
        <p:nvSpPr>
          <p:cNvPr id="30" name="Line 29"/>
          <p:cNvSpPr>
            <a:spLocks noChangeShapeType="1"/>
          </p:cNvSpPr>
          <p:nvPr/>
        </p:nvSpPr>
        <p:spPr bwMode="auto">
          <a:xfrm flipH="1" flipV="1">
            <a:off x="3458833" y="3487737"/>
            <a:ext cx="2647950" cy="592138"/>
          </a:xfrm>
          <a:prstGeom prst="line">
            <a:avLst/>
          </a:prstGeom>
          <a:noFill/>
          <a:ln w="50800" cap="rnd">
            <a:solidFill>
              <a:srgbClr val="CC0000"/>
            </a:solidFill>
            <a:prstDash val="sysDot"/>
            <a:round/>
            <a:headEnd/>
            <a:tailEnd type="triangle" w="med" len="med"/>
          </a:ln>
        </p:spPr>
        <p:txBody>
          <a:bodyPr wrap="none" anchor="ctr"/>
          <a:lstStyle/>
          <a:p>
            <a:endParaRPr lang="en-US" sz="2000"/>
          </a:p>
        </p:txBody>
      </p:sp>
      <p:sp>
        <p:nvSpPr>
          <p:cNvPr id="31" name="Text Box 30"/>
          <p:cNvSpPr txBox="1">
            <a:spLocks noChangeArrowheads="1"/>
          </p:cNvSpPr>
          <p:nvPr/>
        </p:nvSpPr>
        <p:spPr bwMode="auto">
          <a:xfrm rot="775546">
            <a:off x="3856828" y="3825927"/>
            <a:ext cx="2627421" cy="369332"/>
          </a:xfrm>
          <a:prstGeom prst="rect">
            <a:avLst/>
          </a:prstGeom>
          <a:noFill/>
          <a:ln w="9525" algn="ctr">
            <a:noFill/>
            <a:miter lim="800000"/>
            <a:headEnd/>
            <a:tailEnd/>
          </a:ln>
        </p:spPr>
        <p:txBody>
          <a:bodyPr wrap="square">
            <a:spAutoFit/>
          </a:bodyPr>
          <a:lstStyle/>
          <a:p>
            <a:r>
              <a:rPr lang="en-US" sz="1800" b="0"/>
              <a:t>Ask nwtraders.com</a:t>
            </a:r>
          </a:p>
        </p:txBody>
      </p:sp>
      <p:sp>
        <p:nvSpPr>
          <p:cNvPr id="32" name="Text Box 31"/>
          <p:cNvSpPr txBox="1">
            <a:spLocks noChangeArrowheads="1"/>
          </p:cNvSpPr>
          <p:nvPr/>
        </p:nvSpPr>
        <p:spPr bwMode="auto">
          <a:xfrm rot="1369041">
            <a:off x="4340804" y="5086628"/>
            <a:ext cx="2569934" cy="369332"/>
          </a:xfrm>
          <a:prstGeom prst="rect">
            <a:avLst/>
          </a:prstGeom>
          <a:noFill/>
          <a:ln w="9525" algn="ctr">
            <a:noFill/>
            <a:miter lim="800000"/>
            <a:headEnd/>
            <a:tailEnd/>
          </a:ln>
        </p:spPr>
        <p:txBody>
          <a:bodyPr wrap="none">
            <a:spAutoFit/>
          </a:bodyPr>
          <a:lstStyle/>
          <a:p>
            <a:r>
              <a:rPr lang="en-US" sz="1800" b="0"/>
              <a:t>Authoritative Response</a:t>
            </a:r>
          </a:p>
        </p:txBody>
      </p:sp>
      <p:sp>
        <p:nvSpPr>
          <p:cNvPr id="33" name="AutoShape 40"/>
          <p:cNvSpPr>
            <a:spLocks noChangeArrowheads="1"/>
          </p:cNvSpPr>
          <p:nvPr/>
        </p:nvSpPr>
        <p:spPr bwMode="auto">
          <a:xfrm>
            <a:off x="7111671" y="5054600"/>
            <a:ext cx="1428750" cy="333375"/>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defRPr/>
            </a:pPr>
            <a:r>
              <a:rPr lang="en-US" sz="1200"/>
              <a:t>Nwtraders.com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down)">
                                      <p:cBhvr>
                                        <p:cTn id="7" dur="1000"/>
                                        <p:tgtEl>
                                          <p:spTgt spid="16"/>
                                        </p:tgtEl>
                                      </p:cBhvr>
                                    </p:animEffect>
                                  </p:childTnLst>
                                </p:cTn>
                              </p:par>
                              <p:par>
                                <p:cTn id="8" presetID="1" presetClass="entr" presetSubtype="0" fill="hold" nodeType="withEffect">
                                  <p:stCondLst>
                                    <p:cond delay="0"/>
                                  </p:stCondLst>
                                  <p:childTnLst>
                                    <p:set>
                                      <p:cBhvr>
                                        <p:cTn id="9" dur="1" fill="hold">
                                          <p:stCondLst>
                                            <p:cond delay="0"/>
                                          </p:stCondLst>
                                        </p:cTn>
                                        <p:tgtEl>
                                          <p:spTgt spid="19">
                                            <p:txEl>
                                              <p:pRg st="0" end="0"/>
                                            </p:txEl>
                                          </p:spTgt>
                                        </p:tgtEl>
                                        <p:attrNameLst>
                                          <p:attrName>style.visibility</p:attrName>
                                        </p:attrNameLst>
                                      </p:cBhvr>
                                      <p:to>
                                        <p:strVal val="visible"/>
                                      </p:to>
                                    </p:set>
                                  </p:childTnLst>
                                </p:cTn>
                              </p:par>
                              <p:par>
                                <p:cTn id="10" presetID="1" presetClass="entr" presetSubtype="0" fill="hold" nodeType="withEffect">
                                  <p:stCondLst>
                                    <p:cond delay="0"/>
                                  </p:stCondLst>
                                  <p:childTnLst>
                                    <p:set>
                                      <p:cBhvr>
                                        <p:cTn id="11" dur="1" fill="hold">
                                          <p:stCondLst>
                                            <p:cond delay="0"/>
                                          </p:stCondLst>
                                        </p:cTn>
                                        <p:tgtEl>
                                          <p:spTgt spid="19">
                                            <p:txEl>
                                              <p:pRg st="1" end="1"/>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wipe(left)">
                                      <p:cBhvr>
                                        <p:cTn id="16" dur="1000"/>
                                        <p:tgtEl>
                                          <p:spTgt spid="21"/>
                                        </p:tgtEl>
                                      </p:cBhvr>
                                    </p:animEffect>
                                  </p:childTnLst>
                                </p:cTn>
                              </p:par>
                              <p:par>
                                <p:cTn id="17" presetID="1" presetClass="entr" presetSubtype="0"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par>
                          <p:cTn id="19" fill="hold">
                            <p:stCondLst>
                              <p:cond delay="1000"/>
                            </p:stCondLst>
                            <p:childTnLst>
                              <p:par>
                                <p:cTn id="20" presetID="22" presetClass="entr" presetSubtype="2" fill="hold" grpId="0" nodeType="after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wipe(right)">
                                      <p:cBhvr>
                                        <p:cTn id="22" dur="1000"/>
                                        <p:tgtEl>
                                          <p:spTgt spid="28"/>
                                        </p:tgtEl>
                                      </p:cBhvr>
                                    </p:animEffect>
                                  </p:childTnLst>
                                </p:cTn>
                              </p:par>
                              <p:par>
                                <p:cTn id="23" presetID="1" presetClass="entr" presetSubtype="0" fill="hold" grpId="0" nodeType="with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22"/>
                                        </p:tgtEl>
                                        <p:attrNameLst>
                                          <p:attrName>style.visibility</p:attrName>
                                        </p:attrNameLst>
                                      </p:cBhvr>
                                      <p:to>
                                        <p:strVal val="visible"/>
                                      </p:to>
                                    </p:set>
                                    <p:animEffect transition="in" filter="wipe(left)">
                                      <p:cBhvr>
                                        <p:cTn id="29" dur="1000"/>
                                        <p:tgtEl>
                                          <p:spTgt spid="22"/>
                                        </p:tgtEl>
                                      </p:cBhvr>
                                    </p:animEffect>
                                  </p:childTnLst>
                                </p:cTn>
                              </p:par>
                              <p:par>
                                <p:cTn id="30" presetID="1" presetClass="entr" presetSubtype="0" fill="hold" grpId="0" nodeType="withEffect">
                                  <p:stCondLst>
                                    <p:cond delay="0"/>
                                  </p:stCondLst>
                                  <p:childTnLst>
                                    <p:set>
                                      <p:cBhvr>
                                        <p:cTn id="31" dur="1" fill="hold">
                                          <p:stCondLst>
                                            <p:cond delay="0"/>
                                          </p:stCondLst>
                                        </p:cTn>
                                        <p:tgtEl>
                                          <p:spTgt spid="26"/>
                                        </p:tgtEl>
                                        <p:attrNameLst>
                                          <p:attrName>style.visibility</p:attrName>
                                        </p:attrNameLst>
                                      </p:cBhvr>
                                      <p:to>
                                        <p:strVal val="visible"/>
                                      </p:to>
                                    </p:set>
                                  </p:childTnLst>
                                </p:cTn>
                              </p:par>
                            </p:childTnLst>
                          </p:cTn>
                        </p:par>
                        <p:par>
                          <p:cTn id="32" fill="hold">
                            <p:stCondLst>
                              <p:cond delay="1000"/>
                            </p:stCondLst>
                            <p:childTnLst>
                              <p:par>
                                <p:cTn id="33" presetID="22" presetClass="entr" presetSubtype="2" fill="hold" grpId="0" nodeType="afterEffect">
                                  <p:stCondLst>
                                    <p:cond delay="0"/>
                                  </p:stCondLst>
                                  <p:childTnLst>
                                    <p:set>
                                      <p:cBhvr>
                                        <p:cTn id="34" dur="1" fill="hold">
                                          <p:stCondLst>
                                            <p:cond delay="0"/>
                                          </p:stCondLst>
                                        </p:cTn>
                                        <p:tgtEl>
                                          <p:spTgt spid="30"/>
                                        </p:tgtEl>
                                        <p:attrNameLst>
                                          <p:attrName>style.visibility</p:attrName>
                                        </p:attrNameLst>
                                      </p:cBhvr>
                                      <p:to>
                                        <p:strVal val="visible"/>
                                      </p:to>
                                    </p:set>
                                    <p:animEffect transition="in" filter="wipe(right)">
                                      <p:cBhvr>
                                        <p:cTn id="35" dur="1000"/>
                                        <p:tgtEl>
                                          <p:spTgt spid="30"/>
                                        </p:tgtEl>
                                      </p:cBhvr>
                                    </p:animEffect>
                                  </p:childTnLst>
                                </p:cTn>
                              </p:par>
                              <p:par>
                                <p:cTn id="36" presetID="1" presetClass="entr" presetSubtype="0" fill="hold" grpId="0" nodeType="withEffect">
                                  <p:stCondLst>
                                    <p:cond delay="0"/>
                                  </p:stCondLst>
                                  <p:childTnLst>
                                    <p:set>
                                      <p:cBhvr>
                                        <p:cTn id="37" dur="1" fill="hold">
                                          <p:stCondLst>
                                            <p:cond delay="0"/>
                                          </p:stCondLst>
                                        </p:cTn>
                                        <p:tgtEl>
                                          <p:spTgt spid="31"/>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wipe(left)">
                                      <p:cBhvr>
                                        <p:cTn id="42" dur="2000"/>
                                        <p:tgtEl>
                                          <p:spTgt spid="23"/>
                                        </p:tgtEl>
                                      </p:cBhvr>
                                    </p:animEffect>
                                  </p:childTnLst>
                                </p:cTn>
                              </p:par>
                              <p:par>
                                <p:cTn id="43" presetID="1" presetClass="entr" presetSubtype="0" fill="hold" grpId="0" nodeType="withEffect">
                                  <p:stCondLst>
                                    <p:cond delay="0"/>
                                  </p:stCondLst>
                                  <p:childTnLst>
                                    <p:set>
                                      <p:cBhvr>
                                        <p:cTn id="44" dur="1" fill="hold">
                                          <p:stCondLst>
                                            <p:cond delay="0"/>
                                          </p:stCondLst>
                                        </p:cTn>
                                        <p:tgtEl>
                                          <p:spTgt spid="25"/>
                                        </p:tgtEl>
                                        <p:attrNameLst>
                                          <p:attrName>style.visibility</p:attrName>
                                        </p:attrNameLst>
                                      </p:cBhvr>
                                      <p:to>
                                        <p:strVal val="visible"/>
                                      </p:to>
                                    </p:set>
                                  </p:childTnLst>
                                </p:cTn>
                              </p:par>
                            </p:childTnLst>
                          </p:cTn>
                        </p:par>
                        <p:par>
                          <p:cTn id="45" fill="hold">
                            <p:stCondLst>
                              <p:cond delay="2000"/>
                            </p:stCondLst>
                            <p:childTnLst>
                              <p:par>
                                <p:cTn id="46" presetID="22" presetClass="entr" presetSubtype="2" fill="hold" grpId="0" nodeType="afterEffect">
                                  <p:stCondLst>
                                    <p:cond delay="0"/>
                                  </p:stCondLst>
                                  <p:childTnLst>
                                    <p:set>
                                      <p:cBhvr>
                                        <p:cTn id="47" dur="1" fill="hold">
                                          <p:stCondLst>
                                            <p:cond delay="0"/>
                                          </p:stCondLst>
                                        </p:cTn>
                                        <p:tgtEl>
                                          <p:spTgt spid="29"/>
                                        </p:tgtEl>
                                        <p:attrNameLst>
                                          <p:attrName>style.visibility</p:attrName>
                                        </p:attrNameLst>
                                      </p:cBhvr>
                                      <p:to>
                                        <p:strVal val="visible"/>
                                      </p:to>
                                    </p:set>
                                    <p:animEffect transition="in" filter="wipe(right)">
                                      <p:cBhvr>
                                        <p:cTn id="48" dur="2000"/>
                                        <p:tgtEl>
                                          <p:spTgt spid="29"/>
                                        </p:tgtEl>
                                      </p:cBhvr>
                                    </p:animEffect>
                                  </p:childTnLst>
                                </p:cTn>
                              </p:par>
                              <p:par>
                                <p:cTn id="49" presetID="1" presetClass="entr" presetSubtype="0" fill="hold" nodeType="withEffect">
                                  <p:stCondLst>
                                    <p:cond delay="0"/>
                                  </p:stCondLst>
                                  <p:childTnLst>
                                    <p:set>
                                      <p:cBhvr>
                                        <p:cTn id="50" dur="1" fill="hold">
                                          <p:stCondLst>
                                            <p:cond delay="0"/>
                                          </p:stCondLst>
                                        </p:cTn>
                                        <p:tgtEl>
                                          <p:spTgt spid="32">
                                            <p:txEl>
                                              <p:pRg st="0" end="0"/>
                                            </p:txEl>
                                          </p:spTgt>
                                        </p:tgtEl>
                                        <p:attrNameLst>
                                          <p:attrName>style.visibility</p:attrName>
                                        </p:attrNameLst>
                                      </p:cBhvr>
                                      <p:to>
                                        <p:strVal val="visible"/>
                                      </p:to>
                                    </p:set>
                                  </p:childTnLst>
                                </p:cTn>
                              </p:par>
                            </p:childTnLst>
                          </p:cTn>
                        </p:par>
                        <p:par>
                          <p:cTn id="51" fill="hold">
                            <p:stCondLst>
                              <p:cond delay="4000"/>
                            </p:stCondLst>
                            <p:childTnLst>
                              <p:par>
                                <p:cTn id="52" presetID="22" presetClass="entr" presetSubtype="1" fill="hold" grpId="0" nodeType="afterEffect">
                                  <p:stCondLst>
                                    <p:cond delay="0"/>
                                  </p:stCondLst>
                                  <p:childTnLst>
                                    <p:set>
                                      <p:cBhvr>
                                        <p:cTn id="53" dur="1" fill="hold">
                                          <p:stCondLst>
                                            <p:cond delay="0"/>
                                          </p:stCondLst>
                                        </p:cTn>
                                        <p:tgtEl>
                                          <p:spTgt spid="17"/>
                                        </p:tgtEl>
                                        <p:attrNameLst>
                                          <p:attrName>style.visibility</p:attrName>
                                        </p:attrNameLst>
                                      </p:cBhvr>
                                      <p:to>
                                        <p:strVal val="visible"/>
                                      </p:to>
                                    </p:set>
                                    <p:animEffect transition="in" filter="wipe(up)">
                                      <p:cBhvr>
                                        <p:cTn id="54" dur="2000"/>
                                        <p:tgtEl>
                                          <p:spTgt spid="17"/>
                                        </p:tgtEl>
                                      </p:cBhvr>
                                    </p:animEffect>
                                  </p:childTnLst>
                                </p:cTn>
                              </p:par>
                              <p:par>
                                <p:cTn id="55" presetID="1" presetClass="entr" presetSubtype="0" fill="hold" grpId="0" nodeType="withEffect">
                                  <p:stCondLst>
                                    <p:cond delay="0"/>
                                  </p:stCondLst>
                                  <p:childTnLst>
                                    <p:set>
                                      <p:cBhvr>
                                        <p:cTn id="5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20" grpId="0"/>
      <p:bldP spid="21" grpId="0" animBg="1"/>
      <p:bldP spid="22" grpId="0" animBg="1"/>
      <p:bldP spid="23" grpId="0" animBg="1"/>
      <p:bldP spid="24" grpId="0"/>
      <p:bldP spid="25" grpId="0"/>
      <p:bldP spid="26" grpId="0"/>
      <p:bldP spid="27" grpId="0"/>
      <p:bldP spid="28" grpId="0" animBg="1"/>
      <p:bldP spid="29" grpId="0" animBg="1"/>
      <p:bldP spid="30" grpId="0" animBg="1"/>
      <p:bldP spid="3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smtClean="0"/>
              <a:t>B</a:t>
            </a:r>
            <a:r>
              <a:rPr lang="vi-VN" smtClean="0"/>
              <a:t>ổ sung thêm một  nhánh   tên  miền  mà  được   lập  chỉ  mục   theo  địa  chỉ   IP.  </a:t>
            </a:r>
            <a:endParaRPr lang="en-US" smtClean="0"/>
          </a:p>
          <a:p>
            <a:r>
              <a:rPr lang="vi-VN" smtClean="0"/>
              <a:t>Phần   không  gian  này  có   tên  miền   là   in- addr.arpa. </a:t>
            </a:r>
            <a:endParaRPr lang="en-US" smtClean="0"/>
          </a:p>
          <a:p>
            <a:r>
              <a:rPr lang="en-US" smtClean="0"/>
              <a:t>T</a:t>
            </a:r>
            <a:r>
              <a:rPr lang="vi-VN" smtClean="0"/>
              <a:t>ên miền địa chỉ  IP sẽ xuất hiện  theo  thứ  tự ngược.</a:t>
            </a:r>
            <a:endParaRPr lang="en-US" smtClean="0"/>
          </a:p>
          <a:p>
            <a:r>
              <a:rPr lang="vi-VN" smtClean="0"/>
              <a:t>Ví dụ</a:t>
            </a:r>
            <a:r>
              <a:rPr lang="en-US" smtClean="0"/>
              <a:t>:</a:t>
            </a:r>
            <a:r>
              <a:rPr lang="vi-VN" smtClean="0"/>
              <a:t> Máy winnie.corp.hp.com</a:t>
            </a:r>
            <a:r>
              <a:rPr lang="en-US" smtClean="0"/>
              <a:t> có IP</a:t>
            </a:r>
            <a:r>
              <a:rPr lang="vi-VN" smtClean="0"/>
              <a:t>  là</a:t>
            </a:r>
            <a:r>
              <a:rPr lang="en-US" smtClean="0"/>
              <a:t>:</a:t>
            </a:r>
            <a:r>
              <a:rPr lang="vi-VN" smtClean="0"/>
              <a:t>  15.16.192.152,  </a:t>
            </a:r>
            <a:endParaRPr lang="en-US" smtClean="0"/>
          </a:p>
          <a:p>
            <a:pPr>
              <a:buNone/>
            </a:pPr>
            <a:r>
              <a:rPr lang="vi-VN" smtClean="0"/>
              <a:t>khi  ánh  xạ  vào  miền   in-addr.arpa  sẽ   là  152.192.16.15.in- addr.arpa.</a:t>
            </a:r>
            <a:endParaRPr lang="en-US"/>
          </a:p>
        </p:txBody>
      </p:sp>
      <p:sp>
        <p:nvSpPr>
          <p:cNvPr id="3" name="Title 2"/>
          <p:cNvSpPr>
            <a:spLocks noGrp="1"/>
          </p:cNvSpPr>
          <p:nvPr>
            <p:ph type="title"/>
          </p:nvPr>
        </p:nvSpPr>
        <p:spPr/>
        <p:txBody>
          <a:bodyPr/>
          <a:lstStyle/>
          <a:p>
            <a:r>
              <a:rPr lang="en-US" smtClean="0"/>
              <a:t>2. P</a:t>
            </a:r>
            <a:r>
              <a:rPr lang="vi-VN" smtClean="0"/>
              <a:t>hân giải IP</a:t>
            </a:r>
            <a:r>
              <a:rPr lang="en-US" smtClean="0"/>
              <a:t> thành tên máy</a:t>
            </a:r>
            <a:endParaRPr 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2. P</a:t>
            </a:r>
            <a:r>
              <a:rPr lang="vi-VN" smtClean="0"/>
              <a:t>hân giải IP</a:t>
            </a:r>
            <a:r>
              <a:rPr lang="en-US" smtClean="0"/>
              <a:t> thành tên máy</a:t>
            </a:r>
            <a:endParaRPr lang="en-US"/>
          </a:p>
        </p:txBody>
      </p:sp>
      <p:pic>
        <p:nvPicPr>
          <p:cNvPr id="26627" name="Picture 3"/>
          <p:cNvPicPr>
            <a:picLocks noChangeAspect="1" noChangeArrowheads="1"/>
          </p:cNvPicPr>
          <p:nvPr/>
        </p:nvPicPr>
        <p:blipFill>
          <a:blip r:embed="rId2"/>
          <a:srcRect/>
          <a:stretch>
            <a:fillRect/>
          </a:stretch>
        </p:blipFill>
        <p:spPr bwMode="auto">
          <a:xfrm>
            <a:off x="0" y="762000"/>
            <a:ext cx="9144000" cy="6096000"/>
          </a:xfrm>
          <a:prstGeom prst="rect">
            <a:avLst/>
          </a:prstGeom>
          <a:noFill/>
          <a:ln w="9525">
            <a:noFill/>
            <a:miter lim="800000"/>
            <a:headEnd/>
            <a:tailEnd/>
          </a:ln>
          <a:effectLst/>
        </p:spPr>
      </p:pic>
      <p:sp>
        <p:nvSpPr>
          <p:cNvPr id="5" name="Content Placeholder 4"/>
          <p:cNvSpPr>
            <a:spLocks noGrp="1"/>
          </p:cNvSpPr>
          <p:nvPr>
            <p:ph idx="1"/>
          </p:nvPr>
        </p:nvSpPr>
        <p:spPr/>
        <p:txBody>
          <a:bodyPr/>
          <a:lstStyle/>
          <a:p>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vi-VN" smtClean="0"/>
              <a:t>IV.1. Domain name và zone</a:t>
            </a:r>
            <a:endParaRPr lang="en-US" smtClean="0"/>
          </a:p>
          <a:p>
            <a:r>
              <a:rPr lang="vi-VN" smtClean="0"/>
              <a:t>IV.2. Fully Qualified Domain Name (FQDN). </a:t>
            </a:r>
            <a:endParaRPr lang="en-US" smtClean="0"/>
          </a:p>
          <a:p>
            <a:r>
              <a:rPr lang="vi-VN" smtClean="0"/>
              <a:t>IV.3. Sự ủy quyền</a:t>
            </a:r>
            <a:r>
              <a:rPr lang="en-US" smtClean="0"/>
              <a:t> </a:t>
            </a:r>
            <a:r>
              <a:rPr lang="vi-VN" smtClean="0"/>
              <a:t>(Delegation). .</a:t>
            </a:r>
            <a:endParaRPr lang="en-US" smtClean="0"/>
          </a:p>
          <a:p>
            <a:r>
              <a:rPr lang="vi-VN" smtClean="0"/>
              <a:t> IV.4. Forwarders.</a:t>
            </a:r>
            <a:endParaRPr lang="en-US" smtClean="0"/>
          </a:p>
          <a:p>
            <a:r>
              <a:rPr lang="vi-VN" smtClean="0"/>
              <a:t> IV.5. Stub zone.</a:t>
            </a:r>
            <a:endParaRPr lang="en-US" smtClean="0"/>
          </a:p>
          <a:p>
            <a:r>
              <a:rPr lang="vi-VN" smtClean="0"/>
              <a:t> IV.6. Dynamic DNS</a:t>
            </a:r>
            <a:endParaRPr lang="en-US" smtClean="0"/>
          </a:p>
        </p:txBody>
      </p:sp>
      <p:sp>
        <p:nvSpPr>
          <p:cNvPr id="3" name="Title 2"/>
          <p:cNvSpPr>
            <a:spLocks noGrp="1"/>
          </p:cNvSpPr>
          <p:nvPr>
            <p:ph type="title"/>
          </p:nvPr>
        </p:nvSpPr>
        <p:spPr>
          <a:xfrm>
            <a:off x="0" y="76200"/>
            <a:ext cx="9144000" cy="609600"/>
          </a:xfrm>
        </p:spPr>
        <p:txBody>
          <a:bodyPr/>
          <a:lstStyle/>
          <a:p>
            <a:r>
              <a:rPr lang="vi-VN" smtClean="0"/>
              <a:t> IV.  Một số Khái niệm cơ bản</a:t>
            </a:r>
            <a:endParaRPr 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smtClean="0"/>
              <a:t>Domain name: tên </a:t>
            </a:r>
            <a:r>
              <a:rPr lang="vi-VN" smtClean="0"/>
              <a:t>của các máy chủ trên mạng Internet</a:t>
            </a:r>
            <a:r>
              <a:rPr lang="en-US" smtClean="0"/>
              <a:t> (duy nhất 1) chứa: zones và subdomains</a:t>
            </a:r>
          </a:p>
          <a:p>
            <a:r>
              <a:rPr lang="en-US" smtClean="0"/>
              <a:t>Zone: một</a:t>
            </a:r>
            <a:r>
              <a:rPr lang="vi-VN" smtClean="0"/>
              <a:t> miền và </a:t>
            </a:r>
            <a:r>
              <a:rPr lang="en-US" smtClean="0"/>
              <a:t>nhiều </a:t>
            </a:r>
            <a:r>
              <a:rPr lang="vi-VN" smtClean="0"/>
              <a:t>miền con mà DNS Server được quyền quản lý</a:t>
            </a:r>
            <a:endParaRPr lang="en-US" smtClean="0"/>
          </a:p>
          <a:p>
            <a:pPr lvl="1"/>
            <a:r>
              <a:rPr lang="vi-VN" smtClean="0"/>
              <a:t>Primary zone : Cho phép đọc và ghi </a:t>
            </a:r>
            <a:r>
              <a:rPr lang="en-US" smtClean="0"/>
              <a:t>CSDL</a:t>
            </a:r>
            <a:r>
              <a:rPr lang="vi-VN" smtClean="0"/>
              <a:t>. </a:t>
            </a:r>
          </a:p>
          <a:p>
            <a:pPr lvl="1"/>
            <a:r>
              <a:rPr lang="vi-VN" smtClean="0"/>
              <a:t>Secondary zone : Cho phép đọc bản sao </a:t>
            </a:r>
            <a:r>
              <a:rPr lang="en-US" smtClean="0"/>
              <a:t>CSDL</a:t>
            </a:r>
            <a:r>
              <a:rPr lang="vi-VN" smtClean="0"/>
              <a:t>. </a:t>
            </a:r>
          </a:p>
          <a:p>
            <a:pPr lvl="1"/>
            <a:r>
              <a:rPr lang="vi-VN" smtClean="0"/>
              <a:t>Stub zone : chứa bản sao </a:t>
            </a:r>
            <a:r>
              <a:rPr lang="en-US" smtClean="0"/>
              <a:t>CSDL </a:t>
            </a:r>
            <a:r>
              <a:rPr lang="vi-VN" smtClean="0"/>
              <a:t>của zone nào đó, nó chỉ chứa chỉ một vài RR</a:t>
            </a:r>
            <a:endParaRPr lang="en-US" smtClean="0"/>
          </a:p>
          <a:p>
            <a:pPr lvl="1"/>
            <a:endParaRPr lang="en-US" smtClean="0"/>
          </a:p>
          <a:p>
            <a:pPr lvl="1"/>
            <a:endParaRPr lang="en-US" smtClean="0"/>
          </a:p>
        </p:txBody>
      </p:sp>
      <p:sp>
        <p:nvSpPr>
          <p:cNvPr id="3" name="Title 2"/>
          <p:cNvSpPr>
            <a:spLocks noGrp="1"/>
          </p:cNvSpPr>
          <p:nvPr>
            <p:ph type="title"/>
          </p:nvPr>
        </p:nvSpPr>
        <p:spPr>
          <a:xfrm>
            <a:off x="0" y="76200"/>
            <a:ext cx="9144000" cy="609600"/>
          </a:xfrm>
        </p:spPr>
        <p:txBody>
          <a:bodyPr/>
          <a:lstStyle/>
          <a:p>
            <a:r>
              <a:rPr lang="vi-VN" smtClean="0"/>
              <a:t>IV.1. Domain name và zone</a:t>
            </a:r>
            <a:endParaRPr lang="en-US" smtClean="0"/>
          </a:p>
        </p:txBody>
      </p:sp>
      <p:pic>
        <p:nvPicPr>
          <p:cNvPr id="3074" name="Picture 2" descr="https://lh5.googleusercontent.com/-PKbGS-rbwzo/TpZbSXS5ELI/AAAAAAAAB-Y/VV_k3vXnxkg/s576/Fig%2525208-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2057400"/>
            <a:ext cx="7315200" cy="4572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 calcmode="lin" valueType="num">
                                      <p:cBhvr additive="base">
                                        <p:cTn id="7" dur="500" fill="hold"/>
                                        <p:tgtEl>
                                          <p:spTgt spid="3074"/>
                                        </p:tgtEl>
                                        <p:attrNameLst>
                                          <p:attrName>ppt_x</p:attrName>
                                        </p:attrNameLst>
                                      </p:cBhvr>
                                      <p:tavLst>
                                        <p:tav tm="0">
                                          <p:val>
                                            <p:strVal val="#ppt_x"/>
                                          </p:val>
                                        </p:tav>
                                        <p:tav tm="100000">
                                          <p:val>
                                            <p:strVal val="#ppt_x"/>
                                          </p:val>
                                        </p:tav>
                                      </p:tavLst>
                                    </p:anim>
                                    <p:anim calcmode="lin" valueType="num">
                                      <p:cBhvr additive="base">
                                        <p:cTn id="8" dur="500" fill="hold"/>
                                        <p:tgtEl>
                                          <p:spTgt spid="307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vi-VN" sz="2800" smtClean="0"/>
              <a:t>Là  zone  chứa  bảng  sao  </a:t>
            </a:r>
            <a:r>
              <a:rPr lang="en-US" sz="2800" smtClean="0"/>
              <a:t>CSDL</a:t>
            </a:r>
            <a:r>
              <a:rPr lang="vi-VN" sz="2800" smtClean="0"/>
              <a:t> DNS  từ  master  name  server,  </a:t>
            </a:r>
            <a:r>
              <a:rPr lang="en-US" sz="2800" smtClean="0"/>
              <a:t>gồm </a:t>
            </a:r>
            <a:r>
              <a:rPr lang="vi-VN" sz="2800" smtClean="0"/>
              <a:t>các </a:t>
            </a:r>
            <a:r>
              <a:rPr lang="en-US" sz="2800" smtClean="0"/>
              <a:t>RR</a:t>
            </a:r>
            <a:r>
              <a:rPr lang="vi-VN" sz="2800" smtClean="0"/>
              <a:t> cần  thiết   như  : A, SOA, NS, một hoặc vài địa chỉ của master </a:t>
            </a:r>
            <a:r>
              <a:rPr lang="en-US" sz="2800" smtClean="0"/>
              <a:t>NS</a:t>
            </a:r>
          </a:p>
          <a:p>
            <a:r>
              <a:rPr lang="vi-VN" sz="2800" smtClean="0"/>
              <a:t>hỗ trợ cơ chế cập nhật Stub zone, chế chứng  thực name server  trong zone và cung cấp cơ chế phân giải</a:t>
            </a:r>
            <a:endParaRPr lang="en-US" sz="2800"/>
          </a:p>
        </p:txBody>
      </p:sp>
      <p:sp>
        <p:nvSpPr>
          <p:cNvPr id="3" name="Title 2"/>
          <p:cNvSpPr>
            <a:spLocks noGrp="1"/>
          </p:cNvSpPr>
          <p:nvPr>
            <p:ph type="title"/>
          </p:nvPr>
        </p:nvSpPr>
        <p:spPr/>
        <p:txBody>
          <a:bodyPr/>
          <a:lstStyle/>
          <a:p>
            <a:r>
              <a:rPr lang="en-US" smtClean="0"/>
              <a:t> Stub zone</a:t>
            </a:r>
            <a:endParaRPr lang="en-US"/>
          </a:p>
        </p:txBody>
      </p:sp>
      <p:pic>
        <p:nvPicPr>
          <p:cNvPr id="59394" name="Picture 2"/>
          <p:cNvPicPr>
            <a:picLocks noChangeAspect="1" noChangeArrowheads="1"/>
          </p:cNvPicPr>
          <p:nvPr/>
        </p:nvPicPr>
        <p:blipFill>
          <a:blip r:embed="rId2"/>
          <a:srcRect/>
          <a:stretch>
            <a:fillRect/>
          </a:stretch>
        </p:blipFill>
        <p:spPr bwMode="auto">
          <a:xfrm>
            <a:off x="0" y="3601556"/>
            <a:ext cx="8991600" cy="2494444"/>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9394"/>
                                        </p:tgtEl>
                                        <p:attrNameLst>
                                          <p:attrName>style.visibility</p:attrName>
                                        </p:attrNameLst>
                                      </p:cBhvr>
                                      <p:to>
                                        <p:strVal val="visible"/>
                                      </p:to>
                                    </p:set>
                                    <p:anim calcmode="lin" valueType="num">
                                      <p:cBhvr additive="base">
                                        <p:cTn id="7" dur="500" fill="hold"/>
                                        <p:tgtEl>
                                          <p:spTgt spid="59394"/>
                                        </p:tgtEl>
                                        <p:attrNameLst>
                                          <p:attrName>ppt_x</p:attrName>
                                        </p:attrNameLst>
                                      </p:cBhvr>
                                      <p:tavLst>
                                        <p:tav tm="0">
                                          <p:val>
                                            <p:strVal val="#ppt_x"/>
                                          </p:val>
                                        </p:tav>
                                        <p:tav tm="100000">
                                          <p:val>
                                            <p:strVal val="#ppt_x"/>
                                          </p:val>
                                        </p:tav>
                                      </p:tavLst>
                                    </p:anim>
                                    <p:anim calcmode="lin" valueType="num">
                                      <p:cBhvr additive="base">
                                        <p:cTn id="8" dur="500" fill="hold"/>
                                        <p:tgtEl>
                                          <p:spTgt spid="5939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So sánh</a:t>
            </a:r>
            <a:endParaRPr lang="en-US"/>
          </a:p>
        </p:txBody>
      </p:sp>
      <p:graphicFrame>
        <p:nvGraphicFramePr>
          <p:cNvPr id="4" name="Group 3"/>
          <p:cNvGraphicFramePr>
            <a:graphicFrameLocks noGrp="1"/>
          </p:cNvGraphicFramePr>
          <p:nvPr/>
        </p:nvGraphicFramePr>
        <p:xfrm>
          <a:off x="1066800" y="1371600"/>
          <a:ext cx="6892925" cy="4403726"/>
        </p:xfrm>
        <a:graphic>
          <a:graphicData uri="http://schemas.openxmlformats.org/drawingml/2006/table">
            <a:tbl>
              <a:tblPr/>
              <a:tblGrid>
                <a:gridCol w="2068513">
                  <a:extLst>
                    <a:ext uri="{9D8B030D-6E8A-4147-A177-3AD203B41FA5}">
                      <a16:colId xmlns:a16="http://schemas.microsoft.com/office/drawing/2014/main" val="20000"/>
                    </a:ext>
                  </a:extLst>
                </a:gridCol>
                <a:gridCol w="4824412">
                  <a:extLst>
                    <a:ext uri="{9D8B030D-6E8A-4147-A177-3AD203B41FA5}">
                      <a16:colId xmlns:a16="http://schemas.microsoft.com/office/drawing/2014/main" val="20001"/>
                    </a:ext>
                  </a:extLst>
                </a:gridCol>
              </a:tblGrid>
              <a:tr h="457200">
                <a:tc>
                  <a:txBody>
                    <a:bodyPr/>
                    <a:lstStyle/>
                    <a:p>
                      <a:pPr marL="0" marR="0" lvl="0" indent="0" algn="ctr" defTabSz="914400" rtl="0" eaLnBrk="1" fontAlgn="base" latinLnBrk="0" hangingPunct="1">
                        <a:lnSpc>
                          <a:spcPct val="100000"/>
                        </a:lnSpc>
                        <a:spcBef>
                          <a:spcPct val="20000"/>
                        </a:spcBef>
                        <a:spcAft>
                          <a:spcPct val="0"/>
                        </a:spcAft>
                        <a:buClrTx/>
                        <a:buSzTx/>
                        <a:buFont typeface="Wingdings" pitchFamily="2" charset="2"/>
                        <a:buNone/>
                        <a:tabLst/>
                      </a:pPr>
                      <a:r>
                        <a:rPr kumimoji="0" lang="en-US" sz="2000" b="1" i="0" u="none" strike="noStrike" cap="none" normalizeH="0" baseline="0" smtClean="0">
                          <a:ln>
                            <a:noFill/>
                          </a:ln>
                          <a:solidFill>
                            <a:srgbClr val="CC3300"/>
                          </a:solidFill>
                          <a:effectLst/>
                          <a:latin typeface="Arial" charset="0"/>
                        </a:rPr>
                        <a:t>Zones</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B3C8D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rgbClr val="CC3300"/>
                          </a:solidFill>
                          <a:effectLst/>
                          <a:latin typeface="Arial" charset="0"/>
                        </a:rPr>
                        <a:t>Mô tả</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B3C8DF"/>
                    </a:solidFill>
                  </a:tcPr>
                </a:tc>
                <a:extLst>
                  <a:ext uri="{0D108BD9-81ED-4DB2-BD59-A6C34878D82A}">
                    <a16:rowId xmlns:a16="http://schemas.microsoft.com/office/drawing/2014/main" val="10000"/>
                  </a:ext>
                </a:extLst>
              </a:tr>
              <a:tr h="13144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rgbClr val="CC3300"/>
                          </a:solidFill>
                          <a:effectLst/>
                          <a:latin typeface="Arial" charset="0"/>
                        </a:rPr>
                        <a:t>Primary</a:t>
                      </a:r>
                    </a:p>
                  </a:txBody>
                  <a:tcPr anchor="b"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sz="2000" b="0" i="0" u="none" strike="noStrike" cap="none" normalizeH="0" baseline="0" smtClean="0">
                          <a:ln>
                            <a:noFill/>
                          </a:ln>
                          <a:solidFill>
                            <a:srgbClr val="CC3300"/>
                          </a:solidFill>
                          <a:effectLst/>
                          <a:latin typeface="Arial" charset="0"/>
                        </a:rPr>
                        <a:t>Read/write DNS database</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131603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rgbClr val="CC3300"/>
                          </a:solidFill>
                          <a:effectLst/>
                          <a:latin typeface="Arial" charset="0"/>
                        </a:rPr>
                        <a:t>Secondary</a:t>
                      </a:r>
                    </a:p>
                  </a:txBody>
                  <a:tcPr anchor="b"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smtClean="0">
                          <a:ln>
                            <a:noFill/>
                          </a:ln>
                          <a:solidFill>
                            <a:srgbClr val="CC3300"/>
                          </a:solidFill>
                          <a:effectLst/>
                          <a:latin typeface="Arial" charset="0"/>
                        </a:rPr>
                        <a:t>Read-only DNS database</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131603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rgbClr val="CC3300"/>
                          </a:solidFill>
                          <a:effectLst/>
                          <a:latin typeface="Arial" charset="0"/>
                        </a:rPr>
                        <a:t>Stub</a:t>
                      </a:r>
                    </a:p>
                  </a:txBody>
                  <a:tcPr anchor="b"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0" marR="0" lvl="0" indent="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sz="2000" b="0" i="0" u="none" strike="noStrike" cap="none" normalizeH="0" baseline="0" smtClean="0">
                          <a:ln>
                            <a:noFill/>
                          </a:ln>
                          <a:solidFill>
                            <a:srgbClr val="CC3300"/>
                          </a:solidFill>
                          <a:effectLst/>
                          <a:latin typeface="Arial" charset="0"/>
                        </a:rPr>
                        <a:t>Bảng sao của zone chứa một số RR</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grpSp>
        <p:nvGrpSpPr>
          <p:cNvPr id="2" name="Content Placeholder 4"/>
          <p:cNvGrpSpPr>
            <a:grpSpLocks noGrp="1"/>
          </p:cNvGrpSpPr>
          <p:nvPr/>
        </p:nvGrpSpPr>
        <p:grpSpPr>
          <a:xfrm>
            <a:off x="1219200" y="1828800"/>
            <a:ext cx="1447800" cy="3733800"/>
            <a:chOff x="1209675" y="1946275"/>
            <a:chExt cx="1866900" cy="3748088"/>
          </a:xfrm>
        </p:grpSpPr>
        <p:grpSp>
          <p:nvGrpSpPr>
            <p:cNvPr id="5" name="Group 20"/>
            <p:cNvGrpSpPr>
              <a:grpSpLocks/>
            </p:cNvGrpSpPr>
            <p:nvPr/>
          </p:nvGrpSpPr>
          <p:grpSpPr bwMode="auto">
            <a:xfrm>
              <a:off x="1209675" y="1946275"/>
              <a:ext cx="1176338" cy="992188"/>
              <a:chOff x="786" y="1172"/>
              <a:chExt cx="945" cy="797"/>
            </a:xfrm>
          </p:grpSpPr>
          <p:pic>
            <p:nvPicPr>
              <p:cNvPr id="16" name="Picture 21" descr="Server01"/>
              <p:cNvPicPr>
                <a:picLocks noChangeAspect="1" noChangeArrowheads="1"/>
              </p:cNvPicPr>
              <p:nvPr/>
            </p:nvPicPr>
            <p:blipFill>
              <a:blip r:embed="rId2" cstate="print"/>
              <a:srcRect/>
              <a:stretch>
                <a:fillRect/>
              </a:stretch>
            </p:blipFill>
            <p:spPr bwMode="auto">
              <a:xfrm>
                <a:off x="786" y="1172"/>
                <a:ext cx="678" cy="797"/>
              </a:xfrm>
              <a:prstGeom prst="rect">
                <a:avLst/>
              </a:prstGeom>
              <a:noFill/>
            </p:spPr>
          </p:pic>
          <p:pic>
            <p:nvPicPr>
              <p:cNvPr id="17" name="Picture 22" descr="Database01"/>
              <p:cNvPicPr>
                <a:picLocks noChangeAspect="1" noChangeArrowheads="1"/>
              </p:cNvPicPr>
              <p:nvPr/>
            </p:nvPicPr>
            <p:blipFill>
              <a:blip r:embed="rId3" cstate="print"/>
              <a:srcRect/>
              <a:stretch>
                <a:fillRect/>
              </a:stretch>
            </p:blipFill>
            <p:spPr bwMode="auto">
              <a:xfrm>
                <a:off x="1302" y="1612"/>
                <a:ext cx="429" cy="347"/>
              </a:xfrm>
              <a:prstGeom prst="rect">
                <a:avLst/>
              </a:prstGeom>
              <a:noFill/>
            </p:spPr>
          </p:pic>
        </p:grpSp>
        <p:sp>
          <p:nvSpPr>
            <p:cNvPr id="7" name="Text Box 23"/>
            <p:cNvSpPr txBox="1">
              <a:spLocks noChangeArrowheads="1"/>
            </p:cNvSpPr>
            <p:nvPr/>
          </p:nvSpPr>
          <p:spPr bwMode="auto">
            <a:xfrm>
              <a:off x="2057400" y="2154238"/>
              <a:ext cx="1014413" cy="336550"/>
            </a:xfrm>
            <a:prstGeom prst="rect">
              <a:avLst/>
            </a:prstGeom>
            <a:noFill/>
            <a:ln w="9525" algn="ctr">
              <a:noFill/>
              <a:miter lim="800000"/>
              <a:headEnd/>
              <a:tailEnd/>
            </a:ln>
            <a:effectLst/>
          </p:spPr>
          <p:txBody>
            <a:bodyPr wrap="none">
              <a:spAutoFit/>
            </a:bodyPr>
            <a:lstStyle/>
            <a:p>
              <a:pPr algn="ctr" eaLnBrk="0" hangingPunct="0"/>
              <a:r>
                <a:rPr lang="en-US" sz="1600">
                  <a:latin typeface="Arial Narrow" pitchFamily="34" charset="0"/>
                </a:rPr>
                <a:t>Read/Write</a:t>
              </a:r>
            </a:p>
          </p:txBody>
        </p:sp>
        <p:grpSp>
          <p:nvGrpSpPr>
            <p:cNvPr id="6" name="Group 24"/>
            <p:cNvGrpSpPr>
              <a:grpSpLocks/>
            </p:cNvGrpSpPr>
            <p:nvPr/>
          </p:nvGrpSpPr>
          <p:grpSpPr bwMode="auto">
            <a:xfrm>
              <a:off x="1209675" y="3332163"/>
              <a:ext cx="1176338" cy="992187"/>
              <a:chOff x="786" y="1172"/>
              <a:chExt cx="945" cy="797"/>
            </a:xfrm>
          </p:grpSpPr>
          <p:pic>
            <p:nvPicPr>
              <p:cNvPr id="14" name="Picture 25" descr="Server01"/>
              <p:cNvPicPr>
                <a:picLocks noChangeAspect="1" noChangeArrowheads="1"/>
              </p:cNvPicPr>
              <p:nvPr/>
            </p:nvPicPr>
            <p:blipFill>
              <a:blip r:embed="rId2" cstate="print"/>
              <a:srcRect/>
              <a:stretch>
                <a:fillRect/>
              </a:stretch>
            </p:blipFill>
            <p:spPr bwMode="auto">
              <a:xfrm>
                <a:off x="786" y="1172"/>
                <a:ext cx="678" cy="797"/>
              </a:xfrm>
              <a:prstGeom prst="rect">
                <a:avLst/>
              </a:prstGeom>
              <a:noFill/>
            </p:spPr>
          </p:pic>
          <p:pic>
            <p:nvPicPr>
              <p:cNvPr id="15" name="Picture 26" descr="Database01"/>
              <p:cNvPicPr>
                <a:picLocks noChangeAspect="1" noChangeArrowheads="1"/>
              </p:cNvPicPr>
              <p:nvPr/>
            </p:nvPicPr>
            <p:blipFill>
              <a:blip r:embed="rId3" cstate="print"/>
              <a:srcRect/>
              <a:stretch>
                <a:fillRect/>
              </a:stretch>
            </p:blipFill>
            <p:spPr bwMode="auto">
              <a:xfrm>
                <a:off x="1302" y="1612"/>
                <a:ext cx="429" cy="347"/>
              </a:xfrm>
              <a:prstGeom prst="rect">
                <a:avLst/>
              </a:prstGeom>
              <a:noFill/>
            </p:spPr>
          </p:pic>
        </p:grpSp>
        <p:sp>
          <p:nvSpPr>
            <p:cNvPr id="9" name="Text Box 27"/>
            <p:cNvSpPr txBox="1">
              <a:spLocks noChangeArrowheads="1"/>
            </p:cNvSpPr>
            <p:nvPr/>
          </p:nvSpPr>
          <p:spPr bwMode="auto">
            <a:xfrm>
              <a:off x="2074863" y="3540125"/>
              <a:ext cx="979487" cy="336550"/>
            </a:xfrm>
            <a:prstGeom prst="rect">
              <a:avLst/>
            </a:prstGeom>
            <a:noFill/>
            <a:ln w="9525" algn="ctr">
              <a:noFill/>
              <a:miter lim="800000"/>
              <a:headEnd/>
              <a:tailEnd/>
            </a:ln>
            <a:effectLst/>
          </p:spPr>
          <p:txBody>
            <a:bodyPr wrap="none">
              <a:spAutoFit/>
            </a:bodyPr>
            <a:lstStyle/>
            <a:p>
              <a:pPr algn="ctr" eaLnBrk="0" hangingPunct="0"/>
              <a:r>
                <a:rPr lang="en-US" sz="1600">
                  <a:latin typeface="Arial Narrow" pitchFamily="34" charset="0"/>
                </a:rPr>
                <a:t>Read-Only</a:t>
              </a:r>
            </a:p>
          </p:txBody>
        </p:sp>
        <p:grpSp>
          <p:nvGrpSpPr>
            <p:cNvPr id="8" name="Group 28"/>
            <p:cNvGrpSpPr>
              <a:grpSpLocks/>
            </p:cNvGrpSpPr>
            <p:nvPr/>
          </p:nvGrpSpPr>
          <p:grpSpPr bwMode="auto">
            <a:xfrm>
              <a:off x="1209675" y="4702175"/>
              <a:ext cx="1176338" cy="992188"/>
              <a:chOff x="786" y="1172"/>
              <a:chExt cx="945" cy="797"/>
            </a:xfrm>
          </p:grpSpPr>
          <p:pic>
            <p:nvPicPr>
              <p:cNvPr id="12" name="Picture 29" descr="Server01"/>
              <p:cNvPicPr>
                <a:picLocks noChangeAspect="1" noChangeArrowheads="1"/>
              </p:cNvPicPr>
              <p:nvPr/>
            </p:nvPicPr>
            <p:blipFill>
              <a:blip r:embed="rId2" cstate="print"/>
              <a:srcRect/>
              <a:stretch>
                <a:fillRect/>
              </a:stretch>
            </p:blipFill>
            <p:spPr bwMode="auto">
              <a:xfrm>
                <a:off x="786" y="1172"/>
                <a:ext cx="678" cy="797"/>
              </a:xfrm>
              <a:prstGeom prst="rect">
                <a:avLst/>
              </a:prstGeom>
              <a:noFill/>
            </p:spPr>
          </p:pic>
          <p:pic>
            <p:nvPicPr>
              <p:cNvPr id="13" name="Picture 30" descr="Database01"/>
              <p:cNvPicPr>
                <a:picLocks noChangeAspect="1" noChangeArrowheads="1"/>
              </p:cNvPicPr>
              <p:nvPr/>
            </p:nvPicPr>
            <p:blipFill>
              <a:blip r:embed="rId3" cstate="print"/>
              <a:srcRect/>
              <a:stretch>
                <a:fillRect/>
              </a:stretch>
            </p:blipFill>
            <p:spPr bwMode="auto">
              <a:xfrm>
                <a:off x="1302" y="1612"/>
                <a:ext cx="429" cy="347"/>
              </a:xfrm>
              <a:prstGeom prst="rect">
                <a:avLst/>
              </a:prstGeom>
              <a:noFill/>
            </p:spPr>
          </p:pic>
        </p:grpSp>
        <p:sp>
          <p:nvSpPr>
            <p:cNvPr id="11" name="Text Box 31"/>
            <p:cNvSpPr txBox="1">
              <a:spLocks noChangeArrowheads="1"/>
            </p:cNvSpPr>
            <p:nvPr/>
          </p:nvSpPr>
          <p:spPr bwMode="auto">
            <a:xfrm>
              <a:off x="2319338" y="4846638"/>
              <a:ext cx="757237" cy="825500"/>
            </a:xfrm>
            <a:prstGeom prst="rect">
              <a:avLst/>
            </a:prstGeom>
            <a:noFill/>
            <a:ln w="9525" algn="ctr">
              <a:noFill/>
              <a:miter lim="800000"/>
              <a:headEnd/>
              <a:tailEnd/>
            </a:ln>
            <a:effectLst/>
          </p:spPr>
          <p:txBody>
            <a:bodyPr wrap="none">
              <a:spAutoFit/>
            </a:bodyPr>
            <a:lstStyle/>
            <a:p>
              <a:pPr algn="ctr" eaLnBrk="0" hangingPunct="0"/>
              <a:r>
                <a:rPr lang="en-US" sz="1600">
                  <a:latin typeface="Arial Narrow" pitchFamily="34" charset="0"/>
                </a:rPr>
                <a:t>Copy of</a:t>
              </a:r>
            </a:p>
            <a:p>
              <a:pPr algn="ctr" eaLnBrk="0" hangingPunct="0"/>
              <a:r>
                <a:rPr lang="en-US" sz="1600">
                  <a:latin typeface="Arial Narrow" pitchFamily="34" charset="0"/>
                </a:rPr>
                <a:t>limited</a:t>
              </a:r>
            </a:p>
            <a:p>
              <a:pPr algn="ctr" eaLnBrk="0" hangingPunct="0"/>
              <a:r>
                <a:rPr lang="en-US" sz="1600">
                  <a:latin typeface="Arial Narrow" pitchFamily="34" charset="0"/>
                </a:rPr>
                <a:t>records</a:t>
              </a:r>
            </a:p>
          </p:txBody>
        </p:sp>
      </p:grpSp>
      <p:pic>
        <p:nvPicPr>
          <p:cNvPr id="1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24200" y="2323003"/>
            <a:ext cx="5822201"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buNone/>
            </a:pPr>
            <a:r>
              <a:rPr lang="vi-VN" smtClean="0"/>
              <a:t>Fully Qualified Domain Name (FQDN). </a:t>
            </a:r>
            <a:endParaRPr lang="en-US" smtClean="0"/>
          </a:p>
          <a:p>
            <a:r>
              <a:rPr lang="vi-VN" smtClean="0"/>
              <a:t>Một tên miền đầy đủ của một nút chính</a:t>
            </a:r>
            <a:r>
              <a:rPr lang="en-US" smtClean="0"/>
              <a:t>: </a:t>
            </a:r>
          </a:p>
          <a:p>
            <a:r>
              <a:rPr lang="vi-VN" smtClean="0"/>
              <a:t>Tên miền có xuất hiện dấu chấm sau cùng được gọi là tên tuyệt đối (absolute) </a:t>
            </a:r>
            <a:endParaRPr lang="en-US" smtClean="0"/>
          </a:p>
          <a:p>
            <a:r>
              <a:rPr lang="en-US" smtClean="0"/>
              <a:t>T</a:t>
            </a:r>
            <a:r>
              <a:rPr lang="vi-VN" smtClean="0"/>
              <a:t>ên tương đối là tên không kết thúc bằng dấu chấm. </a:t>
            </a:r>
            <a:endParaRPr lang="en-US" smtClean="0"/>
          </a:p>
          <a:p>
            <a:r>
              <a:rPr lang="vi-VN" smtClean="0"/>
              <a:t>Tên tuyệt đối cũng được xem là tên miền đầy đủ đã được chứng nhận (Fully Qualified Domain Name – FQDN)</a:t>
            </a:r>
            <a:endParaRPr lang="en-US" smtClean="0"/>
          </a:p>
          <a:p>
            <a:r>
              <a:rPr lang="en-US" smtClean="0"/>
              <a:t>Ex: .abc.com.vn</a:t>
            </a:r>
          </a:p>
        </p:txBody>
      </p:sp>
      <p:sp>
        <p:nvSpPr>
          <p:cNvPr id="3" name="Title 2"/>
          <p:cNvSpPr>
            <a:spLocks noGrp="1"/>
          </p:cNvSpPr>
          <p:nvPr>
            <p:ph type="title"/>
          </p:nvPr>
        </p:nvSpPr>
        <p:spPr>
          <a:xfrm>
            <a:off x="0" y="76200"/>
            <a:ext cx="9144000" cy="609600"/>
          </a:xfrm>
        </p:spPr>
        <p:txBody>
          <a:bodyPr/>
          <a:lstStyle/>
          <a:p>
            <a:r>
              <a:rPr lang="vi-VN" smtClean="0"/>
              <a:t> IV.</a:t>
            </a:r>
            <a:r>
              <a:rPr lang="en-US" smtClean="0"/>
              <a:t>2. </a:t>
            </a:r>
            <a:r>
              <a:rPr lang="vi-VN" smtClean="0"/>
              <a:t>FQDN</a:t>
            </a:r>
            <a:endParaRPr 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p:cNvGrpSpPr/>
          <p:nvPr/>
        </p:nvGrpSpPr>
        <p:grpSpPr>
          <a:xfrm>
            <a:off x="685800" y="892138"/>
            <a:ext cx="7952097" cy="5645078"/>
            <a:chOff x="609599" y="762000"/>
            <a:chExt cx="7952097" cy="5645078"/>
          </a:xfrm>
        </p:grpSpPr>
        <p:grpSp>
          <p:nvGrpSpPr>
            <p:cNvPr id="5" name="Group 4"/>
            <p:cNvGrpSpPr/>
            <p:nvPr/>
          </p:nvGrpSpPr>
          <p:grpSpPr>
            <a:xfrm>
              <a:off x="609601" y="762000"/>
              <a:ext cx="7952095" cy="5645078"/>
              <a:chOff x="3352801" y="3352800"/>
              <a:chExt cx="4719955" cy="3305359"/>
            </a:xfrm>
          </p:grpSpPr>
          <p:pic>
            <p:nvPicPr>
              <p:cNvPr id="8" name="Picture 7" descr="C:\Users\ThanhTung\Desktop\Capture.PNG"/>
              <p:cNvPicPr/>
              <p:nvPr/>
            </p:nvPicPr>
            <p:blipFill>
              <a:blip r:embed="rId2">
                <a:extLst>
                  <a:ext uri="{28A0092B-C50C-407E-A947-70E740481C1C}">
                    <a14:useLocalDpi xmlns:a14="http://schemas.microsoft.com/office/drawing/2010/main" val="0"/>
                  </a:ext>
                </a:extLst>
              </a:blip>
              <a:srcRect/>
              <a:stretch>
                <a:fillRect/>
              </a:stretch>
            </p:blipFill>
            <p:spPr bwMode="auto">
              <a:xfrm>
                <a:off x="3352801" y="3356476"/>
                <a:ext cx="4719955" cy="3301683"/>
              </a:xfrm>
              <a:prstGeom prst="rect">
                <a:avLst/>
              </a:prstGeom>
              <a:noFill/>
              <a:ln>
                <a:noFill/>
              </a:ln>
            </p:spPr>
          </p:pic>
          <p:sp>
            <p:nvSpPr>
              <p:cNvPr id="9" name="Rectangle 8"/>
              <p:cNvSpPr/>
              <p:nvPr/>
            </p:nvSpPr>
            <p:spPr>
              <a:xfrm>
                <a:off x="3429000" y="5095081"/>
                <a:ext cx="1676400" cy="152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b="1" smtClean="0">
                    <a:solidFill>
                      <a:schemeClr val="tx1"/>
                    </a:solidFill>
                    <a:latin typeface="Courier New" pitchFamily="49" charset="0"/>
                    <a:cs typeface="Courier New" pitchFamily="49" charset="0"/>
                  </a:rPr>
                  <a:t>C:\&gt;</a:t>
                </a:r>
                <a:endParaRPr lang="en-US" b="1">
                  <a:solidFill>
                    <a:schemeClr val="tx1"/>
                  </a:solidFill>
                  <a:latin typeface="Courier New" pitchFamily="49" charset="0"/>
                  <a:cs typeface="Courier New" pitchFamily="49" charset="0"/>
                </a:endParaRPr>
              </a:p>
            </p:txBody>
          </p:sp>
          <p:sp>
            <p:nvSpPr>
              <p:cNvPr id="10" name="Rectangle 9"/>
              <p:cNvSpPr/>
              <p:nvPr/>
            </p:nvSpPr>
            <p:spPr>
              <a:xfrm>
                <a:off x="3429000" y="3352800"/>
                <a:ext cx="1676400" cy="152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b="1" smtClean="0">
                    <a:solidFill>
                      <a:schemeClr val="tx1"/>
                    </a:solidFill>
                    <a:latin typeface="Courier New" pitchFamily="49" charset="0"/>
                    <a:cs typeface="Courier New" pitchFamily="49" charset="0"/>
                  </a:rPr>
                  <a:t>C:\&gt;</a:t>
                </a:r>
                <a:endParaRPr lang="en-US" b="1">
                  <a:solidFill>
                    <a:schemeClr val="tx1"/>
                  </a:solidFill>
                  <a:latin typeface="Courier New" pitchFamily="49" charset="0"/>
                  <a:cs typeface="Courier New" pitchFamily="49" charset="0"/>
                </a:endParaRPr>
              </a:p>
            </p:txBody>
          </p:sp>
        </p:grpSp>
        <p:sp>
          <p:nvSpPr>
            <p:cNvPr id="6" name="Rectangle 5"/>
            <p:cNvSpPr/>
            <p:nvPr/>
          </p:nvSpPr>
          <p:spPr>
            <a:xfrm>
              <a:off x="609599" y="2157088"/>
              <a:ext cx="4682141" cy="39041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630140" y="5113838"/>
              <a:ext cx="4682141" cy="39041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Content Placeholder 1"/>
          <p:cNvSpPr>
            <a:spLocks noGrp="1"/>
          </p:cNvSpPr>
          <p:nvPr>
            <p:ph idx="1"/>
          </p:nvPr>
        </p:nvSpPr>
        <p:spPr>
          <a:xfrm>
            <a:off x="86414" y="892138"/>
            <a:ext cx="8763000" cy="5334000"/>
          </a:xfrm>
          <a:solidFill>
            <a:schemeClr val="bg2"/>
          </a:solidFill>
        </p:spPr>
        <p:txBody>
          <a:bodyPr>
            <a:normAutofit/>
          </a:bodyPr>
          <a:lstStyle/>
          <a:p>
            <a:r>
              <a:rPr lang="en-US" sz="2800" smtClean="0"/>
              <a:t>Một m</a:t>
            </a:r>
            <a:r>
              <a:rPr lang="vi-VN" sz="2800" smtClean="0"/>
              <a:t>iền có  thể tổ chức thành nhiều miền con, </a:t>
            </a:r>
            <a:endParaRPr lang="en-US" sz="2800" smtClean="0"/>
          </a:p>
          <a:p>
            <a:r>
              <a:rPr lang="en-US" sz="2800" smtClean="0"/>
              <a:t>Miền cha cung cấp các domain cho miền con dưới hình thức ủy quyền cho miền con tự quản lý và tổ chức CSDL cho miền con</a:t>
            </a:r>
          </a:p>
          <a:p>
            <a:r>
              <a:rPr lang="vi-VN" sz="2800" smtClean="0"/>
              <a:t>Khi đó, miền cha chỉ cần một con trỏ trỏ đến miền con này để tham chiếu khi có các truy vấn.  </a:t>
            </a:r>
          </a:p>
          <a:p>
            <a:r>
              <a:rPr lang="vi-VN" sz="2800" smtClean="0"/>
              <a:t>Ví dụ miền hcmu</a:t>
            </a:r>
            <a:r>
              <a:rPr lang="en-US" sz="2800" smtClean="0"/>
              <a:t>te</a:t>
            </a:r>
            <a:r>
              <a:rPr lang="vi-VN" sz="2800" smtClean="0"/>
              <a:t>.edu.vn c</a:t>
            </a:r>
            <a:r>
              <a:rPr lang="en-US" sz="2800" smtClean="0"/>
              <a:t>ó</a:t>
            </a:r>
            <a:r>
              <a:rPr lang="vi-VN" sz="2800" smtClean="0"/>
              <a:t> một số miền con</a:t>
            </a:r>
            <a:r>
              <a:rPr lang="en-US" sz="2800" smtClean="0"/>
              <a:t>: </a:t>
            </a:r>
            <a:r>
              <a:rPr lang="vi-VN" sz="2800" smtClean="0"/>
              <a:t>   </a:t>
            </a:r>
            <a:endParaRPr lang="en-US" sz="2800" smtClean="0"/>
          </a:p>
          <a:p>
            <a:pPr lvl="1"/>
            <a:r>
              <a:rPr lang="en-US" sz="2400" smtClean="0"/>
              <a:t>fit</a:t>
            </a:r>
            <a:r>
              <a:rPr lang="vi-VN" sz="2400" smtClean="0"/>
              <a:t>.hcmu</a:t>
            </a:r>
            <a:r>
              <a:rPr lang="en-US" sz="2400" smtClean="0"/>
              <a:t>te</a:t>
            </a:r>
            <a:r>
              <a:rPr lang="vi-VN" sz="2400" smtClean="0"/>
              <a:t>.edu.vn</a:t>
            </a:r>
            <a:endParaRPr lang="en-US" sz="2400" smtClean="0"/>
          </a:p>
          <a:p>
            <a:pPr lvl="1"/>
            <a:r>
              <a:rPr lang="en-US" sz="2400" smtClean="0"/>
              <a:t>Spkt.hcmute.edu.vn</a:t>
            </a:r>
          </a:p>
          <a:p>
            <a:pPr>
              <a:buNone/>
            </a:pPr>
            <a:r>
              <a:rPr lang="vi-VN" sz="2800" smtClean="0"/>
              <a:t> nhưng  các  máy  chủ  phục  vụ  cho   toàn   trường   thì  vẫn   thuộc  vào miền hcmu</a:t>
            </a:r>
            <a:r>
              <a:rPr lang="en-US" sz="2800" smtClean="0"/>
              <a:t>te</a:t>
            </a:r>
            <a:r>
              <a:rPr lang="vi-VN" sz="2800" smtClean="0"/>
              <a:t>.edu.vn.</a:t>
            </a:r>
            <a:endParaRPr lang="en-US" sz="2800" smtClean="0"/>
          </a:p>
        </p:txBody>
      </p:sp>
      <p:sp>
        <p:nvSpPr>
          <p:cNvPr id="3" name="Title 2"/>
          <p:cNvSpPr>
            <a:spLocks noGrp="1"/>
          </p:cNvSpPr>
          <p:nvPr>
            <p:ph type="title"/>
          </p:nvPr>
        </p:nvSpPr>
        <p:spPr>
          <a:xfrm>
            <a:off x="0" y="76200"/>
            <a:ext cx="9144000" cy="609600"/>
          </a:xfrm>
        </p:spPr>
        <p:txBody>
          <a:bodyPr/>
          <a:lstStyle/>
          <a:p>
            <a:r>
              <a:rPr lang="vi-VN" smtClean="0"/>
              <a:t>IV.3. Sự ủy quyền(Delegation).</a:t>
            </a:r>
            <a:endParaRPr 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1" name="Picture 3" descr="Server01"/>
          <p:cNvPicPr>
            <a:picLocks noChangeAspect="1" noChangeArrowheads="1"/>
          </p:cNvPicPr>
          <p:nvPr/>
        </p:nvPicPr>
        <p:blipFill>
          <a:blip r:embed="rId3" cstate="print"/>
          <a:srcRect/>
          <a:stretch>
            <a:fillRect/>
          </a:stretch>
        </p:blipFill>
        <p:spPr bwMode="auto">
          <a:xfrm>
            <a:off x="3048000" y="1600200"/>
            <a:ext cx="1000125" cy="1174750"/>
          </a:xfrm>
          <a:prstGeom prst="rect">
            <a:avLst/>
          </a:prstGeom>
          <a:noFill/>
        </p:spPr>
      </p:pic>
      <p:sp>
        <p:nvSpPr>
          <p:cNvPr id="48132" name="AutoShape 4"/>
          <p:cNvSpPr>
            <a:spLocks noChangeArrowheads="1"/>
          </p:cNvSpPr>
          <p:nvPr/>
        </p:nvSpPr>
        <p:spPr bwMode="auto">
          <a:xfrm>
            <a:off x="5965825" y="1535113"/>
            <a:ext cx="1173163" cy="339725"/>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gn="ctr" eaLnBrk="0" hangingPunct="0">
              <a:lnSpc>
                <a:spcPct val="85000"/>
              </a:lnSpc>
            </a:pPr>
            <a:r>
              <a:rPr lang="en-US" b="1">
                <a:latin typeface="Arial Narrow" pitchFamily="34" charset="0"/>
              </a:rPr>
              <a:t>DNS server</a:t>
            </a:r>
          </a:p>
        </p:txBody>
      </p:sp>
      <p:pic>
        <p:nvPicPr>
          <p:cNvPr id="48133" name="Picture 5" descr="Server01"/>
          <p:cNvPicPr>
            <a:picLocks noChangeAspect="1" noChangeArrowheads="1"/>
          </p:cNvPicPr>
          <p:nvPr/>
        </p:nvPicPr>
        <p:blipFill>
          <a:blip r:embed="rId3" cstate="print"/>
          <a:srcRect/>
          <a:stretch>
            <a:fillRect/>
          </a:stretch>
        </p:blipFill>
        <p:spPr bwMode="auto">
          <a:xfrm>
            <a:off x="5867400" y="3429000"/>
            <a:ext cx="1000125" cy="1174750"/>
          </a:xfrm>
          <a:prstGeom prst="rect">
            <a:avLst/>
          </a:prstGeom>
          <a:noFill/>
        </p:spPr>
      </p:pic>
      <p:sp>
        <p:nvSpPr>
          <p:cNvPr id="48134" name="AutoShape 6"/>
          <p:cNvSpPr>
            <a:spLocks noChangeArrowheads="1"/>
          </p:cNvSpPr>
          <p:nvPr/>
        </p:nvSpPr>
        <p:spPr bwMode="auto">
          <a:xfrm>
            <a:off x="6459538" y="3511550"/>
            <a:ext cx="1173162" cy="339725"/>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gn="ctr" eaLnBrk="0" hangingPunct="0">
              <a:lnSpc>
                <a:spcPct val="85000"/>
              </a:lnSpc>
            </a:pPr>
            <a:r>
              <a:rPr lang="en-US" b="1">
                <a:latin typeface="Arial Narrow" pitchFamily="34" charset="0"/>
              </a:rPr>
              <a:t>DNS server</a:t>
            </a:r>
          </a:p>
        </p:txBody>
      </p:sp>
      <p:pic>
        <p:nvPicPr>
          <p:cNvPr id="48135" name="Picture 7" descr="Database01"/>
          <p:cNvPicPr>
            <a:picLocks noChangeAspect="1" noChangeArrowheads="1"/>
          </p:cNvPicPr>
          <p:nvPr/>
        </p:nvPicPr>
        <p:blipFill>
          <a:blip r:embed="rId4" cstate="print"/>
          <a:srcRect/>
          <a:stretch>
            <a:fillRect/>
          </a:stretch>
        </p:blipFill>
        <p:spPr bwMode="auto">
          <a:xfrm>
            <a:off x="6705600" y="3962400"/>
            <a:ext cx="681038" cy="550863"/>
          </a:xfrm>
          <a:prstGeom prst="rect">
            <a:avLst/>
          </a:prstGeom>
          <a:noFill/>
        </p:spPr>
      </p:pic>
      <p:pic>
        <p:nvPicPr>
          <p:cNvPr id="48136" name="Picture 8" descr="Database01"/>
          <p:cNvPicPr>
            <a:picLocks noChangeAspect="1" noChangeArrowheads="1"/>
          </p:cNvPicPr>
          <p:nvPr/>
        </p:nvPicPr>
        <p:blipFill>
          <a:blip r:embed="rId4" cstate="print"/>
          <a:srcRect/>
          <a:stretch>
            <a:fillRect/>
          </a:stretch>
        </p:blipFill>
        <p:spPr bwMode="auto">
          <a:xfrm>
            <a:off x="3886200" y="2209800"/>
            <a:ext cx="681038" cy="550863"/>
          </a:xfrm>
          <a:prstGeom prst="rect">
            <a:avLst/>
          </a:prstGeom>
          <a:noFill/>
        </p:spPr>
      </p:pic>
      <p:sp>
        <p:nvSpPr>
          <p:cNvPr id="48137" name="Text Box 9"/>
          <p:cNvSpPr txBox="1">
            <a:spLocks noChangeArrowheads="1"/>
          </p:cNvSpPr>
          <p:nvPr/>
        </p:nvSpPr>
        <p:spPr bwMode="auto">
          <a:xfrm>
            <a:off x="3048000" y="1066800"/>
            <a:ext cx="3025775" cy="457200"/>
          </a:xfrm>
          <a:prstGeom prst="rect">
            <a:avLst/>
          </a:prstGeom>
          <a:noFill/>
          <a:ln w="9525" algn="ctr">
            <a:noFill/>
            <a:miter lim="800000"/>
            <a:headEnd/>
            <a:tailEnd/>
          </a:ln>
          <a:effectLst/>
        </p:spPr>
        <p:txBody>
          <a:bodyPr wrap="none">
            <a:spAutoFit/>
          </a:bodyPr>
          <a:lstStyle/>
          <a:p>
            <a:pPr algn="ctr" eaLnBrk="0" hangingPunct="0"/>
            <a:r>
              <a:rPr lang="en-US" sz="2400" b="1">
                <a:latin typeface="Arial Narrow" pitchFamily="34" charset="0"/>
              </a:rPr>
              <a:t>Namespace: csc.vnn.vn</a:t>
            </a:r>
          </a:p>
        </p:txBody>
      </p:sp>
      <p:sp>
        <p:nvSpPr>
          <p:cNvPr id="48138" name="Line 10"/>
          <p:cNvSpPr>
            <a:spLocks noChangeShapeType="1"/>
          </p:cNvSpPr>
          <p:nvPr/>
        </p:nvSpPr>
        <p:spPr bwMode="auto">
          <a:xfrm flipH="1">
            <a:off x="5467350" y="3155950"/>
            <a:ext cx="7938" cy="1417638"/>
          </a:xfrm>
          <a:prstGeom prst="line">
            <a:avLst/>
          </a:prstGeom>
          <a:noFill/>
          <a:ln w="38100">
            <a:solidFill>
              <a:schemeClr val="bg2"/>
            </a:solidFill>
            <a:prstDash val="dash"/>
            <a:round/>
            <a:headEnd/>
            <a:tailEnd/>
          </a:ln>
          <a:effectLst/>
        </p:spPr>
        <p:txBody>
          <a:bodyPr anchor="ctr"/>
          <a:lstStyle/>
          <a:p>
            <a:endParaRPr lang="en-US"/>
          </a:p>
        </p:txBody>
      </p:sp>
      <p:sp>
        <p:nvSpPr>
          <p:cNvPr id="48139" name="AutoShape 11"/>
          <p:cNvSpPr>
            <a:spLocks noChangeArrowheads="1"/>
          </p:cNvSpPr>
          <p:nvPr/>
        </p:nvSpPr>
        <p:spPr bwMode="auto">
          <a:xfrm>
            <a:off x="5132388" y="4643438"/>
            <a:ext cx="2487612" cy="385762"/>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gn="ctr" eaLnBrk="0" hangingPunct="0">
              <a:lnSpc>
                <a:spcPct val="85000"/>
              </a:lnSpc>
            </a:pPr>
            <a:r>
              <a:rPr lang="en-US" sz="2000" b="1">
                <a:latin typeface="Arial Narrow" pitchFamily="34" charset="0"/>
              </a:rPr>
              <a:t>csc.vnn.vn</a:t>
            </a:r>
          </a:p>
        </p:txBody>
      </p:sp>
      <p:sp>
        <p:nvSpPr>
          <p:cNvPr id="48140" name="AutoShape 12"/>
          <p:cNvSpPr>
            <a:spLocks noChangeArrowheads="1"/>
          </p:cNvSpPr>
          <p:nvPr/>
        </p:nvSpPr>
        <p:spPr bwMode="auto">
          <a:xfrm>
            <a:off x="304800" y="5181600"/>
            <a:ext cx="8534399" cy="914400"/>
          </a:xfrm>
          <a:prstGeom prst="roundRect">
            <a:avLst>
              <a:gd name="adj" fmla="val 25116"/>
            </a:avLst>
          </a:prstGeom>
          <a:gradFill rotWithShape="1">
            <a:gsLst>
              <a:gs pos="0">
                <a:srgbClr val="EAABA0"/>
              </a:gs>
              <a:gs pos="100000">
                <a:srgbClr val="F6D9D4"/>
              </a:gs>
            </a:gsLst>
            <a:lin ang="2700000" scaled="1"/>
          </a:gradFill>
          <a:ln w="9525" algn="ctr">
            <a:solidFill>
              <a:srgbClr val="808080"/>
            </a:solidFill>
            <a:round/>
            <a:headEnd/>
            <a:tailEnd/>
          </a:ln>
          <a:effectLst>
            <a:outerShdw dist="35921" dir="2700000" algn="ctr" rotWithShape="0">
              <a:srgbClr val="C0C0C0"/>
            </a:outerShdw>
          </a:effectLst>
        </p:spPr>
        <p:txBody>
          <a:bodyPr anchor="ctr"/>
          <a:lstStyle/>
          <a:p>
            <a:pPr>
              <a:lnSpc>
                <a:spcPct val="85000"/>
              </a:lnSpc>
            </a:pPr>
            <a:r>
              <a:rPr lang="en-US" sz="2800" b="1">
                <a:latin typeface="Arial" pitchFamily="34" charset="0"/>
                <a:cs typeface="Arial" pitchFamily="34" charset="0"/>
              </a:rPr>
              <a:t>Delegation là quá trình gán toàn quyền subdomain cho một name server khác quản lý.</a:t>
            </a:r>
          </a:p>
        </p:txBody>
      </p:sp>
      <p:sp>
        <p:nvSpPr>
          <p:cNvPr id="48141" name="AutoShape 13"/>
          <p:cNvSpPr>
            <a:spLocks noChangeArrowheads="1"/>
          </p:cNvSpPr>
          <p:nvPr/>
        </p:nvSpPr>
        <p:spPr bwMode="auto">
          <a:xfrm>
            <a:off x="3581400" y="2743200"/>
            <a:ext cx="2465388" cy="411163"/>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gn="ctr" eaLnBrk="0" hangingPunct="0">
              <a:lnSpc>
                <a:spcPct val="85000"/>
              </a:lnSpc>
            </a:pPr>
            <a:r>
              <a:rPr lang="en-US" sz="2000" b="1">
                <a:solidFill>
                  <a:schemeClr val="folHlink"/>
                </a:solidFill>
                <a:latin typeface="Arial Narrow" pitchFamily="34" charset="0"/>
              </a:rPr>
              <a:t>csc</a:t>
            </a:r>
            <a:r>
              <a:rPr lang="en-US" sz="2000" b="1">
                <a:latin typeface="Arial Narrow" pitchFamily="34" charset="0"/>
              </a:rPr>
              <a:t>.vnn.vn</a:t>
            </a:r>
          </a:p>
        </p:txBody>
      </p:sp>
      <p:sp>
        <p:nvSpPr>
          <p:cNvPr id="48142" name="Rectangle 14"/>
          <p:cNvSpPr>
            <a:spLocks noGrp="1" noChangeArrowheads="1"/>
          </p:cNvSpPr>
          <p:nvPr>
            <p:ph type="title"/>
          </p:nvPr>
        </p:nvSpPr>
        <p:spPr/>
        <p:txBody>
          <a:bodyPr/>
          <a:lstStyle/>
          <a:p>
            <a:r>
              <a:rPr lang="en-US" sz="3000"/>
              <a:t>Sự ủy quyền (delegation)</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vi-VN" sz="2800" smtClean="0"/>
              <a:t>Là kỹ  thuật cho phép Name Server nội bộ chuyển  yêu cầu  truy vấn  cho các Name Server  khác để phân giải các miền bên ngoài.</a:t>
            </a:r>
            <a:endParaRPr lang="en-US" sz="2800"/>
          </a:p>
        </p:txBody>
      </p:sp>
      <p:sp>
        <p:nvSpPr>
          <p:cNvPr id="3" name="Title 2"/>
          <p:cNvSpPr>
            <a:spLocks noGrp="1"/>
          </p:cNvSpPr>
          <p:nvPr>
            <p:ph type="title"/>
          </p:nvPr>
        </p:nvSpPr>
        <p:spPr/>
        <p:txBody>
          <a:bodyPr/>
          <a:lstStyle/>
          <a:p>
            <a:r>
              <a:rPr lang="en-US" smtClean="0"/>
              <a:t>IV.4. Forwarder</a:t>
            </a:r>
            <a:endParaRPr lang="en-US"/>
          </a:p>
        </p:txBody>
      </p:sp>
      <p:sp>
        <p:nvSpPr>
          <p:cNvPr id="5" name="Oval 4"/>
          <p:cNvSpPr>
            <a:spLocks noChangeArrowheads="1"/>
          </p:cNvSpPr>
          <p:nvPr/>
        </p:nvSpPr>
        <p:spPr bwMode="auto">
          <a:xfrm>
            <a:off x="2020888" y="3135313"/>
            <a:ext cx="3233737" cy="3149600"/>
          </a:xfrm>
          <a:prstGeom prst="ellipse">
            <a:avLst/>
          </a:prstGeom>
          <a:gradFill rotWithShape="1">
            <a:gsLst>
              <a:gs pos="0">
                <a:srgbClr val="F0F1FF"/>
              </a:gs>
              <a:gs pos="100000">
                <a:srgbClr val="B3C8DF"/>
              </a:gs>
            </a:gsLst>
            <a:path path="shape">
              <a:fillToRect l="50000" t="50000" r="50000" b="50000"/>
            </a:path>
          </a:gradFill>
          <a:ln w="9525">
            <a:noFill/>
            <a:round/>
            <a:headEnd/>
            <a:tailEnd/>
          </a:ln>
        </p:spPr>
        <p:txBody>
          <a:bodyPr wrap="none" anchor="ctr"/>
          <a:lstStyle/>
          <a:p>
            <a:endParaRPr lang="en-US" sz="1600"/>
          </a:p>
        </p:txBody>
      </p:sp>
      <p:sp>
        <p:nvSpPr>
          <p:cNvPr id="6" name="AutoShape 5"/>
          <p:cNvSpPr>
            <a:spLocks noChangeArrowheads="1"/>
          </p:cNvSpPr>
          <p:nvPr/>
        </p:nvSpPr>
        <p:spPr bwMode="auto">
          <a:xfrm>
            <a:off x="5495925" y="5889625"/>
            <a:ext cx="1276350" cy="333375"/>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nSpc>
                <a:spcPct val="85000"/>
              </a:lnSpc>
              <a:defRPr/>
            </a:pPr>
            <a:r>
              <a:rPr lang="en-US" sz="1400"/>
              <a:t>Client Server</a:t>
            </a:r>
          </a:p>
        </p:txBody>
      </p:sp>
      <p:sp>
        <p:nvSpPr>
          <p:cNvPr id="7" name="AutoShape 6"/>
          <p:cNvSpPr>
            <a:spLocks noChangeArrowheads="1"/>
          </p:cNvSpPr>
          <p:nvPr/>
        </p:nvSpPr>
        <p:spPr bwMode="auto">
          <a:xfrm>
            <a:off x="7558088" y="5532438"/>
            <a:ext cx="1428750" cy="333375"/>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defRPr/>
            </a:pPr>
            <a:r>
              <a:rPr lang="en-US" sz="1400"/>
              <a:t>Nwtraders.com</a:t>
            </a:r>
          </a:p>
        </p:txBody>
      </p:sp>
      <p:pic>
        <p:nvPicPr>
          <p:cNvPr id="8" name="Picture 7" descr="Internet01"/>
          <p:cNvPicPr>
            <a:picLocks noChangeAspect="1" noChangeArrowheads="1"/>
          </p:cNvPicPr>
          <p:nvPr/>
        </p:nvPicPr>
        <p:blipFill>
          <a:blip r:embed="rId2"/>
          <a:srcRect/>
          <a:stretch>
            <a:fillRect/>
          </a:stretch>
        </p:blipFill>
        <p:spPr bwMode="auto">
          <a:xfrm>
            <a:off x="7081838" y="2867025"/>
            <a:ext cx="1909762" cy="1905000"/>
          </a:xfrm>
          <a:prstGeom prst="rect">
            <a:avLst/>
          </a:prstGeom>
          <a:noFill/>
          <a:ln w="9525">
            <a:noFill/>
            <a:miter lim="800000"/>
            <a:headEnd/>
            <a:tailEnd/>
          </a:ln>
        </p:spPr>
      </p:pic>
      <p:pic>
        <p:nvPicPr>
          <p:cNvPr id="9" name="Picture 8" descr="Server01"/>
          <p:cNvPicPr>
            <a:picLocks noChangeAspect="1" noChangeArrowheads="1"/>
          </p:cNvPicPr>
          <p:nvPr/>
        </p:nvPicPr>
        <p:blipFill>
          <a:blip r:embed="rId3">
            <a:grayscl/>
          </a:blip>
          <a:srcRect/>
          <a:stretch>
            <a:fillRect/>
          </a:stretch>
        </p:blipFill>
        <p:spPr bwMode="auto">
          <a:xfrm>
            <a:off x="6777038" y="2443163"/>
            <a:ext cx="884237" cy="1039812"/>
          </a:xfrm>
          <a:prstGeom prst="rect">
            <a:avLst/>
          </a:prstGeom>
          <a:noFill/>
          <a:ln w="9525">
            <a:noFill/>
            <a:miter lim="800000"/>
            <a:headEnd/>
            <a:tailEnd/>
          </a:ln>
        </p:spPr>
      </p:pic>
      <p:pic>
        <p:nvPicPr>
          <p:cNvPr id="10" name="Picture 9" descr="Server01"/>
          <p:cNvPicPr>
            <a:picLocks noChangeAspect="1" noChangeArrowheads="1"/>
          </p:cNvPicPr>
          <p:nvPr/>
        </p:nvPicPr>
        <p:blipFill>
          <a:blip r:embed="rId3">
            <a:grayscl/>
          </a:blip>
          <a:srcRect/>
          <a:stretch>
            <a:fillRect/>
          </a:stretch>
        </p:blipFill>
        <p:spPr bwMode="auto">
          <a:xfrm>
            <a:off x="6931025" y="3603625"/>
            <a:ext cx="884238" cy="1039813"/>
          </a:xfrm>
          <a:prstGeom prst="rect">
            <a:avLst/>
          </a:prstGeom>
          <a:noFill/>
          <a:ln w="9525">
            <a:noFill/>
            <a:miter lim="800000"/>
            <a:headEnd/>
            <a:tailEnd/>
          </a:ln>
        </p:spPr>
      </p:pic>
      <p:pic>
        <p:nvPicPr>
          <p:cNvPr id="11" name="Picture 10" descr="Server01"/>
          <p:cNvPicPr>
            <a:picLocks noChangeAspect="1" noChangeArrowheads="1"/>
          </p:cNvPicPr>
          <p:nvPr/>
        </p:nvPicPr>
        <p:blipFill>
          <a:blip r:embed="rId3">
            <a:grayscl/>
          </a:blip>
          <a:srcRect/>
          <a:stretch>
            <a:fillRect/>
          </a:stretch>
        </p:blipFill>
        <p:spPr bwMode="auto">
          <a:xfrm>
            <a:off x="7950200" y="4521200"/>
            <a:ext cx="884238" cy="1039813"/>
          </a:xfrm>
          <a:prstGeom prst="rect">
            <a:avLst/>
          </a:prstGeom>
          <a:noFill/>
          <a:ln w="9525">
            <a:noFill/>
            <a:miter lim="800000"/>
            <a:headEnd/>
            <a:tailEnd/>
          </a:ln>
        </p:spPr>
      </p:pic>
      <p:sp>
        <p:nvSpPr>
          <p:cNvPr id="12" name="AutoShape 11"/>
          <p:cNvSpPr>
            <a:spLocks noChangeArrowheads="1"/>
          </p:cNvSpPr>
          <p:nvPr/>
        </p:nvSpPr>
        <p:spPr bwMode="auto">
          <a:xfrm>
            <a:off x="7505700" y="2727325"/>
            <a:ext cx="1276350" cy="333375"/>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defRPr/>
            </a:pPr>
            <a:r>
              <a:rPr lang="en-US" sz="1400"/>
              <a:t>Root Hint (.)</a:t>
            </a:r>
          </a:p>
        </p:txBody>
      </p:sp>
      <p:sp>
        <p:nvSpPr>
          <p:cNvPr id="13" name="AutoShape 12"/>
          <p:cNvSpPr>
            <a:spLocks noChangeArrowheads="1"/>
          </p:cNvSpPr>
          <p:nvPr/>
        </p:nvSpPr>
        <p:spPr bwMode="auto">
          <a:xfrm>
            <a:off x="7646988" y="3617913"/>
            <a:ext cx="552450" cy="333375"/>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defRPr/>
            </a:pPr>
            <a:r>
              <a:rPr lang="en-US" sz="1400"/>
              <a:t>.com</a:t>
            </a:r>
          </a:p>
        </p:txBody>
      </p:sp>
      <p:sp>
        <p:nvSpPr>
          <p:cNvPr id="14" name="Line 13"/>
          <p:cNvSpPr>
            <a:spLocks noChangeShapeType="1"/>
          </p:cNvSpPr>
          <p:nvPr/>
        </p:nvSpPr>
        <p:spPr bwMode="auto">
          <a:xfrm>
            <a:off x="4330700" y="2714625"/>
            <a:ext cx="2206625" cy="1588"/>
          </a:xfrm>
          <a:prstGeom prst="line">
            <a:avLst/>
          </a:prstGeom>
          <a:noFill/>
          <a:ln w="50800">
            <a:solidFill>
              <a:srgbClr val="CC0000"/>
            </a:solidFill>
            <a:round/>
            <a:headEnd/>
            <a:tailEnd type="triangle" w="med" len="med"/>
          </a:ln>
        </p:spPr>
        <p:txBody>
          <a:bodyPr/>
          <a:lstStyle/>
          <a:p>
            <a:endParaRPr lang="en-US" sz="1600"/>
          </a:p>
        </p:txBody>
      </p:sp>
      <p:sp>
        <p:nvSpPr>
          <p:cNvPr id="15" name="Line 14"/>
          <p:cNvSpPr>
            <a:spLocks noChangeShapeType="1"/>
          </p:cNvSpPr>
          <p:nvPr/>
        </p:nvSpPr>
        <p:spPr bwMode="auto">
          <a:xfrm>
            <a:off x="4365625" y="3332163"/>
            <a:ext cx="2379663" cy="501650"/>
          </a:xfrm>
          <a:prstGeom prst="line">
            <a:avLst/>
          </a:prstGeom>
          <a:noFill/>
          <a:ln w="50800">
            <a:solidFill>
              <a:srgbClr val="CC0000"/>
            </a:solidFill>
            <a:round/>
            <a:headEnd/>
            <a:tailEnd type="triangle" w="med" len="med"/>
          </a:ln>
        </p:spPr>
        <p:txBody>
          <a:bodyPr/>
          <a:lstStyle/>
          <a:p>
            <a:endParaRPr lang="en-US" sz="1600"/>
          </a:p>
        </p:txBody>
      </p:sp>
      <p:sp>
        <p:nvSpPr>
          <p:cNvPr id="16" name="Line 15"/>
          <p:cNvSpPr>
            <a:spLocks noChangeShapeType="1"/>
          </p:cNvSpPr>
          <p:nvPr/>
        </p:nvSpPr>
        <p:spPr bwMode="auto">
          <a:xfrm>
            <a:off x="4022725" y="3592513"/>
            <a:ext cx="3887788" cy="1670050"/>
          </a:xfrm>
          <a:prstGeom prst="line">
            <a:avLst/>
          </a:prstGeom>
          <a:noFill/>
          <a:ln w="50800">
            <a:solidFill>
              <a:srgbClr val="CC0000"/>
            </a:solidFill>
            <a:round/>
            <a:headEnd/>
            <a:tailEnd type="triangle" w="med" len="med"/>
          </a:ln>
        </p:spPr>
        <p:txBody>
          <a:bodyPr/>
          <a:lstStyle/>
          <a:p>
            <a:endParaRPr lang="en-US" sz="1600"/>
          </a:p>
        </p:txBody>
      </p:sp>
      <p:sp>
        <p:nvSpPr>
          <p:cNvPr id="17" name="Rectangle 16"/>
          <p:cNvSpPr>
            <a:spLocks noChangeArrowheads="1"/>
          </p:cNvSpPr>
          <p:nvPr/>
        </p:nvSpPr>
        <p:spPr bwMode="auto">
          <a:xfrm>
            <a:off x="4605338" y="2362200"/>
            <a:ext cx="1611312" cy="393700"/>
          </a:xfrm>
          <a:prstGeom prst="rect">
            <a:avLst/>
          </a:prstGeom>
          <a:noFill/>
          <a:ln w="9525" algn="ctr">
            <a:noFill/>
            <a:miter lim="800000"/>
            <a:headEnd/>
            <a:tailEnd/>
          </a:ln>
        </p:spPr>
        <p:txBody>
          <a:bodyPr wrap="none" anchor="ctr"/>
          <a:lstStyle/>
          <a:p>
            <a:r>
              <a:rPr lang="en-US" sz="1400" b="0"/>
              <a:t>Iterative Query</a:t>
            </a:r>
          </a:p>
        </p:txBody>
      </p:sp>
      <p:sp>
        <p:nvSpPr>
          <p:cNvPr id="18" name="Rectangle 17"/>
          <p:cNvSpPr>
            <a:spLocks noChangeArrowheads="1"/>
          </p:cNvSpPr>
          <p:nvPr/>
        </p:nvSpPr>
        <p:spPr bwMode="auto">
          <a:xfrm rot="1192288">
            <a:off x="5629275" y="4251325"/>
            <a:ext cx="1611313" cy="449263"/>
          </a:xfrm>
          <a:prstGeom prst="rect">
            <a:avLst/>
          </a:prstGeom>
          <a:noFill/>
          <a:ln w="9525" algn="ctr">
            <a:noFill/>
            <a:miter lim="800000"/>
            <a:headEnd/>
            <a:tailEnd/>
          </a:ln>
        </p:spPr>
        <p:txBody>
          <a:bodyPr wrap="none" anchor="ctr"/>
          <a:lstStyle/>
          <a:p>
            <a:r>
              <a:rPr lang="en-US" sz="1400" b="0"/>
              <a:t>Iterative Query</a:t>
            </a:r>
          </a:p>
        </p:txBody>
      </p:sp>
      <p:sp>
        <p:nvSpPr>
          <p:cNvPr id="19" name="Rectangle 18"/>
          <p:cNvSpPr>
            <a:spLocks noChangeArrowheads="1"/>
          </p:cNvSpPr>
          <p:nvPr/>
        </p:nvSpPr>
        <p:spPr bwMode="auto">
          <a:xfrm rot="690929">
            <a:off x="4862513" y="3221038"/>
            <a:ext cx="1443037" cy="417512"/>
          </a:xfrm>
          <a:prstGeom prst="rect">
            <a:avLst/>
          </a:prstGeom>
          <a:noFill/>
          <a:ln w="9525" algn="ctr">
            <a:noFill/>
            <a:miter lim="800000"/>
            <a:headEnd/>
            <a:tailEnd/>
          </a:ln>
        </p:spPr>
        <p:txBody>
          <a:bodyPr wrap="none" anchor="ctr"/>
          <a:lstStyle/>
          <a:p>
            <a:r>
              <a:rPr lang="en-US" sz="1400" b="0"/>
              <a:t>Iterative Query</a:t>
            </a:r>
          </a:p>
        </p:txBody>
      </p:sp>
      <p:sp>
        <p:nvSpPr>
          <p:cNvPr id="20" name="Text Box 19"/>
          <p:cNvSpPr txBox="1">
            <a:spLocks noChangeArrowheads="1"/>
          </p:cNvSpPr>
          <p:nvPr/>
        </p:nvSpPr>
        <p:spPr bwMode="auto">
          <a:xfrm>
            <a:off x="4875213" y="2814638"/>
            <a:ext cx="955675" cy="307777"/>
          </a:xfrm>
          <a:prstGeom prst="rect">
            <a:avLst/>
          </a:prstGeom>
          <a:noFill/>
          <a:ln w="9525" algn="ctr">
            <a:noFill/>
            <a:miter lim="800000"/>
            <a:headEnd/>
            <a:tailEnd/>
          </a:ln>
        </p:spPr>
        <p:txBody>
          <a:bodyPr>
            <a:spAutoFit/>
          </a:bodyPr>
          <a:lstStyle/>
          <a:p>
            <a:r>
              <a:rPr lang="en-US" sz="1400" b="0"/>
              <a:t>Ask .com</a:t>
            </a:r>
          </a:p>
        </p:txBody>
      </p:sp>
      <p:sp>
        <p:nvSpPr>
          <p:cNvPr id="21" name="Line 20"/>
          <p:cNvSpPr>
            <a:spLocks noChangeShapeType="1"/>
          </p:cNvSpPr>
          <p:nvPr/>
        </p:nvSpPr>
        <p:spPr bwMode="auto">
          <a:xfrm flipH="1" flipV="1">
            <a:off x="4318000" y="2859088"/>
            <a:ext cx="2197100" cy="1587"/>
          </a:xfrm>
          <a:prstGeom prst="line">
            <a:avLst/>
          </a:prstGeom>
          <a:noFill/>
          <a:ln w="50800" cap="rnd">
            <a:solidFill>
              <a:srgbClr val="CC0000"/>
            </a:solidFill>
            <a:prstDash val="sysDot"/>
            <a:round/>
            <a:headEnd/>
            <a:tailEnd type="triangle" w="med" len="med"/>
          </a:ln>
        </p:spPr>
        <p:txBody>
          <a:bodyPr wrap="none" anchor="ctr"/>
          <a:lstStyle/>
          <a:p>
            <a:endParaRPr lang="en-US" sz="1600"/>
          </a:p>
        </p:txBody>
      </p:sp>
      <p:sp>
        <p:nvSpPr>
          <p:cNvPr id="22" name="Line 21"/>
          <p:cNvSpPr>
            <a:spLocks noChangeShapeType="1"/>
          </p:cNvSpPr>
          <p:nvPr/>
        </p:nvSpPr>
        <p:spPr bwMode="auto">
          <a:xfrm flipH="1" flipV="1">
            <a:off x="3979863" y="3694113"/>
            <a:ext cx="3921125" cy="1676400"/>
          </a:xfrm>
          <a:prstGeom prst="line">
            <a:avLst/>
          </a:prstGeom>
          <a:noFill/>
          <a:ln w="50800" cap="rnd">
            <a:solidFill>
              <a:srgbClr val="CC0000"/>
            </a:solidFill>
            <a:prstDash val="sysDot"/>
            <a:round/>
            <a:headEnd/>
            <a:tailEnd type="triangle" w="med" len="med"/>
          </a:ln>
        </p:spPr>
        <p:txBody>
          <a:bodyPr wrap="none" anchor="ctr"/>
          <a:lstStyle/>
          <a:p>
            <a:endParaRPr lang="en-US" sz="1600"/>
          </a:p>
        </p:txBody>
      </p:sp>
      <p:sp>
        <p:nvSpPr>
          <p:cNvPr id="23" name="Line 22"/>
          <p:cNvSpPr>
            <a:spLocks noChangeShapeType="1"/>
          </p:cNvSpPr>
          <p:nvPr/>
        </p:nvSpPr>
        <p:spPr bwMode="auto">
          <a:xfrm flipH="1" flipV="1">
            <a:off x="4294188" y="3444875"/>
            <a:ext cx="2406650" cy="528638"/>
          </a:xfrm>
          <a:prstGeom prst="line">
            <a:avLst/>
          </a:prstGeom>
          <a:noFill/>
          <a:ln w="50800" cap="rnd">
            <a:solidFill>
              <a:srgbClr val="CC0000"/>
            </a:solidFill>
            <a:prstDash val="sysDot"/>
            <a:round/>
            <a:headEnd/>
            <a:tailEnd type="triangle" w="med" len="med"/>
          </a:ln>
        </p:spPr>
        <p:txBody>
          <a:bodyPr wrap="none" anchor="ctr"/>
          <a:lstStyle/>
          <a:p>
            <a:endParaRPr lang="en-US" sz="1600"/>
          </a:p>
        </p:txBody>
      </p:sp>
      <p:sp>
        <p:nvSpPr>
          <p:cNvPr id="24" name="Text Box 23"/>
          <p:cNvSpPr txBox="1">
            <a:spLocks noChangeArrowheads="1"/>
          </p:cNvSpPr>
          <p:nvPr/>
        </p:nvSpPr>
        <p:spPr bwMode="auto">
          <a:xfrm rot="775546">
            <a:off x="4709634" y="3706118"/>
            <a:ext cx="1707519" cy="307777"/>
          </a:xfrm>
          <a:prstGeom prst="rect">
            <a:avLst/>
          </a:prstGeom>
          <a:noFill/>
          <a:ln w="9525" algn="ctr">
            <a:noFill/>
            <a:miter lim="800000"/>
            <a:headEnd/>
            <a:tailEnd/>
          </a:ln>
        </p:spPr>
        <p:txBody>
          <a:bodyPr wrap="none">
            <a:spAutoFit/>
          </a:bodyPr>
          <a:lstStyle/>
          <a:p>
            <a:r>
              <a:rPr lang="en-US" sz="1400" b="0"/>
              <a:t>Ask nwtraders.com</a:t>
            </a:r>
          </a:p>
        </p:txBody>
      </p:sp>
      <p:sp>
        <p:nvSpPr>
          <p:cNvPr id="25" name="Text Box 24"/>
          <p:cNvSpPr txBox="1">
            <a:spLocks noChangeArrowheads="1"/>
          </p:cNvSpPr>
          <p:nvPr/>
        </p:nvSpPr>
        <p:spPr bwMode="auto">
          <a:xfrm rot="1280207">
            <a:off x="5255732" y="4733230"/>
            <a:ext cx="2036135" cy="307777"/>
          </a:xfrm>
          <a:prstGeom prst="rect">
            <a:avLst/>
          </a:prstGeom>
          <a:noFill/>
          <a:ln w="9525" algn="ctr">
            <a:noFill/>
            <a:miter lim="800000"/>
            <a:headEnd/>
            <a:tailEnd/>
          </a:ln>
        </p:spPr>
        <p:txBody>
          <a:bodyPr wrap="none">
            <a:spAutoFit/>
          </a:bodyPr>
          <a:lstStyle/>
          <a:p>
            <a:r>
              <a:rPr lang="en-US" sz="1400" b="0"/>
              <a:t>Authoritative Response</a:t>
            </a:r>
          </a:p>
        </p:txBody>
      </p:sp>
      <p:pic>
        <p:nvPicPr>
          <p:cNvPr id="26" name="Picture 26" descr="Computer_DesktopComputerSansKeyboard01"/>
          <p:cNvPicPr>
            <a:picLocks noChangeAspect="1" noChangeArrowheads="1"/>
          </p:cNvPicPr>
          <p:nvPr/>
        </p:nvPicPr>
        <p:blipFill>
          <a:blip r:embed="rId4"/>
          <a:srcRect/>
          <a:stretch>
            <a:fillRect/>
          </a:stretch>
        </p:blipFill>
        <p:spPr bwMode="auto">
          <a:xfrm>
            <a:off x="4681538" y="5346700"/>
            <a:ext cx="782637" cy="952500"/>
          </a:xfrm>
          <a:prstGeom prst="rect">
            <a:avLst/>
          </a:prstGeom>
          <a:noFill/>
          <a:ln w="9525">
            <a:noFill/>
            <a:miter lim="800000"/>
            <a:headEnd/>
            <a:tailEnd/>
          </a:ln>
        </p:spPr>
      </p:pic>
      <p:pic>
        <p:nvPicPr>
          <p:cNvPr id="27" name="Picture 27" descr="Server01"/>
          <p:cNvPicPr>
            <a:picLocks noChangeAspect="1" noChangeArrowheads="1"/>
          </p:cNvPicPr>
          <p:nvPr/>
        </p:nvPicPr>
        <p:blipFill>
          <a:blip r:embed="rId5">
            <a:grayscl/>
          </a:blip>
          <a:srcRect/>
          <a:stretch>
            <a:fillRect/>
          </a:stretch>
        </p:blipFill>
        <p:spPr bwMode="auto">
          <a:xfrm>
            <a:off x="3165475" y="2557463"/>
            <a:ext cx="912813" cy="1073150"/>
          </a:xfrm>
          <a:prstGeom prst="rect">
            <a:avLst/>
          </a:prstGeom>
          <a:noFill/>
          <a:ln w="9525">
            <a:noFill/>
            <a:miter lim="800000"/>
            <a:headEnd/>
            <a:tailEnd/>
          </a:ln>
        </p:spPr>
      </p:pic>
      <p:sp>
        <p:nvSpPr>
          <p:cNvPr id="28" name="AutoShape 28"/>
          <p:cNvSpPr>
            <a:spLocks noChangeArrowheads="1"/>
          </p:cNvSpPr>
          <p:nvPr/>
        </p:nvSpPr>
        <p:spPr bwMode="auto">
          <a:xfrm>
            <a:off x="1993900" y="2633663"/>
            <a:ext cx="1095375" cy="384175"/>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defRPr/>
            </a:pPr>
            <a:r>
              <a:rPr lang="en-US" sz="1400"/>
              <a:t>Forwarder</a:t>
            </a:r>
          </a:p>
        </p:txBody>
      </p:sp>
      <p:pic>
        <p:nvPicPr>
          <p:cNvPr id="29" name="Picture 29" descr="Server01"/>
          <p:cNvPicPr>
            <a:picLocks noChangeAspect="1" noChangeArrowheads="1"/>
          </p:cNvPicPr>
          <p:nvPr/>
        </p:nvPicPr>
        <p:blipFill>
          <a:blip r:embed="rId6">
            <a:grayscl/>
          </a:blip>
          <a:srcRect/>
          <a:stretch>
            <a:fillRect/>
          </a:stretch>
        </p:blipFill>
        <p:spPr bwMode="auto">
          <a:xfrm>
            <a:off x="1846263" y="4729163"/>
            <a:ext cx="958850" cy="1127125"/>
          </a:xfrm>
          <a:prstGeom prst="rect">
            <a:avLst/>
          </a:prstGeom>
          <a:noFill/>
          <a:ln w="9525">
            <a:noFill/>
            <a:miter lim="800000"/>
            <a:headEnd/>
            <a:tailEnd/>
          </a:ln>
        </p:spPr>
      </p:pic>
      <p:sp>
        <p:nvSpPr>
          <p:cNvPr id="30" name="Line 30"/>
          <p:cNvSpPr>
            <a:spLocks noChangeShapeType="1"/>
          </p:cNvSpPr>
          <p:nvPr/>
        </p:nvSpPr>
        <p:spPr bwMode="auto">
          <a:xfrm flipH="1" flipV="1">
            <a:off x="2908300" y="5060950"/>
            <a:ext cx="1681163" cy="569913"/>
          </a:xfrm>
          <a:prstGeom prst="line">
            <a:avLst/>
          </a:prstGeom>
          <a:noFill/>
          <a:ln w="50800">
            <a:solidFill>
              <a:srgbClr val="CC0000"/>
            </a:solidFill>
            <a:round/>
            <a:headEnd/>
            <a:tailEnd type="triangle" w="med" len="med"/>
          </a:ln>
        </p:spPr>
        <p:txBody>
          <a:bodyPr/>
          <a:lstStyle/>
          <a:p>
            <a:endParaRPr lang="en-US" sz="1600"/>
          </a:p>
        </p:txBody>
      </p:sp>
      <p:sp>
        <p:nvSpPr>
          <p:cNvPr id="31" name="Line 31"/>
          <p:cNvSpPr>
            <a:spLocks noChangeShapeType="1"/>
          </p:cNvSpPr>
          <p:nvPr/>
        </p:nvSpPr>
        <p:spPr bwMode="auto">
          <a:xfrm>
            <a:off x="3094038" y="4967288"/>
            <a:ext cx="1522412" cy="533400"/>
          </a:xfrm>
          <a:prstGeom prst="line">
            <a:avLst/>
          </a:prstGeom>
          <a:noFill/>
          <a:ln w="50800" cap="rnd">
            <a:solidFill>
              <a:srgbClr val="CC0000"/>
            </a:solidFill>
            <a:prstDash val="sysDot"/>
            <a:round/>
            <a:headEnd/>
            <a:tailEnd type="triangle" w="med" len="med"/>
          </a:ln>
        </p:spPr>
        <p:txBody>
          <a:bodyPr wrap="none" anchor="ctr"/>
          <a:lstStyle/>
          <a:p>
            <a:endParaRPr lang="en-US" sz="1600"/>
          </a:p>
        </p:txBody>
      </p:sp>
      <p:sp>
        <p:nvSpPr>
          <p:cNvPr id="32" name="Rectangle 32"/>
          <p:cNvSpPr>
            <a:spLocks noChangeArrowheads="1"/>
          </p:cNvSpPr>
          <p:nvPr/>
        </p:nvSpPr>
        <p:spPr bwMode="auto">
          <a:xfrm>
            <a:off x="2303463" y="4584700"/>
            <a:ext cx="914400" cy="914400"/>
          </a:xfrm>
          <a:prstGeom prst="rect">
            <a:avLst/>
          </a:prstGeom>
          <a:noFill/>
          <a:ln w="9525" algn="ctr">
            <a:noFill/>
            <a:miter lim="800000"/>
            <a:headEnd/>
            <a:tailEnd/>
          </a:ln>
        </p:spPr>
        <p:txBody>
          <a:bodyPr wrap="none" anchor="ctr"/>
          <a:lstStyle/>
          <a:p>
            <a:endParaRPr lang="en-US" sz="1600"/>
          </a:p>
        </p:txBody>
      </p:sp>
      <p:sp>
        <p:nvSpPr>
          <p:cNvPr id="33" name="Rectangle 33"/>
          <p:cNvSpPr>
            <a:spLocks noChangeArrowheads="1"/>
          </p:cNvSpPr>
          <p:nvPr/>
        </p:nvSpPr>
        <p:spPr bwMode="auto">
          <a:xfrm rot="1024122">
            <a:off x="2807868" y="5314950"/>
            <a:ext cx="2109788" cy="757238"/>
          </a:xfrm>
          <a:prstGeom prst="rect">
            <a:avLst/>
          </a:prstGeom>
          <a:noFill/>
          <a:ln w="9525" algn="ctr">
            <a:noFill/>
            <a:miter lim="800000"/>
            <a:headEnd/>
            <a:tailEnd/>
          </a:ln>
        </p:spPr>
        <p:txBody>
          <a:bodyPr wrap="none" anchor="ctr"/>
          <a:lstStyle/>
          <a:p>
            <a:r>
              <a:rPr lang="en-US" sz="1400" b="0"/>
              <a:t>Recursive query for </a:t>
            </a:r>
          </a:p>
          <a:p>
            <a:r>
              <a:rPr lang="en-US" sz="1400" b="0"/>
              <a:t>mail1.nwtraders.com</a:t>
            </a:r>
          </a:p>
        </p:txBody>
      </p:sp>
      <p:sp>
        <p:nvSpPr>
          <p:cNvPr id="34" name="Rectangle 34"/>
          <p:cNvSpPr>
            <a:spLocks noChangeArrowheads="1"/>
          </p:cNvSpPr>
          <p:nvPr/>
        </p:nvSpPr>
        <p:spPr bwMode="auto">
          <a:xfrm rot="1033310">
            <a:off x="3157538" y="4814888"/>
            <a:ext cx="1654175" cy="508000"/>
          </a:xfrm>
          <a:prstGeom prst="rect">
            <a:avLst/>
          </a:prstGeom>
          <a:noFill/>
          <a:ln w="9525" algn="ctr">
            <a:noFill/>
            <a:miter lim="800000"/>
            <a:headEnd/>
            <a:tailEnd/>
          </a:ln>
        </p:spPr>
        <p:txBody>
          <a:bodyPr wrap="none" anchor="ctr"/>
          <a:lstStyle/>
          <a:p>
            <a:r>
              <a:rPr lang="en-US" sz="1400" b="0"/>
              <a:t>172.16.64.11</a:t>
            </a:r>
          </a:p>
        </p:txBody>
      </p:sp>
      <p:sp>
        <p:nvSpPr>
          <p:cNvPr id="35" name="Line 35"/>
          <p:cNvSpPr>
            <a:spLocks noChangeShapeType="1"/>
          </p:cNvSpPr>
          <p:nvPr/>
        </p:nvSpPr>
        <p:spPr bwMode="auto">
          <a:xfrm flipV="1">
            <a:off x="2360613" y="3459163"/>
            <a:ext cx="776287" cy="1168400"/>
          </a:xfrm>
          <a:prstGeom prst="line">
            <a:avLst/>
          </a:prstGeom>
          <a:noFill/>
          <a:ln w="50800">
            <a:solidFill>
              <a:srgbClr val="CC0000"/>
            </a:solidFill>
            <a:round/>
            <a:headEnd/>
            <a:tailEnd type="triangle" w="med" len="med"/>
          </a:ln>
        </p:spPr>
        <p:txBody>
          <a:bodyPr/>
          <a:lstStyle/>
          <a:p>
            <a:endParaRPr lang="en-US" sz="1600"/>
          </a:p>
        </p:txBody>
      </p:sp>
      <p:sp>
        <p:nvSpPr>
          <p:cNvPr id="36" name="Line 36"/>
          <p:cNvSpPr>
            <a:spLocks noChangeShapeType="1"/>
          </p:cNvSpPr>
          <p:nvPr/>
        </p:nvSpPr>
        <p:spPr bwMode="auto">
          <a:xfrm flipH="1">
            <a:off x="2551113" y="3594100"/>
            <a:ext cx="709612" cy="1063625"/>
          </a:xfrm>
          <a:prstGeom prst="line">
            <a:avLst/>
          </a:prstGeom>
          <a:noFill/>
          <a:ln w="50800" cap="rnd">
            <a:solidFill>
              <a:srgbClr val="CC0000"/>
            </a:solidFill>
            <a:prstDash val="sysDot"/>
            <a:round/>
            <a:headEnd/>
            <a:tailEnd type="triangle" w="med" len="med"/>
          </a:ln>
        </p:spPr>
        <p:txBody>
          <a:bodyPr wrap="none" anchor="ctr"/>
          <a:lstStyle/>
          <a:p>
            <a:endParaRPr lang="en-US" sz="1600"/>
          </a:p>
        </p:txBody>
      </p:sp>
      <p:sp>
        <p:nvSpPr>
          <p:cNvPr id="37" name="Text Box 37"/>
          <p:cNvSpPr txBox="1">
            <a:spLocks noChangeArrowheads="1"/>
          </p:cNvSpPr>
          <p:nvPr/>
        </p:nvSpPr>
        <p:spPr bwMode="auto">
          <a:xfrm rot="18034437">
            <a:off x="2515965" y="4079180"/>
            <a:ext cx="1214884" cy="307777"/>
          </a:xfrm>
          <a:prstGeom prst="rect">
            <a:avLst/>
          </a:prstGeom>
          <a:noFill/>
          <a:ln w="9525" algn="ctr">
            <a:noFill/>
            <a:miter lim="800000"/>
            <a:headEnd/>
            <a:tailEnd/>
          </a:ln>
        </p:spPr>
        <p:txBody>
          <a:bodyPr wrap="none">
            <a:spAutoFit/>
          </a:bodyPr>
          <a:lstStyle/>
          <a:p>
            <a:r>
              <a:rPr lang="en-US" sz="1400" b="0"/>
              <a:t>172.16.64.11</a:t>
            </a:r>
          </a:p>
        </p:txBody>
      </p:sp>
      <p:sp>
        <p:nvSpPr>
          <p:cNvPr id="38" name="Text Box 38"/>
          <p:cNvSpPr txBox="1">
            <a:spLocks noChangeArrowheads="1"/>
          </p:cNvSpPr>
          <p:nvPr/>
        </p:nvSpPr>
        <p:spPr bwMode="auto">
          <a:xfrm rot="18276063">
            <a:off x="1768912" y="3798986"/>
            <a:ext cx="1518364" cy="307777"/>
          </a:xfrm>
          <a:prstGeom prst="rect">
            <a:avLst/>
          </a:prstGeom>
          <a:noFill/>
          <a:ln w="9525" algn="ctr">
            <a:noFill/>
            <a:miter lim="800000"/>
            <a:headEnd/>
            <a:tailEnd/>
          </a:ln>
        </p:spPr>
        <p:txBody>
          <a:bodyPr wrap="none">
            <a:spAutoFit/>
          </a:bodyPr>
          <a:lstStyle/>
          <a:p>
            <a:r>
              <a:rPr lang="en-US" sz="1400" b="0"/>
              <a:t>Recursive Query</a:t>
            </a:r>
          </a:p>
        </p:txBody>
      </p:sp>
      <p:sp>
        <p:nvSpPr>
          <p:cNvPr id="39" name="AutoShape 25"/>
          <p:cNvSpPr>
            <a:spLocks noChangeArrowheads="1"/>
          </p:cNvSpPr>
          <p:nvPr/>
        </p:nvSpPr>
        <p:spPr bwMode="auto">
          <a:xfrm>
            <a:off x="1662113" y="5783263"/>
            <a:ext cx="1196975" cy="565150"/>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defRPr/>
            </a:pPr>
            <a:r>
              <a:rPr lang="en-US" sz="1400"/>
              <a:t>Local </a:t>
            </a:r>
          </a:p>
          <a:p>
            <a:pPr>
              <a:defRPr/>
            </a:pPr>
            <a:r>
              <a:rPr lang="en-US" sz="1400"/>
              <a:t>DNS Server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right)">
                                      <p:cBhvr>
                                        <p:cTn id="7" dur="1000"/>
                                        <p:tgtEl>
                                          <p:spTgt spid="30"/>
                                        </p:tgtEl>
                                      </p:cBhvr>
                                    </p:animEffect>
                                  </p:childTnLst>
                                </p:cTn>
                              </p:par>
                              <p:par>
                                <p:cTn id="8" presetID="1" presetClass="entr" presetSubtype="0" fill="hold" nodeType="withEffect">
                                  <p:stCondLst>
                                    <p:cond delay="0"/>
                                  </p:stCondLst>
                                  <p:childTnLst>
                                    <p:set>
                                      <p:cBhvr>
                                        <p:cTn id="9" dur="1" fill="hold">
                                          <p:stCondLst>
                                            <p:cond delay="0"/>
                                          </p:stCondLst>
                                        </p:cTn>
                                        <p:tgtEl>
                                          <p:spTgt spid="33">
                                            <p:txEl>
                                              <p:pRg st="0" end="0"/>
                                            </p:txEl>
                                          </p:spTgt>
                                        </p:tgtEl>
                                        <p:attrNameLst>
                                          <p:attrName>style.visibility</p:attrName>
                                        </p:attrNameLst>
                                      </p:cBhvr>
                                      <p:to>
                                        <p:strVal val="visible"/>
                                      </p:to>
                                    </p:set>
                                  </p:childTnLst>
                                </p:cTn>
                              </p:par>
                              <p:par>
                                <p:cTn id="10" presetID="1" presetClass="entr" presetSubtype="0" fill="hold" nodeType="withEffect">
                                  <p:stCondLst>
                                    <p:cond delay="0"/>
                                  </p:stCondLst>
                                  <p:childTnLst>
                                    <p:set>
                                      <p:cBhvr>
                                        <p:cTn id="11" dur="1" fill="hold">
                                          <p:stCondLst>
                                            <p:cond delay="0"/>
                                          </p:stCondLst>
                                        </p:cTn>
                                        <p:tgtEl>
                                          <p:spTgt spid="33">
                                            <p:txEl>
                                              <p:pRg st="1" end="1"/>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grpId="0" nodeType="clickEffect">
                                  <p:stCondLst>
                                    <p:cond delay="0"/>
                                  </p:stCondLst>
                                  <p:childTnLst>
                                    <p:set>
                                      <p:cBhvr>
                                        <p:cTn id="15" dur="1" fill="hold">
                                          <p:stCondLst>
                                            <p:cond delay="0"/>
                                          </p:stCondLst>
                                        </p:cTn>
                                        <p:tgtEl>
                                          <p:spTgt spid="35"/>
                                        </p:tgtEl>
                                        <p:attrNameLst>
                                          <p:attrName>style.visibility</p:attrName>
                                        </p:attrNameLst>
                                      </p:cBhvr>
                                      <p:to>
                                        <p:strVal val="visible"/>
                                      </p:to>
                                    </p:set>
                                    <p:animEffect transition="in" filter="wipe(down)">
                                      <p:cBhvr>
                                        <p:cTn id="16" dur="1000"/>
                                        <p:tgtEl>
                                          <p:spTgt spid="35"/>
                                        </p:tgtEl>
                                      </p:cBhvr>
                                    </p:animEffect>
                                  </p:childTnLst>
                                </p:cTn>
                              </p:par>
                              <p:par>
                                <p:cTn id="17" presetID="1" presetClass="entr" presetSubtype="0" fill="hold" grpId="0" nodeType="with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wipe(left)">
                                      <p:cBhvr>
                                        <p:cTn id="23" dur="1000"/>
                                        <p:tgtEl>
                                          <p:spTgt spid="14"/>
                                        </p:tgtEl>
                                      </p:cBhvr>
                                    </p:animEffect>
                                  </p:childTnLst>
                                </p:cTn>
                              </p:par>
                              <p:par>
                                <p:cTn id="24" presetID="1" presetClass="entr" presetSubtype="0"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childTnLst>
                                </p:cTn>
                              </p:par>
                            </p:childTnLst>
                          </p:cTn>
                        </p:par>
                        <p:par>
                          <p:cTn id="26" fill="hold">
                            <p:stCondLst>
                              <p:cond delay="1000"/>
                            </p:stCondLst>
                            <p:childTnLst>
                              <p:par>
                                <p:cTn id="27" presetID="22" presetClass="entr" presetSubtype="2" fill="hold" grpId="0" nodeType="after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wipe(right)">
                                      <p:cBhvr>
                                        <p:cTn id="29" dur="1000"/>
                                        <p:tgtEl>
                                          <p:spTgt spid="21"/>
                                        </p:tgtEl>
                                      </p:cBhvr>
                                    </p:animEffect>
                                  </p:childTnLst>
                                </p:cTn>
                              </p:par>
                              <p:par>
                                <p:cTn id="30" presetID="1" presetClass="entr" presetSubtype="0" fill="hold" grpId="0" nodeType="withEffect">
                                  <p:stCondLst>
                                    <p:cond delay="0"/>
                                  </p:stCondLst>
                                  <p:childTnLst>
                                    <p:set>
                                      <p:cBhvr>
                                        <p:cTn id="31" dur="1" fill="hold">
                                          <p:stCondLst>
                                            <p:cond delay="0"/>
                                          </p:stCondLst>
                                        </p:cTn>
                                        <p:tgtEl>
                                          <p:spTgt spid="20"/>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left)">
                                      <p:cBhvr>
                                        <p:cTn id="36" dur="1000"/>
                                        <p:tgtEl>
                                          <p:spTgt spid="15"/>
                                        </p:tgtEl>
                                      </p:cBhvr>
                                    </p:animEffect>
                                  </p:childTnLst>
                                </p:cTn>
                              </p:par>
                              <p:par>
                                <p:cTn id="37" presetID="1" presetClass="entr" presetSubtype="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childTnLst>
                          </p:cTn>
                        </p:par>
                        <p:par>
                          <p:cTn id="39" fill="hold">
                            <p:stCondLst>
                              <p:cond delay="1000"/>
                            </p:stCondLst>
                            <p:childTnLst>
                              <p:par>
                                <p:cTn id="40" presetID="22" presetClass="entr" presetSubtype="2" fill="hold" grpId="0" nodeType="after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wipe(right)">
                                      <p:cBhvr>
                                        <p:cTn id="42" dur="1000"/>
                                        <p:tgtEl>
                                          <p:spTgt spid="23"/>
                                        </p:tgtEl>
                                      </p:cBhvr>
                                    </p:animEffect>
                                  </p:childTnLst>
                                </p:cTn>
                              </p:par>
                              <p:par>
                                <p:cTn id="43" presetID="1" presetClass="entr" presetSubtype="0" fill="hold" grpId="0" nodeType="withEffect">
                                  <p:stCondLst>
                                    <p:cond delay="0"/>
                                  </p:stCondLst>
                                  <p:childTnLst>
                                    <p:set>
                                      <p:cBhvr>
                                        <p:cTn id="44" dur="1" fill="hold">
                                          <p:stCondLst>
                                            <p:cond delay="0"/>
                                          </p:stCondLst>
                                        </p:cTn>
                                        <p:tgtEl>
                                          <p:spTgt spid="2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wipe(left)">
                                      <p:cBhvr>
                                        <p:cTn id="49" dur="1000"/>
                                        <p:tgtEl>
                                          <p:spTgt spid="16"/>
                                        </p:tgtEl>
                                      </p:cBhvr>
                                    </p:animEffect>
                                  </p:childTnLst>
                                </p:cTn>
                              </p:par>
                              <p:par>
                                <p:cTn id="50" presetID="1"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childTnLst>
                                </p:cTn>
                              </p:par>
                            </p:childTnLst>
                          </p:cTn>
                        </p:par>
                        <p:par>
                          <p:cTn id="52" fill="hold">
                            <p:stCondLst>
                              <p:cond delay="1000"/>
                            </p:stCondLst>
                            <p:childTnLst>
                              <p:par>
                                <p:cTn id="53" presetID="22" presetClass="entr" presetSubtype="2" fill="hold" grpId="0" nodeType="after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wipe(right)">
                                      <p:cBhvr>
                                        <p:cTn id="55" dur="1000"/>
                                        <p:tgtEl>
                                          <p:spTgt spid="22"/>
                                        </p:tgtEl>
                                      </p:cBhvr>
                                    </p:animEffect>
                                  </p:childTnLst>
                                </p:cTn>
                              </p:par>
                              <p:par>
                                <p:cTn id="56" presetID="1" presetClass="entr" presetSubtype="0" fill="hold" nodeType="withEffect">
                                  <p:stCondLst>
                                    <p:cond delay="0"/>
                                  </p:stCondLst>
                                  <p:childTnLst>
                                    <p:set>
                                      <p:cBhvr>
                                        <p:cTn id="57" dur="1" fill="hold">
                                          <p:stCondLst>
                                            <p:cond delay="0"/>
                                          </p:stCondLst>
                                        </p:cTn>
                                        <p:tgtEl>
                                          <p:spTgt spid="25">
                                            <p:txEl>
                                              <p:pRg st="0" end="0"/>
                                            </p:txEl>
                                          </p:spTgt>
                                        </p:tgtEl>
                                        <p:attrNameLst>
                                          <p:attrName>style.visibility</p:attrName>
                                        </p:attrNameLst>
                                      </p:cBhvr>
                                      <p:to>
                                        <p:strVal val="visible"/>
                                      </p:to>
                                    </p:set>
                                  </p:childTnLst>
                                </p:cTn>
                              </p:par>
                            </p:childTnLst>
                          </p:cTn>
                        </p:par>
                        <p:par>
                          <p:cTn id="58" fill="hold">
                            <p:stCondLst>
                              <p:cond delay="2000"/>
                            </p:stCondLst>
                            <p:childTnLst>
                              <p:par>
                                <p:cTn id="59" presetID="22" presetClass="entr" presetSubtype="1" fill="hold" grpId="0" nodeType="afterEffect">
                                  <p:stCondLst>
                                    <p:cond delay="0"/>
                                  </p:stCondLst>
                                  <p:childTnLst>
                                    <p:set>
                                      <p:cBhvr>
                                        <p:cTn id="60" dur="1" fill="hold">
                                          <p:stCondLst>
                                            <p:cond delay="0"/>
                                          </p:stCondLst>
                                        </p:cTn>
                                        <p:tgtEl>
                                          <p:spTgt spid="36"/>
                                        </p:tgtEl>
                                        <p:attrNameLst>
                                          <p:attrName>style.visibility</p:attrName>
                                        </p:attrNameLst>
                                      </p:cBhvr>
                                      <p:to>
                                        <p:strVal val="visible"/>
                                      </p:to>
                                    </p:set>
                                    <p:animEffect transition="in" filter="wipe(up)">
                                      <p:cBhvr>
                                        <p:cTn id="61" dur="1000"/>
                                        <p:tgtEl>
                                          <p:spTgt spid="36"/>
                                        </p:tgtEl>
                                      </p:cBhvr>
                                    </p:animEffect>
                                  </p:childTnLst>
                                </p:cTn>
                              </p:par>
                              <p:par>
                                <p:cTn id="62" presetID="1" presetClass="entr" presetSubtype="0" fill="hold" grpId="0" nodeType="withEffect">
                                  <p:stCondLst>
                                    <p:cond delay="0"/>
                                  </p:stCondLst>
                                  <p:childTnLst>
                                    <p:set>
                                      <p:cBhvr>
                                        <p:cTn id="63" dur="1" fill="hold">
                                          <p:stCondLst>
                                            <p:cond delay="0"/>
                                          </p:stCondLst>
                                        </p:cTn>
                                        <p:tgtEl>
                                          <p:spTgt spid="37"/>
                                        </p:tgtEl>
                                        <p:attrNameLst>
                                          <p:attrName>style.visibility</p:attrName>
                                        </p:attrNameLst>
                                      </p:cBhvr>
                                      <p:to>
                                        <p:strVal val="visible"/>
                                      </p:to>
                                    </p:set>
                                  </p:childTnLst>
                                </p:cTn>
                              </p:par>
                            </p:childTnLst>
                          </p:cTn>
                        </p:par>
                        <p:par>
                          <p:cTn id="64" fill="hold">
                            <p:stCondLst>
                              <p:cond delay="3000"/>
                            </p:stCondLst>
                            <p:childTnLst>
                              <p:par>
                                <p:cTn id="65" presetID="22" presetClass="entr" presetSubtype="8" fill="hold" grpId="0" nodeType="afterEffect">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wipe(left)">
                                      <p:cBhvr>
                                        <p:cTn id="67" dur="1000"/>
                                        <p:tgtEl>
                                          <p:spTgt spid="31"/>
                                        </p:tgtEl>
                                      </p:cBhvr>
                                    </p:animEffect>
                                  </p:childTnLst>
                                </p:cTn>
                              </p:par>
                              <p:par>
                                <p:cTn id="68" presetID="1" presetClass="entr" presetSubtype="0" fill="hold" grpId="0" nodeType="withEffect">
                                  <p:stCondLst>
                                    <p:cond delay="0"/>
                                  </p:stCondLst>
                                  <p:childTnLst>
                                    <p:set>
                                      <p:cBhvr>
                                        <p:cTn id="69"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p:bldP spid="18" grpId="0"/>
      <p:bldP spid="19" grpId="0"/>
      <p:bldP spid="20" grpId="0"/>
      <p:bldP spid="21" grpId="0" animBg="1"/>
      <p:bldP spid="22" grpId="0" animBg="1"/>
      <p:bldP spid="23" grpId="0" animBg="1"/>
      <p:bldP spid="24" grpId="0"/>
      <p:bldP spid="30" grpId="0" animBg="1"/>
      <p:bldP spid="31" grpId="0" animBg="1"/>
      <p:bldP spid="34" grpId="0"/>
      <p:bldP spid="35" grpId="0" animBg="1"/>
      <p:bldP spid="36" grpId="0" animBg="1"/>
      <p:bldP spid="37" grpId="0"/>
      <p:bldP spid="3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vi-VN" smtClean="0"/>
              <a:t>là phương  thức ánh xạ  tên miền   tới địa chỉ  IP có  tần xuất  thay đổi cao. </a:t>
            </a:r>
            <a:endParaRPr lang="en-US" smtClean="0"/>
          </a:p>
          <a:p>
            <a:r>
              <a:rPr lang="vi-VN" smtClean="0"/>
              <a:t>Dynamic DNS cung cấp một chương trình đặc biệt chạy trên máy tính của </a:t>
            </a:r>
            <a:r>
              <a:rPr lang="en-US" smtClean="0"/>
              <a:t>NSD là </a:t>
            </a:r>
            <a:r>
              <a:rPr lang="vi-VN" smtClean="0"/>
              <a:t>Dynamic Dns Client</a:t>
            </a:r>
            <a:r>
              <a:rPr lang="en-US" smtClean="0"/>
              <a:t> </a:t>
            </a:r>
          </a:p>
          <a:p>
            <a:pPr>
              <a:buNone/>
            </a:pPr>
            <a:r>
              <a:rPr lang="en-US" sz="2600" smtClean="0"/>
              <a:t>	(G</a:t>
            </a:r>
            <a:r>
              <a:rPr lang="vi-VN" sz="2600" smtClean="0"/>
              <a:t>iám  sát sự  thay đổi địa  chỉ  IP  tại host và liên hệ với hệ thống DNS mỗi khi địa chỉ IP của host thay đổi và sau đó update thông tin vào </a:t>
            </a:r>
            <a:r>
              <a:rPr lang="en-US" sz="2600" smtClean="0"/>
              <a:t>CSDL </a:t>
            </a:r>
            <a:r>
              <a:rPr lang="vi-VN" sz="2600" smtClean="0"/>
              <a:t>DNS về sự thay đổi địa chỉ đó</a:t>
            </a:r>
            <a:r>
              <a:rPr lang="en-US" sz="2600" smtClean="0"/>
              <a:t>)</a:t>
            </a:r>
            <a:r>
              <a:rPr lang="vi-VN" smtClean="0"/>
              <a:t>. </a:t>
            </a:r>
          </a:p>
          <a:p>
            <a:r>
              <a:rPr lang="vi-VN" smtClean="0"/>
              <a:t> DNS Client đăng ký và cập nhật resource record của nó bằng cách gởi dynamic update.</a:t>
            </a:r>
            <a:endParaRPr lang="en-US"/>
          </a:p>
        </p:txBody>
      </p:sp>
      <p:sp>
        <p:nvSpPr>
          <p:cNvPr id="3" name="Title 2"/>
          <p:cNvSpPr>
            <a:spLocks noGrp="1"/>
          </p:cNvSpPr>
          <p:nvPr>
            <p:ph type="title"/>
          </p:nvPr>
        </p:nvSpPr>
        <p:spPr/>
        <p:txBody>
          <a:bodyPr/>
          <a:lstStyle/>
          <a:p>
            <a:r>
              <a:rPr lang="en-US" smtClean="0"/>
              <a:t>IV.5. </a:t>
            </a:r>
            <a:r>
              <a:rPr lang="vi-VN" smtClean="0"/>
              <a:t>Dynamic DNS </a:t>
            </a:r>
            <a:endParaRPr lang="en-US"/>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a:p>
        </p:txBody>
      </p:sp>
      <p:sp>
        <p:nvSpPr>
          <p:cNvPr id="3" name="Title 2"/>
          <p:cNvSpPr>
            <a:spLocks noGrp="1"/>
          </p:cNvSpPr>
          <p:nvPr>
            <p:ph type="title"/>
          </p:nvPr>
        </p:nvSpPr>
        <p:spPr/>
        <p:txBody>
          <a:bodyPr/>
          <a:lstStyle/>
          <a:p>
            <a:r>
              <a:rPr lang="en-US" smtClean="0"/>
              <a:t>Cập nhật RR tự động từ DNS Client</a:t>
            </a:r>
            <a:endParaRPr lang="en-US"/>
          </a:p>
        </p:txBody>
      </p:sp>
      <p:grpSp>
        <p:nvGrpSpPr>
          <p:cNvPr id="5" name="Group 4"/>
          <p:cNvGrpSpPr/>
          <p:nvPr/>
        </p:nvGrpSpPr>
        <p:grpSpPr>
          <a:xfrm>
            <a:off x="669925" y="1322388"/>
            <a:ext cx="7742238" cy="5078412"/>
            <a:chOff x="669925" y="1322388"/>
            <a:chExt cx="7742238" cy="5078412"/>
          </a:xfrm>
        </p:grpSpPr>
        <p:sp>
          <p:nvSpPr>
            <p:cNvPr id="6" name="Freeform 3"/>
            <p:cNvSpPr>
              <a:spLocks/>
            </p:cNvSpPr>
            <p:nvPr/>
          </p:nvSpPr>
          <p:spPr bwMode="auto">
            <a:xfrm>
              <a:off x="2987675" y="1558925"/>
              <a:ext cx="811213" cy="914400"/>
            </a:xfrm>
            <a:custGeom>
              <a:avLst/>
              <a:gdLst/>
              <a:ahLst/>
              <a:cxnLst>
                <a:cxn ang="0">
                  <a:pos x="0" y="503"/>
                </a:cxn>
                <a:cxn ang="0">
                  <a:pos x="422" y="0"/>
                </a:cxn>
                <a:cxn ang="0">
                  <a:pos x="511" y="576"/>
                </a:cxn>
                <a:cxn ang="0">
                  <a:pos x="0" y="503"/>
                </a:cxn>
              </a:cxnLst>
              <a:rect l="0" t="0" r="r" b="b"/>
              <a:pathLst>
                <a:path w="511" h="576">
                  <a:moveTo>
                    <a:pt x="0" y="503"/>
                  </a:moveTo>
                  <a:lnTo>
                    <a:pt x="422" y="0"/>
                  </a:lnTo>
                  <a:lnTo>
                    <a:pt x="511" y="576"/>
                  </a:lnTo>
                  <a:lnTo>
                    <a:pt x="0" y="503"/>
                  </a:lnTo>
                  <a:close/>
                </a:path>
              </a:pathLst>
            </a:custGeom>
            <a:solidFill>
              <a:schemeClr val="accent2">
                <a:alpha val="50000"/>
              </a:schemeClr>
            </a:solidFill>
            <a:ln w="9525" cap="flat" cmpd="sng">
              <a:noFill/>
              <a:prstDash val="solid"/>
              <a:round/>
              <a:headEnd type="none" w="med" len="med"/>
              <a:tailEnd type="none" w="med" len="med"/>
            </a:ln>
            <a:effectLst/>
          </p:spPr>
          <p:txBody>
            <a:bodyPr anchor="ctr"/>
            <a:lstStyle/>
            <a:p>
              <a:endParaRPr lang="en-US" sz="1700">
                <a:latin typeface="Arial" pitchFamily="34" charset="0"/>
                <a:cs typeface="Arial" pitchFamily="34" charset="0"/>
              </a:endParaRPr>
            </a:p>
          </p:txBody>
        </p:sp>
        <p:sp>
          <p:nvSpPr>
            <p:cNvPr id="7" name="AutoShape 4"/>
            <p:cNvSpPr>
              <a:spLocks noChangeArrowheads="1"/>
            </p:cNvSpPr>
            <p:nvPr/>
          </p:nvSpPr>
          <p:spPr bwMode="auto">
            <a:xfrm>
              <a:off x="5097463" y="1838325"/>
              <a:ext cx="3314700" cy="4562475"/>
            </a:xfrm>
            <a:prstGeom prst="roundRect">
              <a:avLst>
                <a:gd name="adj" fmla="val 4167"/>
              </a:avLst>
            </a:prstGeom>
            <a:solidFill>
              <a:srgbClr val="B3C8DF"/>
            </a:solidFill>
            <a:ln w="9525">
              <a:solidFill>
                <a:srgbClr val="4D4D4D"/>
              </a:solidFill>
              <a:round/>
              <a:headEnd/>
              <a:tailEnd/>
            </a:ln>
            <a:effectLst>
              <a:outerShdw dist="35921" dir="2700000" algn="ctr" rotWithShape="0">
                <a:srgbClr val="AFAFAF"/>
              </a:outerShdw>
            </a:effectLst>
          </p:spPr>
          <p:txBody>
            <a:bodyPr/>
            <a:lstStyle/>
            <a:p>
              <a:pPr eaLnBrk="0" hangingPunct="0"/>
              <a:endParaRPr lang="en-US" sz="1700" b="1">
                <a:latin typeface="Arial" pitchFamily="34" charset="0"/>
                <a:cs typeface="Arial" pitchFamily="34" charset="0"/>
              </a:endParaRPr>
            </a:p>
          </p:txBody>
        </p:sp>
        <p:sp>
          <p:nvSpPr>
            <p:cNvPr id="8" name="AutoShape 5"/>
            <p:cNvSpPr>
              <a:spLocks noChangeArrowheads="1"/>
            </p:cNvSpPr>
            <p:nvPr/>
          </p:nvSpPr>
          <p:spPr bwMode="auto">
            <a:xfrm>
              <a:off x="5422900" y="1960563"/>
              <a:ext cx="2843213" cy="544512"/>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lIns="274320" anchor="ctr"/>
            <a:lstStyle/>
            <a:p>
              <a:pPr eaLnBrk="0" hangingPunct="0">
                <a:lnSpc>
                  <a:spcPct val="85000"/>
                </a:lnSpc>
              </a:pPr>
              <a:r>
                <a:rPr lang="en-US" sz="1700" b="1">
                  <a:latin typeface="Arial" pitchFamily="34" charset="0"/>
                  <a:cs typeface="Arial" pitchFamily="34" charset="0"/>
                </a:rPr>
                <a:t>Client gởi SOA query </a:t>
              </a:r>
            </a:p>
          </p:txBody>
        </p:sp>
        <p:sp>
          <p:nvSpPr>
            <p:cNvPr id="9" name="AutoShape 6"/>
            <p:cNvSpPr>
              <a:spLocks noChangeArrowheads="1"/>
            </p:cNvSpPr>
            <p:nvPr/>
          </p:nvSpPr>
          <p:spPr bwMode="auto">
            <a:xfrm>
              <a:off x="5238750" y="2039938"/>
              <a:ext cx="338138" cy="393700"/>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pPr algn="ctr" eaLnBrk="0" hangingPunct="0"/>
              <a:r>
                <a:rPr lang="en-US" sz="1700" b="1">
                  <a:solidFill>
                    <a:srgbClr val="990033"/>
                  </a:solidFill>
                  <a:latin typeface="Arial" pitchFamily="34" charset="0"/>
                  <a:cs typeface="Arial" pitchFamily="34" charset="0"/>
                </a:rPr>
                <a:t>1</a:t>
              </a:r>
            </a:p>
          </p:txBody>
        </p:sp>
        <p:sp>
          <p:nvSpPr>
            <p:cNvPr id="10" name="AutoShape 7"/>
            <p:cNvSpPr>
              <a:spLocks noChangeArrowheads="1"/>
            </p:cNvSpPr>
            <p:nvPr/>
          </p:nvSpPr>
          <p:spPr bwMode="auto">
            <a:xfrm>
              <a:off x="5422900" y="2624138"/>
              <a:ext cx="2843213" cy="822325"/>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lIns="274320" anchor="ctr"/>
            <a:lstStyle/>
            <a:p>
              <a:pPr eaLnBrk="0" hangingPunct="0">
                <a:lnSpc>
                  <a:spcPct val="85000"/>
                </a:lnSpc>
              </a:pPr>
              <a:r>
                <a:rPr lang="en-US" sz="1700" b="1">
                  <a:latin typeface="Arial" pitchFamily="34" charset="0"/>
                  <a:cs typeface="Arial" pitchFamily="34" charset="0"/>
                </a:rPr>
                <a:t>DNS server gởi zone name và server IP address</a:t>
              </a:r>
            </a:p>
          </p:txBody>
        </p:sp>
        <p:sp>
          <p:nvSpPr>
            <p:cNvPr id="11" name="AutoShape 8"/>
            <p:cNvSpPr>
              <a:spLocks noChangeArrowheads="1"/>
            </p:cNvSpPr>
            <p:nvPr/>
          </p:nvSpPr>
          <p:spPr bwMode="auto">
            <a:xfrm>
              <a:off x="5211763" y="2813050"/>
              <a:ext cx="338137" cy="393700"/>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pPr algn="ctr" eaLnBrk="0" hangingPunct="0"/>
              <a:r>
                <a:rPr lang="en-US" sz="1700" b="1">
                  <a:solidFill>
                    <a:srgbClr val="990033"/>
                  </a:solidFill>
                  <a:latin typeface="Arial" pitchFamily="34" charset="0"/>
                  <a:cs typeface="Arial" pitchFamily="34" charset="0"/>
                </a:rPr>
                <a:t>2</a:t>
              </a:r>
            </a:p>
          </p:txBody>
        </p:sp>
        <p:sp>
          <p:nvSpPr>
            <p:cNvPr id="12" name="AutoShape 9"/>
            <p:cNvSpPr>
              <a:spLocks noChangeArrowheads="1"/>
            </p:cNvSpPr>
            <p:nvPr/>
          </p:nvSpPr>
          <p:spPr bwMode="auto">
            <a:xfrm>
              <a:off x="5410200" y="3619500"/>
              <a:ext cx="2843213" cy="544513"/>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lIns="274320" anchor="ctr"/>
            <a:lstStyle/>
            <a:p>
              <a:pPr eaLnBrk="0" hangingPunct="0">
                <a:lnSpc>
                  <a:spcPct val="85000"/>
                </a:lnSpc>
              </a:pPr>
              <a:r>
                <a:rPr lang="en-US" sz="1700" b="1">
                  <a:latin typeface="Arial" pitchFamily="34" charset="0"/>
                  <a:cs typeface="Arial" pitchFamily="34" charset="0"/>
                </a:rPr>
                <a:t>Client kiểm tra đã đăng ký chưa</a:t>
              </a:r>
            </a:p>
          </p:txBody>
        </p:sp>
        <p:sp>
          <p:nvSpPr>
            <p:cNvPr id="13" name="AutoShape 10"/>
            <p:cNvSpPr>
              <a:spLocks noChangeArrowheads="1"/>
            </p:cNvSpPr>
            <p:nvPr/>
          </p:nvSpPr>
          <p:spPr bwMode="auto">
            <a:xfrm>
              <a:off x="5226050" y="3667125"/>
              <a:ext cx="338138" cy="393700"/>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pPr algn="ctr" eaLnBrk="0" hangingPunct="0"/>
              <a:r>
                <a:rPr lang="en-US" sz="1700" b="1">
                  <a:solidFill>
                    <a:srgbClr val="990033"/>
                  </a:solidFill>
                  <a:latin typeface="Arial" pitchFamily="34" charset="0"/>
                  <a:cs typeface="Arial" pitchFamily="34" charset="0"/>
                </a:rPr>
                <a:t>3</a:t>
              </a:r>
            </a:p>
          </p:txBody>
        </p:sp>
        <p:sp>
          <p:nvSpPr>
            <p:cNvPr id="14" name="AutoShape 11"/>
            <p:cNvSpPr>
              <a:spLocks noChangeArrowheads="1"/>
            </p:cNvSpPr>
            <p:nvPr/>
          </p:nvSpPr>
          <p:spPr bwMode="auto">
            <a:xfrm>
              <a:off x="5368925" y="4283075"/>
              <a:ext cx="2843213" cy="763588"/>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lIns="274320" anchor="ctr"/>
            <a:lstStyle/>
            <a:p>
              <a:pPr eaLnBrk="0" hangingPunct="0">
                <a:lnSpc>
                  <a:spcPct val="85000"/>
                </a:lnSpc>
              </a:pPr>
              <a:r>
                <a:rPr lang="en-US" sz="1700" b="1">
                  <a:latin typeface="Arial" pitchFamily="34" charset="0"/>
                  <a:cs typeface="Arial" pitchFamily="34" charset="0"/>
                </a:rPr>
                <a:t>DNS server trả lời trạng thái chưa đăng ký</a:t>
              </a:r>
            </a:p>
          </p:txBody>
        </p:sp>
        <p:sp>
          <p:nvSpPr>
            <p:cNvPr id="15" name="AutoShape 12"/>
            <p:cNvSpPr>
              <a:spLocks noChangeArrowheads="1"/>
            </p:cNvSpPr>
            <p:nvPr/>
          </p:nvSpPr>
          <p:spPr bwMode="auto">
            <a:xfrm>
              <a:off x="5410200" y="5207000"/>
              <a:ext cx="2843213" cy="544513"/>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lIns="274320" anchor="ctr"/>
            <a:lstStyle/>
            <a:p>
              <a:pPr eaLnBrk="0" hangingPunct="0">
                <a:lnSpc>
                  <a:spcPct val="85000"/>
                </a:lnSpc>
              </a:pPr>
              <a:r>
                <a:rPr lang="en-US" sz="1700" b="1">
                  <a:latin typeface="Arial" pitchFamily="34" charset="0"/>
                  <a:cs typeface="Arial" pitchFamily="34" charset="0"/>
                </a:rPr>
                <a:t>Client gởi dynamic update tới  DNS server</a:t>
              </a:r>
            </a:p>
          </p:txBody>
        </p:sp>
        <p:sp>
          <p:nvSpPr>
            <p:cNvPr id="16" name="AutoShape 13"/>
            <p:cNvSpPr>
              <a:spLocks noChangeArrowheads="1"/>
            </p:cNvSpPr>
            <p:nvPr/>
          </p:nvSpPr>
          <p:spPr bwMode="auto">
            <a:xfrm>
              <a:off x="5199063" y="5286375"/>
              <a:ext cx="338137" cy="393700"/>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pPr algn="ctr" eaLnBrk="0" hangingPunct="0"/>
              <a:r>
                <a:rPr lang="en-US" sz="1700" b="1">
                  <a:solidFill>
                    <a:srgbClr val="990033"/>
                  </a:solidFill>
                  <a:latin typeface="Arial" pitchFamily="34" charset="0"/>
                  <a:cs typeface="Arial" pitchFamily="34" charset="0"/>
                </a:rPr>
                <a:t>5</a:t>
              </a:r>
            </a:p>
          </p:txBody>
        </p:sp>
        <p:grpSp>
          <p:nvGrpSpPr>
            <p:cNvPr id="17" name="Group 14"/>
            <p:cNvGrpSpPr>
              <a:grpSpLocks/>
            </p:cNvGrpSpPr>
            <p:nvPr/>
          </p:nvGrpSpPr>
          <p:grpSpPr bwMode="auto">
            <a:xfrm>
              <a:off x="1795463" y="1322388"/>
              <a:ext cx="1636712" cy="1525587"/>
              <a:chOff x="1205" y="1577"/>
              <a:chExt cx="1088" cy="1014"/>
            </a:xfrm>
          </p:grpSpPr>
          <p:pic>
            <p:nvPicPr>
              <p:cNvPr id="46" name="Picture 15" descr="Server01"/>
              <p:cNvPicPr>
                <a:picLocks noChangeAspect="1" noChangeArrowheads="1"/>
              </p:cNvPicPr>
              <p:nvPr/>
            </p:nvPicPr>
            <p:blipFill>
              <a:blip r:embed="rId2" cstate="print"/>
              <a:srcRect/>
              <a:stretch>
                <a:fillRect/>
              </a:stretch>
            </p:blipFill>
            <p:spPr bwMode="auto">
              <a:xfrm>
                <a:off x="1205" y="1577"/>
                <a:ext cx="815" cy="958"/>
              </a:xfrm>
              <a:prstGeom prst="rect">
                <a:avLst/>
              </a:prstGeom>
              <a:noFill/>
            </p:spPr>
          </p:pic>
          <p:pic>
            <p:nvPicPr>
              <p:cNvPr id="47" name="Picture 16" descr="Database01"/>
              <p:cNvPicPr>
                <a:picLocks noChangeAspect="1" noChangeArrowheads="1"/>
              </p:cNvPicPr>
              <p:nvPr/>
            </p:nvPicPr>
            <p:blipFill>
              <a:blip r:embed="rId3" cstate="print"/>
              <a:srcRect/>
              <a:stretch>
                <a:fillRect/>
              </a:stretch>
            </p:blipFill>
            <p:spPr bwMode="auto">
              <a:xfrm>
                <a:off x="1721" y="2128"/>
                <a:ext cx="572" cy="463"/>
              </a:xfrm>
              <a:prstGeom prst="rect">
                <a:avLst/>
              </a:prstGeom>
              <a:noFill/>
            </p:spPr>
          </p:pic>
        </p:grpSp>
        <p:pic>
          <p:nvPicPr>
            <p:cNvPr id="18" name="Picture 17" descr="Computer_DesktopComputerSansKeyboard01"/>
            <p:cNvPicPr>
              <a:picLocks noChangeAspect="1" noChangeArrowheads="1"/>
            </p:cNvPicPr>
            <p:nvPr/>
          </p:nvPicPr>
          <p:blipFill>
            <a:blip r:embed="rId4" cstate="print"/>
            <a:srcRect/>
            <a:stretch>
              <a:fillRect/>
            </a:stretch>
          </p:blipFill>
          <p:spPr bwMode="auto">
            <a:xfrm>
              <a:off x="3821113" y="4625975"/>
              <a:ext cx="787400" cy="962025"/>
            </a:xfrm>
            <a:prstGeom prst="rect">
              <a:avLst/>
            </a:prstGeom>
            <a:noFill/>
          </p:spPr>
        </p:pic>
        <p:pic>
          <p:nvPicPr>
            <p:cNvPr id="19" name="Picture 18" descr="Computer_DesktopComputerSansKeyboard01"/>
            <p:cNvPicPr>
              <a:picLocks noChangeAspect="1" noChangeArrowheads="1"/>
            </p:cNvPicPr>
            <p:nvPr/>
          </p:nvPicPr>
          <p:blipFill>
            <a:blip r:embed="rId4" cstate="print"/>
            <a:srcRect/>
            <a:stretch>
              <a:fillRect/>
            </a:stretch>
          </p:blipFill>
          <p:spPr bwMode="auto">
            <a:xfrm>
              <a:off x="2544763" y="4625975"/>
              <a:ext cx="787400" cy="962025"/>
            </a:xfrm>
            <a:prstGeom prst="rect">
              <a:avLst/>
            </a:prstGeom>
            <a:noFill/>
          </p:spPr>
        </p:pic>
        <p:pic>
          <p:nvPicPr>
            <p:cNvPr id="20" name="Picture 19" descr="Server01"/>
            <p:cNvPicPr>
              <a:picLocks noChangeAspect="1" noChangeArrowheads="1"/>
            </p:cNvPicPr>
            <p:nvPr/>
          </p:nvPicPr>
          <p:blipFill>
            <a:blip r:embed="rId5" cstate="print"/>
            <a:srcRect/>
            <a:stretch>
              <a:fillRect/>
            </a:stretch>
          </p:blipFill>
          <p:spPr bwMode="auto">
            <a:xfrm>
              <a:off x="1122363" y="4492625"/>
              <a:ext cx="920750" cy="1082675"/>
            </a:xfrm>
            <a:prstGeom prst="rect">
              <a:avLst/>
            </a:prstGeom>
            <a:noFill/>
          </p:spPr>
        </p:pic>
        <p:sp>
          <p:nvSpPr>
            <p:cNvPr id="21" name="AutoShape 20"/>
            <p:cNvSpPr>
              <a:spLocks noChangeArrowheads="1"/>
            </p:cNvSpPr>
            <p:nvPr/>
          </p:nvSpPr>
          <p:spPr bwMode="auto">
            <a:xfrm>
              <a:off x="958850" y="5656263"/>
              <a:ext cx="1284288" cy="504825"/>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gn="ctr" eaLnBrk="0" hangingPunct="0">
                <a:lnSpc>
                  <a:spcPct val="85000"/>
                </a:lnSpc>
              </a:pPr>
              <a:r>
                <a:rPr lang="en-US" sz="1700" b="1">
                  <a:latin typeface="Arial" pitchFamily="34" charset="0"/>
                  <a:cs typeface="Arial" pitchFamily="34" charset="0"/>
                </a:rPr>
                <a:t>Windows </a:t>
              </a:r>
            </a:p>
            <a:p>
              <a:pPr algn="ctr" eaLnBrk="0" hangingPunct="0">
                <a:lnSpc>
                  <a:spcPct val="85000"/>
                </a:lnSpc>
              </a:pPr>
              <a:r>
                <a:rPr lang="en-US" sz="1700" b="1">
                  <a:latin typeface="Arial" pitchFamily="34" charset="0"/>
                  <a:cs typeface="Arial" pitchFamily="34" charset="0"/>
                </a:rPr>
                <a:t>Server 2003</a:t>
              </a:r>
            </a:p>
          </p:txBody>
        </p:sp>
        <p:sp>
          <p:nvSpPr>
            <p:cNvPr id="22" name="AutoShape 21"/>
            <p:cNvSpPr>
              <a:spLocks noChangeArrowheads="1"/>
            </p:cNvSpPr>
            <p:nvPr/>
          </p:nvSpPr>
          <p:spPr bwMode="auto">
            <a:xfrm>
              <a:off x="2419350" y="5643563"/>
              <a:ext cx="1042988" cy="504825"/>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gn="ctr" eaLnBrk="0" hangingPunct="0">
                <a:lnSpc>
                  <a:spcPct val="85000"/>
                </a:lnSpc>
              </a:pPr>
              <a:r>
                <a:rPr lang="en-US" sz="1700" b="1">
                  <a:latin typeface="Arial" pitchFamily="34" charset="0"/>
                  <a:cs typeface="Arial" pitchFamily="34" charset="0"/>
                </a:rPr>
                <a:t>Windows </a:t>
              </a:r>
            </a:p>
            <a:p>
              <a:pPr algn="ctr" eaLnBrk="0" hangingPunct="0">
                <a:lnSpc>
                  <a:spcPct val="85000"/>
                </a:lnSpc>
              </a:pPr>
              <a:r>
                <a:rPr lang="en-US" sz="1700" b="1">
                  <a:latin typeface="Arial" pitchFamily="34" charset="0"/>
                  <a:cs typeface="Arial" pitchFamily="34" charset="0"/>
                </a:rPr>
                <a:t>XP</a:t>
              </a:r>
            </a:p>
          </p:txBody>
        </p:sp>
        <p:sp>
          <p:nvSpPr>
            <p:cNvPr id="23" name="AutoShape 22"/>
            <p:cNvSpPr>
              <a:spLocks noChangeArrowheads="1"/>
            </p:cNvSpPr>
            <p:nvPr/>
          </p:nvSpPr>
          <p:spPr bwMode="auto">
            <a:xfrm>
              <a:off x="3638550" y="5630863"/>
              <a:ext cx="1042988" cy="504825"/>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gn="ctr" eaLnBrk="0" hangingPunct="0">
                <a:lnSpc>
                  <a:spcPct val="85000"/>
                </a:lnSpc>
              </a:pPr>
              <a:r>
                <a:rPr lang="en-US" sz="1700" b="1">
                  <a:latin typeface="Arial" pitchFamily="34" charset="0"/>
                  <a:cs typeface="Arial" pitchFamily="34" charset="0"/>
                </a:rPr>
                <a:t>Windows </a:t>
              </a:r>
            </a:p>
            <a:p>
              <a:pPr algn="ctr" eaLnBrk="0" hangingPunct="0">
                <a:lnSpc>
                  <a:spcPct val="85000"/>
                </a:lnSpc>
              </a:pPr>
              <a:r>
                <a:rPr lang="en-US" sz="1700" b="1">
                  <a:latin typeface="Arial" pitchFamily="34" charset="0"/>
                  <a:cs typeface="Arial" pitchFamily="34" charset="0"/>
                </a:rPr>
                <a:t>2000</a:t>
              </a:r>
            </a:p>
          </p:txBody>
        </p:sp>
        <p:sp>
          <p:nvSpPr>
            <p:cNvPr id="24" name="AutoShape 23"/>
            <p:cNvSpPr>
              <a:spLocks noChangeArrowheads="1"/>
            </p:cNvSpPr>
            <p:nvPr/>
          </p:nvSpPr>
          <p:spPr bwMode="auto">
            <a:xfrm>
              <a:off x="669925" y="1814513"/>
              <a:ext cx="1273175" cy="349250"/>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gn="ctr" eaLnBrk="0" hangingPunct="0">
                <a:lnSpc>
                  <a:spcPct val="85000"/>
                </a:lnSpc>
              </a:pPr>
              <a:r>
                <a:rPr lang="en-US" sz="1700" b="1">
                  <a:latin typeface="Arial" pitchFamily="34" charset="0"/>
                  <a:cs typeface="Arial" pitchFamily="34" charset="0"/>
                </a:rPr>
                <a:t>DNS Server</a:t>
              </a:r>
            </a:p>
          </p:txBody>
        </p:sp>
        <p:grpSp>
          <p:nvGrpSpPr>
            <p:cNvPr id="25" name="Group 24"/>
            <p:cNvGrpSpPr>
              <a:grpSpLocks/>
            </p:cNvGrpSpPr>
            <p:nvPr/>
          </p:nvGrpSpPr>
          <p:grpSpPr bwMode="auto">
            <a:xfrm>
              <a:off x="3646488" y="1319215"/>
              <a:ext cx="1079500" cy="1365252"/>
              <a:chOff x="2175" y="847"/>
              <a:chExt cx="680" cy="860"/>
            </a:xfrm>
          </p:grpSpPr>
          <p:grpSp>
            <p:nvGrpSpPr>
              <p:cNvPr id="41" name="Group 25"/>
              <p:cNvGrpSpPr>
                <a:grpSpLocks/>
              </p:cNvGrpSpPr>
              <p:nvPr/>
            </p:nvGrpSpPr>
            <p:grpSpPr bwMode="auto">
              <a:xfrm>
                <a:off x="2175" y="847"/>
                <a:ext cx="680" cy="860"/>
                <a:chOff x="2239" y="898"/>
                <a:chExt cx="568" cy="762"/>
              </a:xfrm>
            </p:grpSpPr>
            <p:pic>
              <p:nvPicPr>
                <p:cNvPr id="43" name="Picture 26" descr="Document_Document01"/>
                <p:cNvPicPr>
                  <a:picLocks noChangeAspect="1" noChangeArrowheads="1"/>
                </p:cNvPicPr>
                <p:nvPr/>
              </p:nvPicPr>
              <p:blipFill>
                <a:blip r:embed="rId6" cstate="print"/>
                <a:srcRect/>
                <a:stretch>
                  <a:fillRect/>
                </a:stretch>
              </p:blipFill>
              <p:spPr bwMode="auto">
                <a:xfrm>
                  <a:off x="2393" y="898"/>
                  <a:ext cx="414" cy="672"/>
                </a:xfrm>
                <a:prstGeom prst="rect">
                  <a:avLst/>
                </a:prstGeom>
                <a:noFill/>
              </p:spPr>
            </p:pic>
            <p:pic>
              <p:nvPicPr>
                <p:cNvPr id="44" name="Picture 27" descr="Document_Document01"/>
                <p:cNvPicPr>
                  <a:picLocks noChangeAspect="1" noChangeArrowheads="1"/>
                </p:cNvPicPr>
                <p:nvPr/>
              </p:nvPicPr>
              <p:blipFill>
                <a:blip r:embed="rId6" cstate="print"/>
                <a:srcRect/>
                <a:stretch>
                  <a:fillRect/>
                </a:stretch>
              </p:blipFill>
              <p:spPr bwMode="auto">
                <a:xfrm>
                  <a:off x="2316" y="943"/>
                  <a:ext cx="414" cy="672"/>
                </a:xfrm>
                <a:prstGeom prst="rect">
                  <a:avLst/>
                </a:prstGeom>
                <a:noFill/>
              </p:spPr>
            </p:pic>
            <p:pic>
              <p:nvPicPr>
                <p:cNvPr id="45" name="Picture 28" descr="Document_Document01"/>
                <p:cNvPicPr>
                  <a:picLocks noChangeAspect="1" noChangeArrowheads="1"/>
                </p:cNvPicPr>
                <p:nvPr/>
              </p:nvPicPr>
              <p:blipFill>
                <a:blip r:embed="rId6" cstate="print"/>
                <a:srcRect/>
                <a:stretch>
                  <a:fillRect/>
                </a:stretch>
              </p:blipFill>
              <p:spPr bwMode="auto">
                <a:xfrm>
                  <a:off x="2239" y="988"/>
                  <a:ext cx="414" cy="672"/>
                </a:xfrm>
                <a:prstGeom prst="rect">
                  <a:avLst/>
                </a:prstGeom>
                <a:noFill/>
              </p:spPr>
            </p:pic>
          </p:grpSp>
          <p:sp>
            <p:nvSpPr>
              <p:cNvPr id="42" name="Text Box 29"/>
              <p:cNvSpPr txBox="1">
                <a:spLocks noChangeArrowheads="1"/>
              </p:cNvSpPr>
              <p:nvPr/>
            </p:nvSpPr>
            <p:spPr bwMode="auto">
              <a:xfrm>
                <a:off x="2230" y="1145"/>
                <a:ext cx="538" cy="404"/>
              </a:xfrm>
              <a:prstGeom prst="rect">
                <a:avLst/>
              </a:prstGeom>
              <a:solidFill>
                <a:schemeClr val="accent1">
                  <a:alpha val="50000"/>
                </a:schemeClr>
              </a:solidFill>
              <a:ln w="9525" algn="ctr">
                <a:noFill/>
                <a:miter lim="800000"/>
                <a:headEnd/>
                <a:tailEnd/>
              </a:ln>
              <a:effectLst/>
            </p:spPr>
            <p:txBody>
              <a:bodyPr wrap="none"/>
              <a:lstStyle/>
              <a:p>
                <a:pPr algn="ctr" eaLnBrk="0" hangingPunct="0"/>
                <a:r>
                  <a:rPr lang="en-US" sz="1700" b="1">
                    <a:latin typeface="Arial" pitchFamily="34" charset="0"/>
                    <a:cs typeface="Arial" pitchFamily="34" charset="0"/>
                  </a:rPr>
                  <a:t>Resource</a:t>
                </a:r>
              </a:p>
              <a:p>
                <a:pPr algn="ctr" eaLnBrk="0" hangingPunct="0"/>
                <a:r>
                  <a:rPr lang="en-US" sz="1700" b="1">
                    <a:latin typeface="Arial" pitchFamily="34" charset="0"/>
                    <a:cs typeface="Arial" pitchFamily="34" charset="0"/>
                  </a:rPr>
                  <a:t>Records</a:t>
                </a:r>
              </a:p>
            </p:txBody>
          </p:sp>
        </p:grpSp>
        <p:sp>
          <p:nvSpPr>
            <p:cNvPr id="26" name="AutoShape 30"/>
            <p:cNvSpPr>
              <a:spLocks/>
            </p:cNvSpPr>
            <p:nvPr/>
          </p:nvSpPr>
          <p:spPr bwMode="auto">
            <a:xfrm rot="16200000">
              <a:off x="2771775" y="3087688"/>
              <a:ext cx="384175" cy="2320925"/>
            </a:xfrm>
            <a:prstGeom prst="leftBrace">
              <a:avLst>
                <a:gd name="adj1" fmla="val 50344"/>
                <a:gd name="adj2" fmla="val 50843"/>
              </a:avLst>
            </a:prstGeom>
            <a:noFill/>
            <a:ln w="38100">
              <a:solidFill>
                <a:srgbClr val="000000"/>
              </a:solidFill>
              <a:round/>
              <a:headEnd/>
              <a:tailEnd/>
            </a:ln>
            <a:effectLst/>
          </p:spPr>
          <p:txBody>
            <a:bodyPr wrap="none" anchor="ctr"/>
            <a:lstStyle/>
            <a:p>
              <a:endParaRPr lang="en-US" sz="1700">
                <a:latin typeface="Arial" pitchFamily="34" charset="0"/>
                <a:cs typeface="Arial" pitchFamily="34" charset="0"/>
              </a:endParaRPr>
            </a:p>
          </p:txBody>
        </p:sp>
        <p:sp>
          <p:nvSpPr>
            <p:cNvPr id="27" name="AutoShape 31"/>
            <p:cNvSpPr>
              <a:spLocks/>
            </p:cNvSpPr>
            <p:nvPr/>
          </p:nvSpPr>
          <p:spPr bwMode="auto">
            <a:xfrm rot="5400000">
              <a:off x="2772569" y="1924844"/>
              <a:ext cx="369887" cy="2320925"/>
            </a:xfrm>
            <a:prstGeom prst="leftBrace">
              <a:avLst>
                <a:gd name="adj1" fmla="val 52289"/>
                <a:gd name="adj2" fmla="val 50843"/>
              </a:avLst>
            </a:prstGeom>
            <a:noFill/>
            <a:ln w="38100">
              <a:solidFill>
                <a:srgbClr val="000000"/>
              </a:solidFill>
              <a:round/>
              <a:headEnd/>
              <a:tailEnd/>
            </a:ln>
            <a:effectLst/>
          </p:spPr>
          <p:txBody>
            <a:bodyPr wrap="none" anchor="ctr"/>
            <a:lstStyle/>
            <a:p>
              <a:endParaRPr lang="en-US" sz="1700">
                <a:latin typeface="Arial" pitchFamily="34" charset="0"/>
                <a:cs typeface="Arial" pitchFamily="34" charset="0"/>
              </a:endParaRPr>
            </a:p>
          </p:txBody>
        </p:sp>
        <p:grpSp>
          <p:nvGrpSpPr>
            <p:cNvPr id="28" name="Group 32"/>
            <p:cNvGrpSpPr>
              <a:grpSpLocks/>
            </p:cNvGrpSpPr>
            <p:nvPr/>
          </p:nvGrpSpPr>
          <p:grpSpPr bwMode="auto">
            <a:xfrm>
              <a:off x="1814511" y="3198815"/>
              <a:ext cx="2309810" cy="942976"/>
              <a:chOff x="1167" y="2039"/>
              <a:chExt cx="1455" cy="594"/>
            </a:xfrm>
          </p:grpSpPr>
          <p:grpSp>
            <p:nvGrpSpPr>
              <p:cNvPr id="30" name="Group 33"/>
              <p:cNvGrpSpPr>
                <a:grpSpLocks/>
              </p:cNvGrpSpPr>
              <p:nvPr/>
            </p:nvGrpSpPr>
            <p:grpSpPr bwMode="auto">
              <a:xfrm>
                <a:off x="1268" y="2039"/>
                <a:ext cx="1243" cy="594"/>
                <a:chOff x="1268" y="2056"/>
                <a:chExt cx="1243" cy="512"/>
              </a:xfrm>
            </p:grpSpPr>
            <p:sp>
              <p:nvSpPr>
                <p:cNvPr id="36" name="Line 34"/>
                <p:cNvSpPr>
                  <a:spLocks noChangeShapeType="1"/>
                </p:cNvSpPr>
                <p:nvPr/>
              </p:nvSpPr>
              <p:spPr bwMode="auto">
                <a:xfrm flipV="1">
                  <a:off x="1268" y="2056"/>
                  <a:ext cx="0" cy="494"/>
                </a:xfrm>
                <a:prstGeom prst="line">
                  <a:avLst/>
                </a:prstGeom>
                <a:noFill/>
                <a:ln w="50800">
                  <a:solidFill>
                    <a:srgbClr val="CC0000"/>
                  </a:solidFill>
                  <a:round/>
                  <a:headEnd/>
                  <a:tailEnd type="triangle" w="med" len="med"/>
                </a:ln>
                <a:effectLst/>
              </p:spPr>
              <p:txBody>
                <a:bodyPr anchor="ctr"/>
                <a:lstStyle/>
                <a:p>
                  <a:endParaRPr lang="en-US" sz="1700">
                    <a:latin typeface="Arial" pitchFamily="34" charset="0"/>
                    <a:cs typeface="Arial" pitchFamily="34" charset="0"/>
                  </a:endParaRPr>
                </a:p>
              </p:txBody>
            </p:sp>
            <p:sp>
              <p:nvSpPr>
                <p:cNvPr id="37" name="Line 35"/>
                <p:cNvSpPr>
                  <a:spLocks noChangeShapeType="1"/>
                </p:cNvSpPr>
                <p:nvPr/>
              </p:nvSpPr>
              <p:spPr bwMode="auto">
                <a:xfrm flipV="1">
                  <a:off x="1889" y="2060"/>
                  <a:ext cx="0" cy="494"/>
                </a:xfrm>
                <a:prstGeom prst="line">
                  <a:avLst/>
                </a:prstGeom>
                <a:noFill/>
                <a:ln w="50800">
                  <a:solidFill>
                    <a:srgbClr val="CC0000"/>
                  </a:solidFill>
                  <a:round/>
                  <a:headEnd/>
                  <a:tailEnd type="triangle" w="med" len="med"/>
                </a:ln>
                <a:effectLst/>
              </p:spPr>
              <p:txBody>
                <a:bodyPr anchor="ctr"/>
                <a:lstStyle/>
                <a:p>
                  <a:endParaRPr lang="en-US" sz="1700">
                    <a:latin typeface="Arial" pitchFamily="34" charset="0"/>
                    <a:cs typeface="Arial" pitchFamily="34" charset="0"/>
                  </a:endParaRPr>
                </a:p>
              </p:txBody>
            </p:sp>
            <p:sp>
              <p:nvSpPr>
                <p:cNvPr id="38" name="Line 36"/>
                <p:cNvSpPr>
                  <a:spLocks noChangeShapeType="1"/>
                </p:cNvSpPr>
                <p:nvPr/>
              </p:nvSpPr>
              <p:spPr bwMode="auto">
                <a:xfrm flipV="1">
                  <a:off x="2511" y="2056"/>
                  <a:ext cx="0" cy="494"/>
                </a:xfrm>
                <a:prstGeom prst="line">
                  <a:avLst/>
                </a:prstGeom>
                <a:noFill/>
                <a:ln w="50800">
                  <a:solidFill>
                    <a:srgbClr val="CC0000"/>
                  </a:solidFill>
                  <a:round/>
                  <a:headEnd/>
                  <a:tailEnd type="triangle" w="med" len="med"/>
                </a:ln>
                <a:effectLst/>
              </p:spPr>
              <p:txBody>
                <a:bodyPr anchor="ctr"/>
                <a:lstStyle/>
                <a:p>
                  <a:endParaRPr lang="en-US" sz="1700">
                    <a:latin typeface="Arial" pitchFamily="34" charset="0"/>
                    <a:cs typeface="Arial" pitchFamily="34" charset="0"/>
                  </a:endParaRPr>
                </a:p>
              </p:txBody>
            </p:sp>
            <p:sp>
              <p:nvSpPr>
                <p:cNvPr id="39" name="Line 37"/>
                <p:cNvSpPr>
                  <a:spLocks noChangeShapeType="1"/>
                </p:cNvSpPr>
                <p:nvPr/>
              </p:nvSpPr>
              <p:spPr bwMode="auto">
                <a:xfrm>
                  <a:off x="1578" y="2060"/>
                  <a:ext cx="0" cy="493"/>
                </a:xfrm>
                <a:prstGeom prst="line">
                  <a:avLst/>
                </a:prstGeom>
                <a:noFill/>
                <a:ln w="50800">
                  <a:solidFill>
                    <a:srgbClr val="CC0000"/>
                  </a:solidFill>
                  <a:round/>
                  <a:headEnd/>
                  <a:tailEnd type="triangle" w="med" len="med"/>
                </a:ln>
                <a:effectLst/>
              </p:spPr>
              <p:txBody>
                <a:bodyPr anchor="ctr"/>
                <a:lstStyle/>
                <a:p>
                  <a:endParaRPr lang="en-US" sz="1700">
                    <a:latin typeface="Arial" pitchFamily="34" charset="0"/>
                    <a:cs typeface="Arial" pitchFamily="34" charset="0"/>
                  </a:endParaRPr>
                </a:p>
              </p:txBody>
            </p:sp>
            <p:sp>
              <p:nvSpPr>
                <p:cNvPr id="40" name="Line 38"/>
                <p:cNvSpPr>
                  <a:spLocks noChangeShapeType="1"/>
                </p:cNvSpPr>
                <p:nvPr/>
              </p:nvSpPr>
              <p:spPr bwMode="auto">
                <a:xfrm>
                  <a:off x="2200" y="2075"/>
                  <a:ext cx="0" cy="493"/>
                </a:xfrm>
                <a:prstGeom prst="line">
                  <a:avLst/>
                </a:prstGeom>
                <a:noFill/>
                <a:ln w="50800">
                  <a:solidFill>
                    <a:srgbClr val="CC0000"/>
                  </a:solidFill>
                  <a:round/>
                  <a:headEnd/>
                  <a:tailEnd type="triangle" w="med" len="med"/>
                </a:ln>
                <a:effectLst/>
              </p:spPr>
              <p:txBody>
                <a:bodyPr anchor="ctr"/>
                <a:lstStyle/>
                <a:p>
                  <a:endParaRPr lang="en-US" sz="1700">
                    <a:latin typeface="Arial" pitchFamily="34" charset="0"/>
                    <a:cs typeface="Arial" pitchFamily="34" charset="0"/>
                  </a:endParaRPr>
                </a:p>
              </p:txBody>
            </p:sp>
          </p:grpSp>
          <p:sp>
            <p:nvSpPr>
              <p:cNvPr id="31" name="AutoShape 39"/>
              <p:cNvSpPr>
                <a:spLocks noChangeArrowheads="1"/>
              </p:cNvSpPr>
              <p:nvPr/>
            </p:nvSpPr>
            <p:spPr bwMode="auto">
              <a:xfrm>
                <a:off x="1167" y="2202"/>
                <a:ext cx="213" cy="248"/>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pPr algn="ctr" eaLnBrk="0" hangingPunct="0"/>
                <a:r>
                  <a:rPr lang="en-US" sz="1700" b="1">
                    <a:solidFill>
                      <a:srgbClr val="990033"/>
                    </a:solidFill>
                    <a:latin typeface="Arial" pitchFamily="34" charset="0"/>
                    <a:cs typeface="Arial" pitchFamily="34" charset="0"/>
                  </a:rPr>
                  <a:t>1</a:t>
                </a:r>
              </a:p>
            </p:txBody>
          </p:sp>
          <p:sp>
            <p:nvSpPr>
              <p:cNvPr id="32" name="AutoShape 40"/>
              <p:cNvSpPr>
                <a:spLocks noChangeArrowheads="1"/>
              </p:cNvSpPr>
              <p:nvPr/>
            </p:nvSpPr>
            <p:spPr bwMode="auto">
              <a:xfrm>
                <a:off x="1477" y="2202"/>
                <a:ext cx="213" cy="248"/>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pPr algn="ctr" eaLnBrk="0" hangingPunct="0"/>
                <a:r>
                  <a:rPr lang="en-US" sz="1700" b="1">
                    <a:solidFill>
                      <a:srgbClr val="990033"/>
                    </a:solidFill>
                    <a:latin typeface="Arial" pitchFamily="34" charset="0"/>
                    <a:cs typeface="Arial" pitchFamily="34" charset="0"/>
                  </a:rPr>
                  <a:t>2</a:t>
                </a:r>
              </a:p>
            </p:txBody>
          </p:sp>
          <p:sp>
            <p:nvSpPr>
              <p:cNvPr id="33" name="AutoShape 41"/>
              <p:cNvSpPr>
                <a:spLocks noChangeArrowheads="1"/>
              </p:cNvSpPr>
              <p:nvPr/>
            </p:nvSpPr>
            <p:spPr bwMode="auto">
              <a:xfrm>
                <a:off x="1788" y="2202"/>
                <a:ext cx="213" cy="248"/>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pPr algn="ctr" eaLnBrk="0" hangingPunct="0"/>
                <a:r>
                  <a:rPr lang="en-US" sz="1700" b="1">
                    <a:solidFill>
                      <a:srgbClr val="990033"/>
                    </a:solidFill>
                    <a:latin typeface="Arial" pitchFamily="34" charset="0"/>
                    <a:cs typeface="Arial" pitchFamily="34" charset="0"/>
                  </a:rPr>
                  <a:t>3</a:t>
                </a:r>
              </a:p>
            </p:txBody>
          </p:sp>
          <p:sp>
            <p:nvSpPr>
              <p:cNvPr id="34" name="AutoShape 42"/>
              <p:cNvSpPr>
                <a:spLocks noChangeArrowheads="1"/>
              </p:cNvSpPr>
              <p:nvPr/>
            </p:nvSpPr>
            <p:spPr bwMode="auto">
              <a:xfrm>
                <a:off x="2098" y="2202"/>
                <a:ext cx="213" cy="248"/>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pPr algn="ctr" eaLnBrk="0" hangingPunct="0"/>
                <a:r>
                  <a:rPr lang="en-US" sz="1700" b="1">
                    <a:solidFill>
                      <a:srgbClr val="990033"/>
                    </a:solidFill>
                    <a:latin typeface="Arial" pitchFamily="34" charset="0"/>
                    <a:cs typeface="Arial" pitchFamily="34" charset="0"/>
                  </a:rPr>
                  <a:t>4</a:t>
                </a:r>
              </a:p>
            </p:txBody>
          </p:sp>
          <p:sp>
            <p:nvSpPr>
              <p:cNvPr id="35" name="AutoShape 43"/>
              <p:cNvSpPr>
                <a:spLocks noChangeArrowheads="1"/>
              </p:cNvSpPr>
              <p:nvPr/>
            </p:nvSpPr>
            <p:spPr bwMode="auto">
              <a:xfrm>
                <a:off x="2409" y="2202"/>
                <a:ext cx="213" cy="248"/>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pPr algn="ctr" eaLnBrk="0" hangingPunct="0"/>
                <a:r>
                  <a:rPr lang="en-US" sz="1700" b="1">
                    <a:solidFill>
                      <a:srgbClr val="990033"/>
                    </a:solidFill>
                    <a:latin typeface="Arial" pitchFamily="34" charset="0"/>
                    <a:cs typeface="Arial" pitchFamily="34" charset="0"/>
                  </a:rPr>
                  <a:t>5</a:t>
                </a:r>
              </a:p>
            </p:txBody>
          </p:sp>
        </p:grpSp>
        <p:sp>
          <p:nvSpPr>
            <p:cNvPr id="29" name="AutoShape 44"/>
            <p:cNvSpPr>
              <a:spLocks noChangeArrowheads="1"/>
            </p:cNvSpPr>
            <p:nvPr/>
          </p:nvSpPr>
          <p:spPr bwMode="auto">
            <a:xfrm>
              <a:off x="5251450" y="4476750"/>
              <a:ext cx="338138" cy="393700"/>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pPr algn="ctr" eaLnBrk="0" hangingPunct="0"/>
              <a:r>
                <a:rPr lang="en-US" sz="1700" b="1">
                  <a:solidFill>
                    <a:srgbClr val="990033"/>
                  </a:solidFill>
                  <a:latin typeface="Arial" pitchFamily="34" charset="0"/>
                  <a:cs typeface="Arial" pitchFamily="34" charset="0"/>
                </a:rPr>
                <a:t>4</a:t>
              </a:r>
            </a:p>
          </p:txBody>
        </p:sp>
      </p:gr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vi-VN" sz="2800" smtClean="0"/>
              <a:t>DHCP Server đăng ký và cập nhật resource record cho Clien</a:t>
            </a:r>
            <a:r>
              <a:rPr lang="en-US" sz="2800" smtClean="0"/>
              <a:t>t</a:t>
            </a:r>
            <a:endParaRPr lang="en-US" sz="2800"/>
          </a:p>
        </p:txBody>
      </p:sp>
      <p:sp>
        <p:nvSpPr>
          <p:cNvPr id="3" name="Title 2"/>
          <p:cNvSpPr>
            <a:spLocks noGrp="1"/>
          </p:cNvSpPr>
          <p:nvPr>
            <p:ph type="title"/>
          </p:nvPr>
        </p:nvSpPr>
        <p:spPr>
          <a:xfrm>
            <a:off x="0" y="76200"/>
            <a:ext cx="9144000" cy="685800"/>
          </a:xfrm>
        </p:spPr>
        <p:txBody>
          <a:bodyPr/>
          <a:lstStyle/>
          <a:p>
            <a:r>
              <a:rPr lang="en-US" sz="3600" smtClean="0"/>
              <a:t>DHCP server cập nhật dynamic update</a:t>
            </a:r>
            <a:endParaRPr lang="en-US" sz="3600"/>
          </a:p>
        </p:txBody>
      </p:sp>
      <p:grpSp>
        <p:nvGrpSpPr>
          <p:cNvPr id="85" name="Group 84"/>
          <p:cNvGrpSpPr/>
          <p:nvPr/>
        </p:nvGrpSpPr>
        <p:grpSpPr>
          <a:xfrm>
            <a:off x="915988" y="1755775"/>
            <a:ext cx="7842250" cy="4949825"/>
            <a:chOff x="915988" y="1325563"/>
            <a:chExt cx="7842250" cy="4873625"/>
          </a:xfrm>
        </p:grpSpPr>
        <p:sp>
          <p:nvSpPr>
            <p:cNvPr id="44" name="Line 37"/>
            <p:cNvSpPr>
              <a:spLocks noChangeShapeType="1"/>
            </p:cNvSpPr>
            <p:nvPr/>
          </p:nvSpPr>
          <p:spPr bwMode="auto">
            <a:xfrm rot="5400000" flipV="1">
              <a:off x="4224338" y="3887788"/>
              <a:ext cx="0" cy="2159000"/>
            </a:xfrm>
            <a:prstGeom prst="line">
              <a:avLst/>
            </a:prstGeom>
            <a:noFill/>
            <a:ln w="50800">
              <a:solidFill>
                <a:srgbClr val="CC0000"/>
              </a:solidFill>
              <a:round/>
              <a:headEnd type="triangle" w="med" len="med"/>
              <a:tailEnd/>
            </a:ln>
            <a:effectLst/>
          </p:spPr>
          <p:txBody>
            <a:bodyPr anchor="ctr"/>
            <a:lstStyle/>
            <a:p>
              <a:endParaRPr lang="en-US" sz="1700">
                <a:latin typeface="Arial" pitchFamily="34" charset="0"/>
                <a:cs typeface="Arial" pitchFamily="34" charset="0"/>
              </a:endParaRPr>
            </a:p>
          </p:txBody>
        </p:sp>
        <p:sp>
          <p:nvSpPr>
            <p:cNvPr id="45" name="Line 38"/>
            <p:cNvSpPr>
              <a:spLocks noChangeShapeType="1"/>
            </p:cNvSpPr>
            <p:nvPr/>
          </p:nvSpPr>
          <p:spPr bwMode="auto">
            <a:xfrm rot="16200000" flipH="1" flipV="1">
              <a:off x="4224338" y="4313238"/>
              <a:ext cx="0" cy="2159000"/>
            </a:xfrm>
            <a:prstGeom prst="line">
              <a:avLst/>
            </a:prstGeom>
            <a:noFill/>
            <a:ln w="50800">
              <a:solidFill>
                <a:srgbClr val="CC0000"/>
              </a:solidFill>
              <a:round/>
              <a:headEnd type="triangle" w="med" len="med"/>
              <a:tailEnd/>
            </a:ln>
            <a:effectLst/>
          </p:spPr>
          <p:txBody>
            <a:bodyPr anchor="ctr"/>
            <a:lstStyle/>
            <a:p>
              <a:endParaRPr lang="en-US" sz="1700">
                <a:latin typeface="Arial" pitchFamily="34" charset="0"/>
                <a:cs typeface="Arial" pitchFamily="34" charset="0"/>
              </a:endParaRPr>
            </a:p>
          </p:txBody>
        </p:sp>
        <p:grpSp>
          <p:nvGrpSpPr>
            <p:cNvPr id="46" name="Group 45"/>
            <p:cNvGrpSpPr/>
            <p:nvPr/>
          </p:nvGrpSpPr>
          <p:grpSpPr>
            <a:xfrm>
              <a:off x="915988" y="1325563"/>
              <a:ext cx="7842250" cy="4873625"/>
              <a:chOff x="915988" y="1325563"/>
              <a:chExt cx="7842250" cy="4873625"/>
            </a:xfrm>
          </p:grpSpPr>
          <p:sp>
            <p:nvSpPr>
              <p:cNvPr id="47" name="Freeform 3"/>
              <p:cNvSpPr>
                <a:spLocks/>
              </p:cNvSpPr>
              <p:nvPr/>
            </p:nvSpPr>
            <p:spPr bwMode="auto">
              <a:xfrm>
                <a:off x="2563813" y="1649413"/>
                <a:ext cx="811212" cy="914400"/>
              </a:xfrm>
              <a:custGeom>
                <a:avLst/>
                <a:gdLst/>
                <a:ahLst/>
                <a:cxnLst>
                  <a:cxn ang="0">
                    <a:pos x="0" y="503"/>
                  </a:cxn>
                  <a:cxn ang="0">
                    <a:pos x="422" y="0"/>
                  </a:cxn>
                  <a:cxn ang="0">
                    <a:pos x="511" y="576"/>
                  </a:cxn>
                  <a:cxn ang="0">
                    <a:pos x="0" y="503"/>
                  </a:cxn>
                </a:cxnLst>
                <a:rect l="0" t="0" r="r" b="b"/>
                <a:pathLst>
                  <a:path w="511" h="576">
                    <a:moveTo>
                      <a:pt x="0" y="503"/>
                    </a:moveTo>
                    <a:lnTo>
                      <a:pt x="422" y="0"/>
                    </a:lnTo>
                    <a:lnTo>
                      <a:pt x="511" y="576"/>
                    </a:lnTo>
                    <a:lnTo>
                      <a:pt x="0" y="503"/>
                    </a:lnTo>
                    <a:close/>
                  </a:path>
                </a:pathLst>
              </a:custGeom>
              <a:solidFill>
                <a:schemeClr val="accent2">
                  <a:alpha val="50000"/>
                </a:schemeClr>
              </a:solidFill>
              <a:ln w="9525" cap="flat" cmpd="sng">
                <a:noFill/>
                <a:prstDash val="solid"/>
                <a:round/>
                <a:headEnd type="none" w="med" len="med"/>
                <a:tailEnd type="none" w="med" len="med"/>
              </a:ln>
              <a:effectLst/>
            </p:spPr>
            <p:txBody>
              <a:bodyPr anchor="ctr"/>
              <a:lstStyle/>
              <a:p>
                <a:endParaRPr lang="en-US" sz="1700">
                  <a:latin typeface="Arial" pitchFamily="34" charset="0"/>
                  <a:cs typeface="Arial" pitchFamily="34" charset="0"/>
                </a:endParaRPr>
              </a:p>
            </p:txBody>
          </p:sp>
          <p:grpSp>
            <p:nvGrpSpPr>
              <p:cNvPr id="48" name="Group 4"/>
              <p:cNvGrpSpPr>
                <a:grpSpLocks/>
              </p:cNvGrpSpPr>
              <p:nvPr/>
            </p:nvGrpSpPr>
            <p:grpSpPr bwMode="auto">
              <a:xfrm>
                <a:off x="1371599" y="1412875"/>
                <a:ext cx="1636712" cy="1525588"/>
                <a:chOff x="1205" y="1577"/>
                <a:chExt cx="1088" cy="1014"/>
              </a:xfrm>
            </p:grpSpPr>
            <p:pic>
              <p:nvPicPr>
                <p:cNvPr id="83" name="Picture 5" descr="Server01"/>
                <p:cNvPicPr>
                  <a:picLocks noChangeAspect="1" noChangeArrowheads="1"/>
                </p:cNvPicPr>
                <p:nvPr/>
              </p:nvPicPr>
              <p:blipFill>
                <a:blip r:embed="rId2" cstate="print"/>
                <a:srcRect/>
                <a:stretch>
                  <a:fillRect/>
                </a:stretch>
              </p:blipFill>
              <p:spPr bwMode="auto">
                <a:xfrm>
                  <a:off x="1205" y="1577"/>
                  <a:ext cx="815" cy="958"/>
                </a:xfrm>
                <a:prstGeom prst="rect">
                  <a:avLst/>
                </a:prstGeom>
                <a:noFill/>
              </p:spPr>
            </p:pic>
            <p:pic>
              <p:nvPicPr>
                <p:cNvPr id="84" name="Picture 6" descr="Database01"/>
                <p:cNvPicPr>
                  <a:picLocks noChangeAspect="1" noChangeArrowheads="1"/>
                </p:cNvPicPr>
                <p:nvPr/>
              </p:nvPicPr>
              <p:blipFill>
                <a:blip r:embed="rId3" cstate="print"/>
                <a:srcRect/>
                <a:stretch>
                  <a:fillRect/>
                </a:stretch>
              </p:blipFill>
              <p:spPr bwMode="auto">
                <a:xfrm>
                  <a:off x="1721" y="2128"/>
                  <a:ext cx="572" cy="463"/>
                </a:xfrm>
                <a:prstGeom prst="rect">
                  <a:avLst/>
                </a:prstGeom>
                <a:noFill/>
              </p:spPr>
            </p:pic>
          </p:grpSp>
          <p:pic>
            <p:nvPicPr>
              <p:cNvPr id="49" name="Picture 7" descr="Computer_DesktopComputerSansKeyboard01"/>
              <p:cNvPicPr>
                <a:picLocks noChangeAspect="1" noChangeArrowheads="1"/>
              </p:cNvPicPr>
              <p:nvPr/>
            </p:nvPicPr>
            <p:blipFill>
              <a:blip r:embed="rId4" cstate="print"/>
              <a:srcRect/>
              <a:stretch>
                <a:fillRect/>
              </a:stretch>
            </p:blipFill>
            <p:spPr bwMode="auto">
              <a:xfrm>
                <a:off x="5380038" y="4729163"/>
                <a:ext cx="787400" cy="962025"/>
              </a:xfrm>
              <a:prstGeom prst="rect">
                <a:avLst/>
              </a:prstGeom>
              <a:noFill/>
            </p:spPr>
          </p:pic>
          <p:pic>
            <p:nvPicPr>
              <p:cNvPr id="50" name="Picture 8" descr="Server01"/>
              <p:cNvPicPr>
                <a:picLocks noChangeAspect="1" noChangeArrowheads="1"/>
              </p:cNvPicPr>
              <p:nvPr/>
            </p:nvPicPr>
            <p:blipFill>
              <a:blip r:embed="rId5" cstate="print"/>
              <a:srcRect/>
              <a:stretch>
                <a:fillRect/>
              </a:stretch>
            </p:blipFill>
            <p:spPr bwMode="auto">
              <a:xfrm>
                <a:off x="2154238" y="4595813"/>
                <a:ext cx="920750" cy="1082675"/>
              </a:xfrm>
              <a:prstGeom prst="rect">
                <a:avLst/>
              </a:prstGeom>
              <a:noFill/>
            </p:spPr>
          </p:pic>
          <p:sp>
            <p:nvSpPr>
              <p:cNvPr id="51" name="AutoShape 9"/>
              <p:cNvSpPr>
                <a:spLocks noChangeArrowheads="1"/>
              </p:cNvSpPr>
              <p:nvPr/>
            </p:nvSpPr>
            <p:spPr bwMode="auto">
              <a:xfrm>
                <a:off x="1163638" y="5694363"/>
                <a:ext cx="1930400" cy="504825"/>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gn="ctr" eaLnBrk="0" hangingPunct="0">
                  <a:lnSpc>
                    <a:spcPct val="85000"/>
                  </a:lnSpc>
                </a:pPr>
                <a:r>
                  <a:rPr lang="en-US" sz="1700" b="1">
                    <a:latin typeface="Arial" pitchFamily="34" charset="0"/>
                    <a:cs typeface="Arial" pitchFamily="34" charset="0"/>
                  </a:rPr>
                  <a:t>Window Server 2003</a:t>
                </a:r>
              </a:p>
              <a:p>
                <a:pPr algn="ctr" eaLnBrk="0" hangingPunct="0">
                  <a:lnSpc>
                    <a:spcPct val="85000"/>
                  </a:lnSpc>
                </a:pPr>
                <a:r>
                  <a:rPr lang="en-US" sz="1700" b="1">
                    <a:latin typeface="Arial" pitchFamily="34" charset="0"/>
                    <a:cs typeface="Arial" pitchFamily="34" charset="0"/>
                  </a:rPr>
                  <a:t>Running DHCP</a:t>
                </a:r>
              </a:p>
            </p:txBody>
          </p:sp>
          <p:sp>
            <p:nvSpPr>
              <p:cNvPr id="52" name="AutoShape 10"/>
              <p:cNvSpPr>
                <a:spLocks noChangeArrowheads="1"/>
              </p:cNvSpPr>
              <p:nvPr/>
            </p:nvSpPr>
            <p:spPr bwMode="auto">
              <a:xfrm>
                <a:off x="5351463" y="5694363"/>
                <a:ext cx="1443037" cy="504825"/>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gn="ctr" eaLnBrk="0" hangingPunct="0">
                  <a:lnSpc>
                    <a:spcPct val="85000"/>
                  </a:lnSpc>
                </a:pPr>
                <a:r>
                  <a:rPr lang="en-US" sz="1700" b="1">
                    <a:latin typeface="Arial" pitchFamily="34" charset="0"/>
                    <a:cs typeface="Arial" pitchFamily="34" charset="0"/>
                  </a:rPr>
                  <a:t>DHCP Down-</a:t>
                </a:r>
              </a:p>
              <a:p>
                <a:pPr algn="ctr" eaLnBrk="0" hangingPunct="0">
                  <a:lnSpc>
                    <a:spcPct val="85000"/>
                  </a:lnSpc>
                </a:pPr>
                <a:r>
                  <a:rPr lang="en-US" sz="1700" b="1">
                    <a:latin typeface="Arial" pitchFamily="34" charset="0"/>
                    <a:cs typeface="Arial" pitchFamily="34" charset="0"/>
                  </a:rPr>
                  <a:t>level Client</a:t>
                </a:r>
              </a:p>
            </p:txBody>
          </p:sp>
          <p:sp>
            <p:nvSpPr>
              <p:cNvPr id="53" name="AutoShape 11"/>
              <p:cNvSpPr>
                <a:spLocks noChangeArrowheads="1"/>
              </p:cNvSpPr>
              <p:nvPr/>
            </p:nvSpPr>
            <p:spPr bwMode="auto">
              <a:xfrm>
                <a:off x="915988" y="1325563"/>
                <a:ext cx="1273175" cy="349250"/>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gn="ctr" eaLnBrk="0" hangingPunct="0">
                  <a:lnSpc>
                    <a:spcPct val="85000"/>
                  </a:lnSpc>
                </a:pPr>
                <a:r>
                  <a:rPr lang="en-US" sz="1700" b="1">
                    <a:latin typeface="Arial" pitchFamily="34" charset="0"/>
                    <a:cs typeface="Arial" pitchFamily="34" charset="0"/>
                  </a:rPr>
                  <a:t>DNS Server</a:t>
                </a:r>
              </a:p>
            </p:txBody>
          </p:sp>
          <p:grpSp>
            <p:nvGrpSpPr>
              <p:cNvPr id="54" name="Group 12"/>
              <p:cNvGrpSpPr>
                <a:grpSpLocks/>
              </p:cNvGrpSpPr>
              <p:nvPr/>
            </p:nvGrpSpPr>
            <p:grpSpPr bwMode="auto">
              <a:xfrm>
                <a:off x="3222626" y="1409702"/>
                <a:ext cx="1079500" cy="1365252"/>
                <a:chOff x="2175" y="847"/>
                <a:chExt cx="680" cy="860"/>
              </a:xfrm>
            </p:grpSpPr>
            <p:grpSp>
              <p:nvGrpSpPr>
                <p:cNvPr id="78" name="Group 13"/>
                <p:cNvGrpSpPr>
                  <a:grpSpLocks/>
                </p:cNvGrpSpPr>
                <p:nvPr/>
              </p:nvGrpSpPr>
              <p:grpSpPr bwMode="auto">
                <a:xfrm>
                  <a:off x="2175" y="847"/>
                  <a:ext cx="680" cy="860"/>
                  <a:chOff x="2239" y="898"/>
                  <a:chExt cx="568" cy="762"/>
                </a:xfrm>
              </p:grpSpPr>
              <p:pic>
                <p:nvPicPr>
                  <p:cNvPr id="80" name="Picture 14" descr="Document_Document01"/>
                  <p:cNvPicPr>
                    <a:picLocks noChangeAspect="1" noChangeArrowheads="1"/>
                  </p:cNvPicPr>
                  <p:nvPr/>
                </p:nvPicPr>
                <p:blipFill>
                  <a:blip r:embed="rId6" cstate="print"/>
                  <a:srcRect/>
                  <a:stretch>
                    <a:fillRect/>
                  </a:stretch>
                </p:blipFill>
                <p:spPr bwMode="auto">
                  <a:xfrm>
                    <a:off x="2393" y="898"/>
                    <a:ext cx="414" cy="672"/>
                  </a:xfrm>
                  <a:prstGeom prst="rect">
                    <a:avLst/>
                  </a:prstGeom>
                  <a:noFill/>
                </p:spPr>
              </p:pic>
              <p:pic>
                <p:nvPicPr>
                  <p:cNvPr id="81" name="Picture 15" descr="Document_Document01"/>
                  <p:cNvPicPr>
                    <a:picLocks noChangeAspect="1" noChangeArrowheads="1"/>
                  </p:cNvPicPr>
                  <p:nvPr/>
                </p:nvPicPr>
                <p:blipFill>
                  <a:blip r:embed="rId6" cstate="print"/>
                  <a:srcRect/>
                  <a:stretch>
                    <a:fillRect/>
                  </a:stretch>
                </p:blipFill>
                <p:spPr bwMode="auto">
                  <a:xfrm>
                    <a:off x="2316" y="943"/>
                    <a:ext cx="414" cy="672"/>
                  </a:xfrm>
                  <a:prstGeom prst="rect">
                    <a:avLst/>
                  </a:prstGeom>
                  <a:noFill/>
                </p:spPr>
              </p:pic>
              <p:pic>
                <p:nvPicPr>
                  <p:cNvPr id="82" name="Picture 16" descr="Document_Document01"/>
                  <p:cNvPicPr>
                    <a:picLocks noChangeAspect="1" noChangeArrowheads="1"/>
                  </p:cNvPicPr>
                  <p:nvPr/>
                </p:nvPicPr>
                <p:blipFill>
                  <a:blip r:embed="rId6" cstate="print"/>
                  <a:srcRect/>
                  <a:stretch>
                    <a:fillRect/>
                  </a:stretch>
                </p:blipFill>
                <p:spPr bwMode="auto">
                  <a:xfrm>
                    <a:off x="2239" y="988"/>
                    <a:ext cx="414" cy="672"/>
                  </a:xfrm>
                  <a:prstGeom prst="rect">
                    <a:avLst/>
                  </a:prstGeom>
                  <a:noFill/>
                </p:spPr>
              </p:pic>
            </p:grpSp>
            <p:sp>
              <p:nvSpPr>
                <p:cNvPr id="79" name="Text Box 17"/>
                <p:cNvSpPr txBox="1">
                  <a:spLocks noChangeArrowheads="1"/>
                </p:cNvSpPr>
                <p:nvPr/>
              </p:nvSpPr>
              <p:spPr bwMode="auto">
                <a:xfrm>
                  <a:off x="2230" y="1145"/>
                  <a:ext cx="538" cy="404"/>
                </a:xfrm>
                <a:prstGeom prst="rect">
                  <a:avLst/>
                </a:prstGeom>
                <a:solidFill>
                  <a:schemeClr val="accent1">
                    <a:alpha val="50000"/>
                  </a:schemeClr>
                </a:solidFill>
                <a:ln w="9525" algn="ctr">
                  <a:noFill/>
                  <a:miter lim="800000"/>
                  <a:headEnd/>
                  <a:tailEnd/>
                </a:ln>
                <a:effectLst/>
              </p:spPr>
              <p:txBody>
                <a:bodyPr wrap="none"/>
                <a:lstStyle/>
                <a:p>
                  <a:pPr algn="ctr" eaLnBrk="0" hangingPunct="0"/>
                  <a:r>
                    <a:rPr lang="en-US" sz="1700" b="1">
                      <a:latin typeface="Arial" pitchFamily="34" charset="0"/>
                      <a:cs typeface="Arial" pitchFamily="34" charset="0"/>
                    </a:rPr>
                    <a:t>Resource</a:t>
                  </a:r>
                </a:p>
                <a:p>
                  <a:pPr algn="ctr" eaLnBrk="0" hangingPunct="0"/>
                  <a:r>
                    <a:rPr lang="en-US" sz="1700" b="1">
                      <a:latin typeface="Arial" pitchFamily="34" charset="0"/>
                      <a:cs typeface="Arial" pitchFamily="34" charset="0"/>
                    </a:rPr>
                    <a:t>Records</a:t>
                  </a:r>
                </a:p>
              </p:txBody>
            </p:sp>
          </p:grpSp>
          <p:grpSp>
            <p:nvGrpSpPr>
              <p:cNvPr id="55" name="Group 18"/>
              <p:cNvGrpSpPr>
                <a:grpSpLocks/>
              </p:cNvGrpSpPr>
              <p:nvPr/>
            </p:nvGrpSpPr>
            <p:grpSpPr bwMode="auto">
              <a:xfrm>
                <a:off x="1927225" y="2990850"/>
                <a:ext cx="1219200" cy="1539875"/>
                <a:chOff x="1132" y="1884"/>
                <a:chExt cx="1466" cy="970"/>
              </a:xfrm>
            </p:grpSpPr>
            <p:sp>
              <p:nvSpPr>
                <p:cNvPr id="76" name="AutoShape 19"/>
                <p:cNvSpPr>
                  <a:spLocks/>
                </p:cNvSpPr>
                <p:nvPr/>
              </p:nvSpPr>
              <p:spPr bwMode="auto">
                <a:xfrm rot="16200000">
                  <a:off x="1746" y="2002"/>
                  <a:ext cx="242" cy="1462"/>
                </a:xfrm>
                <a:prstGeom prst="leftBrace">
                  <a:avLst>
                    <a:gd name="adj1" fmla="val 50344"/>
                    <a:gd name="adj2" fmla="val 50843"/>
                  </a:avLst>
                </a:prstGeom>
                <a:noFill/>
                <a:ln w="38100">
                  <a:solidFill>
                    <a:srgbClr val="000000"/>
                  </a:solidFill>
                  <a:round/>
                  <a:headEnd/>
                  <a:tailEnd/>
                </a:ln>
                <a:effectLst/>
              </p:spPr>
              <p:txBody>
                <a:bodyPr wrap="none" anchor="ctr"/>
                <a:lstStyle/>
                <a:p>
                  <a:endParaRPr lang="en-US" sz="1700">
                    <a:latin typeface="Arial" pitchFamily="34" charset="0"/>
                    <a:cs typeface="Arial" pitchFamily="34" charset="0"/>
                  </a:endParaRPr>
                </a:p>
              </p:txBody>
            </p:sp>
            <p:sp>
              <p:nvSpPr>
                <p:cNvPr id="77" name="AutoShape 20"/>
                <p:cNvSpPr>
                  <a:spLocks/>
                </p:cNvSpPr>
                <p:nvPr/>
              </p:nvSpPr>
              <p:spPr bwMode="auto">
                <a:xfrm rot="5400000">
                  <a:off x="1746" y="1270"/>
                  <a:ext cx="233" cy="1462"/>
                </a:xfrm>
                <a:prstGeom prst="leftBrace">
                  <a:avLst>
                    <a:gd name="adj1" fmla="val 52289"/>
                    <a:gd name="adj2" fmla="val 50843"/>
                  </a:avLst>
                </a:prstGeom>
                <a:noFill/>
                <a:ln w="38100">
                  <a:solidFill>
                    <a:srgbClr val="000000"/>
                  </a:solidFill>
                  <a:round/>
                  <a:headEnd/>
                  <a:tailEnd/>
                </a:ln>
                <a:effectLst/>
              </p:spPr>
              <p:txBody>
                <a:bodyPr wrap="none" anchor="ctr"/>
                <a:lstStyle/>
                <a:p>
                  <a:endParaRPr lang="en-US" sz="1700">
                    <a:latin typeface="Arial" pitchFamily="34" charset="0"/>
                    <a:cs typeface="Arial" pitchFamily="34" charset="0"/>
                  </a:endParaRPr>
                </a:p>
              </p:txBody>
            </p:sp>
          </p:grpSp>
          <p:sp>
            <p:nvSpPr>
              <p:cNvPr id="56" name="Line 21"/>
              <p:cNvSpPr>
                <a:spLocks noChangeShapeType="1"/>
              </p:cNvSpPr>
              <p:nvPr/>
            </p:nvSpPr>
            <p:spPr bwMode="auto">
              <a:xfrm flipV="1">
                <a:off x="2239963" y="3297238"/>
                <a:ext cx="0" cy="909637"/>
              </a:xfrm>
              <a:prstGeom prst="line">
                <a:avLst/>
              </a:prstGeom>
              <a:noFill/>
              <a:ln w="50800">
                <a:solidFill>
                  <a:srgbClr val="CC0000"/>
                </a:solidFill>
                <a:round/>
                <a:headEnd/>
                <a:tailEnd type="triangle" w="med" len="med"/>
              </a:ln>
              <a:effectLst/>
            </p:spPr>
            <p:txBody>
              <a:bodyPr anchor="ctr"/>
              <a:lstStyle/>
              <a:p>
                <a:endParaRPr lang="en-US" sz="1700">
                  <a:latin typeface="Arial" pitchFamily="34" charset="0"/>
                  <a:cs typeface="Arial" pitchFamily="34" charset="0"/>
                </a:endParaRPr>
              </a:p>
            </p:txBody>
          </p:sp>
          <p:sp>
            <p:nvSpPr>
              <p:cNvPr id="57" name="Line 22"/>
              <p:cNvSpPr>
                <a:spLocks noChangeShapeType="1"/>
              </p:cNvSpPr>
              <p:nvPr/>
            </p:nvSpPr>
            <p:spPr bwMode="auto">
              <a:xfrm>
                <a:off x="2733675" y="3324225"/>
                <a:ext cx="0" cy="908050"/>
              </a:xfrm>
              <a:prstGeom prst="line">
                <a:avLst/>
              </a:prstGeom>
              <a:noFill/>
              <a:ln w="50800">
                <a:solidFill>
                  <a:srgbClr val="CC0000"/>
                </a:solidFill>
                <a:round/>
                <a:headEnd/>
                <a:tailEnd type="triangle" w="med" len="med"/>
              </a:ln>
              <a:effectLst/>
            </p:spPr>
            <p:txBody>
              <a:bodyPr anchor="ctr"/>
              <a:lstStyle/>
              <a:p>
                <a:endParaRPr lang="en-US" sz="1700">
                  <a:latin typeface="Arial" pitchFamily="34" charset="0"/>
                  <a:cs typeface="Arial" pitchFamily="34" charset="0"/>
                </a:endParaRPr>
              </a:p>
            </p:txBody>
          </p:sp>
          <p:sp>
            <p:nvSpPr>
              <p:cNvPr id="58" name="AutoShape 23"/>
              <p:cNvSpPr>
                <a:spLocks noChangeArrowheads="1"/>
              </p:cNvSpPr>
              <p:nvPr/>
            </p:nvSpPr>
            <p:spPr bwMode="auto">
              <a:xfrm>
                <a:off x="2079625" y="3548063"/>
                <a:ext cx="338138" cy="393700"/>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pPr algn="ctr" eaLnBrk="0" hangingPunct="0"/>
                <a:r>
                  <a:rPr lang="en-US" sz="1700" b="1">
                    <a:solidFill>
                      <a:srgbClr val="990033"/>
                    </a:solidFill>
                    <a:latin typeface="Arial" pitchFamily="34" charset="0"/>
                    <a:cs typeface="Arial" pitchFamily="34" charset="0"/>
                  </a:rPr>
                  <a:t>3</a:t>
                </a:r>
              </a:p>
            </p:txBody>
          </p:sp>
          <p:sp>
            <p:nvSpPr>
              <p:cNvPr id="59" name="AutoShape 24"/>
              <p:cNvSpPr>
                <a:spLocks noChangeArrowheads="1"/>
              </p:cNvSpPr>
              <p:nvPr/>
            </p:nvSpPr>
            <p:spPr bwMode="auto">
              <a:xfrm>
                <a:off x="2571750" y="3548063"/>
                <a:ext cx="338138" cy="393700"/>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pPr algn="ctr" eaLnBrk="0" hangingPunct="0"/>
                <a:r>
                  <a:rPr lang="en-US" sz="1700" b="1">
                    <a:solidFill>
                      <a:srgbClr val="990033"/>
                    </a:solidFill>
                    <a:latin typeface="Arial" pitchFamily="34" charset="0"/>
                    <a:cs typeface="Arial" pitchFamily="34" charset="0"/>
                  </a:rPr>
                  <a:t>4</a:t>
                </a:r>
              </a:p>
            </p:txBody>
          </p:sp>
          <p:grpSp>
            <p:nvGrpSpPr>
              <p:cNvPr id="60" name="Group 25"/>
              <p:cNvGrpSpPr>
                <a:grpSpLocks/>
              </p:cNvGrpSpPr>
              <p:nvPr/>
            </p:nvGrpSpPr>
            <p:grpSpPr bwMode="auto">
              <a:xfrm>
                <a:off x="5486400" y="1474788"/>
                <a:ext cx="3271838" cy="3325812"/>
                <a:chOff x="3219" y="776"/>
                <a:chExt cx="2088" cy="2040"/>
              </a:xfrm>
            </p:grpSpPr>
            <p:sp>
              <p:nvSpPr>
                <p:cNvPr id="67" name="AutoShape 26"/>
                <p:cNvSpPr>
                  <a:spLocks noChangeArrowheads="1"/>
                </p:cNvSpPr>
                <p:nvPr/>
              </p:nvSpPr>
              <p:spPr bwMode="auto">
                <a:xfrm>
                  <a:off x="3219" y="776"/>
                  <a:ext cx="2088" cy="2040"/>
                </a:xfrm>
                <a:prstGeom prst="roundRect">
                  <a:avLst>
                    <a:gd name="adj" fmla="val 4167"/>
                  </a:avLst>
                </a:prstGeom>
                <a:solidFill>
                  <a:srgbClr val="B3C8DF"/>
                </a:solidFill>
                <a:ln w="9525">
                  <a:solidFill>
                    <a:srgbClr val="4D4D4D"/>
                  </a:solidFill>
                  <a:round/>
                  <a:headEnd/>
                  <a:tailEnd/>
                </a:ln>
                <a:effectLst>
                  <a:outerShdw dist="35921" dir="2700000" algn="ctr" rotWithShape="0">
                    <a:srgbClr val="AFAFAF"/>
                  </a:outerShdw>
                </a:effectLst>
              </p:spPr>
              <p:txBody>
                <a:bodyPr/>
                <a:lstStyle/>
                <a:p>
                  <a:pPr eaLnBrk="0" hangingPunct="0"/>
                  <a:endParaRPr lang="en-US" sz="1700" b="1">
                    <a:latin typeface="Arial" pitchFamily="34" charset="0"/>
                    <a:cs typeface="Arial" pitchFamily="34" charset="0"/>
                  </a:endParaRPr>
                </a:p>
              </p:txBody>
            </p:sp>
            <p:sp>
              <p:nvSpPr>
                <p:cNvPr id="68" name="AutoShape 27"/>
                <p:cNvSpPr>
                  <a:spLocks noChangeArrowheads="1"/>
                </p:cNvSpPr>
                <p:nvPr/>
              </p:nvSpPr>
              <p:spPr bwMode="auto">
                <a:xfrm>
                  <a:off x="3416" y="853"/>
                  <a:ext cx="1791" cy="343"/>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lIns="274320" anchor="ctr"/>
                <a:lstStyle/>
                <a:p>
                  <a:pPr eaLnBrk="0" hangingPunct="0">
                    <a:lnSpc>
                      <a:spcPct val="85000"/>
                    </a:lnSpc>
                  </a:pPr>
                  <a:r>
                    <a:rPr lang="en-US" sz="1700" b="1">
                      <a:latin typeface="Arial" pitchFamily="34" charset="0"/>
                      <a:cs typeface="Arial" pitchFamily="34" charset="0"/>
                    </a:rPr>
                    <a:t>DHCP client gởi request để thuê IP</a:t>
                  </a:r>
                </a:p>
              </p:txBody>
            </p:sp>
            <p:sp>
              <p:nvSpPr>
                <p:cNvPr id="69" name="AutoShape 28"/>
                <p:cNvSpPr>
                  <a:spLocks noChangeArrowheads="1"/>
                </p:cNvSpPr>
                <p:nvPr/>
              </p:nvSpPr>
              <p:spPr bwMode="auto">
                <a:xfrm>
                  <a:off x="3416" y="1271"/>
                  <a:ext cx="1791" cy="343"/>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lIns="274320" anchor="ctr"/>
                <a:lstStyle/>
                <a:p>
                  <a:pPr eaLnBrk="0" hangingPunct="0">
                    <a:lnSpc>
                      <a:spcPct val="85000"/>
                    </a:lnSpc>
                  </a:pPr>
                  <a:r>
                    <a:rPr lang="en-US" sz="1700" b="1">
                      <a:latin typeface="Arial" pitchFamily="34" charset="0"/>
                      <a:cs typeface="Arial" pitchFamily="34" charset="0"/>
                    </a:rPr>
                    <a:t>DHCP server cấp địa chỉ IP cho Client</a:t>
                  </a:r>
                </a:p>
              </p:txBody>
            </p:sp>
            <p:sp>
              <p:nvSpPr>
                <p:cNvPr id="70" name="AutoShape 29"/>
                <p:cNvSpPr>
                  <a:spLocks noChangeArrowheads="1"/>
                </p:cNvSpPr>
                <p:nvPr/>
              </p:nvSpPr>
              <p:spPr bwMode="auto">
                <a:xfrm>
                  <a:off x="3416" y="1689"/>
                  <a:ext cx="1791" cy="343"/>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lIns="274320" anchor="ctr"/>
                <a:lstStyle/>
                <a:p>
                  <a:pPr eaLnBrk="0" hangingPunct="0">
                    <a:lnSpc>
                      <a:spcPct val="85000"/>
                    </a:lnSpc>
                  </a:pPr>
                  <a:r>
                    <a:rPr lang="en-US" sz="1700" b="1">
                      <a:latin typeface="Arial" pitchFamily="34" charset="0"/>
                      <a:cs typeface="Arial" pitchFamily="34" charset="0"/>
                    </a:rPr>
                    <a:t>DHCP server tự động tạo FQDN cho Client</a:t>
                  </a:r>
                </a:p>
              </p:txBody>
            </p:sp>
            <p:sp>
              <p:nvSpPr>
                <p:cNvPr id="71" name="AutoShape 30"/>
                <p:cNvSpPr>
                  <a:spLocks noChangeArrowheads="1"/>
                </p:cNvSpPr>
                <p:nvPr/>
              </p:nvSpPr>
              <p:spPr bwMode="auto">
                <a:xfrm>
                  <a:off x="3416" y="2107"/>
                  <a:ext cx="1791" cy="619"/>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lIns="274320" anchor="ctr"/>
                <a:lstStyle/>
                <a:p>
                  <a:pPr eaLnBrk="0" hangingPunct="0">
                    <a:lnSpc>
                      <a:spcPct val="85000"/>
                    </a:lnSpc>
                  </a:pPr>
                  <a:r>
                    <a:rPr lang="en-US" sz="1700" b="1">
                      <a:latin typeface="Arial" pitchFamily="34" charset="0"/>
                      <a:cs typeface="Arial" pitchFamily="34" charset="0"/>
                    </a:rPr>
                    <a:t>DHCP server cập nhật DNS forward và reverse records cho client</a:t>
                  </a:r>
                </a:p>
              </p:txBody>
            </p:sp>
            <p:sp>
              <p:nvSpPr>
                <p:cNvPr id="72" name="AutoShape 31"/>
                <p:cNvSpPr>
                  <a:spLocks noChangeArrowheads="1"/>
                </p:cNvSpPr>
                <p:nvPr/>
              </p:nvSpPr>
              <p:spPr bwMode="auto">
                <a:xfrm>
                  <a:off x="3300" y="903"/>
                  <a:ext cx="213" cy="248"/>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pPr algn="ctr" eaLnBrk="0" hangingPunct="0"/>
                  <a:r>
                    <a:rPr lang="en-US" sz="1700" b="1">
                      <a:solidFill>
                        <a:srgbClr val="990033"/>
                      </a:solidFill>
                      <a:latin typeface="Arial" pitchFamily="34" charset="0"/>
                      <a:cs typeface="Arial" pitchFamily="34" charset="0"/>
                    </a:rPr>
                    <a:t>1</a:t>
                  </a:r>
                </a:p>
              </p:txBody>
            </p:sp>
            <p:sp>
              <p:nvSpPr>
                <p:cNvPr id="73" name="AutoShape 32"/>
                <p:cNvSpPr>
                  <a:spLocks noChangeArrowheads="1"/>
                </p:cNvSpPr>
                <p:nvPr/>
              </p:nvSpPr>
              <p:spPr bwMode="auto">
                <a:xfrm>
                  <a:off x="3300" y="1328"/>
                  <a:ext cx="213" cy="248"/>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pPr algn="ctr" eaLnBrk="0" hangingPunct="0"/>
                  <a:r>
                    <a:rPr lang="en-US" sz="1700" b="1">
                      <a:solidFill>
                        <a:srgbClr val="990033"/>
                      </a:solidFill>
                      <a:latin typeface="Arial" pitchFamily="34" charset="0"/>
                      <a:cs typeface="Arial" pitchFamily="34" charset="0"/>
                    </a:rPr>
                    <a:t>2</a:t>
                  </a:r>
                </a:p>
              </p:txBody>
            </p:sp>
            <p:sp>
              <p:nvSpPr>
                <p:cNvPr id="74" name="AutoShape 33"/>
                <p:cNvSpPr>
                  <a:spLocks noChangeArrowheads="1"/>
                </p:cNvSpPr>
                <p:nvPr/>
              </p:nvSpPr>
              <p:spPr bwMode="auto">
                <a:xfrm>
                  <a:off x="3300" y="1753"/>
                  <a:ext cx="213" cy="248"/>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pPr algn="ctr" eaLnBrk="0" hangingPunct="0"/>
                  <a:r>
                    <a:rPr lang="en-US" sz="1700" b="1">
                      <a:solidFill>
                        <a:srgbClr val="990033"/>
                      </a:solidFill>
                      <a:latin typeface="Arial" pitchFamily="34" charset="0"/>
                      <a:cs typeface="Arial" pitchFamily="34" charset="0"/>
                    </a:rPr>
                    <a:t>3</a:t>
                  </a:r>
                </a:p>
              </p:txBody>
            </p:sp>
            <p:sp>
              <p:nvSpPr>
                <p:cNvPr id="75" name="AutoShape 34"/>
                <p:cNvSpPr>
                  <a:spLocks noChangeArrowheads="1"/>
                </p:cNvSpPr>
                <p:nvPr/>
              </p:nvSpPr>
              <p:spPr bwMode="auto">
                <a:xfrm>
                  <a:off x="3300" y="2179"/>
                  <a:ext cx="213" cy="248"/>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pPr algn="ctr" eaLnBrk="0" hangingPunct="0"/>
                  <a:r>
                    <a:rPr lang="en-US" sz="1700" b="1">
                      <a:solidFill>
                        <a:srgbClr val="990033"/>
                      </a:solidFill>
                      <a:latin typeface="Arial" pitchFamily="34" charset="0"/>
                      <a:cs typeface="Arial" pitchFamily="34" charset="0"/>
                    </a:rPr>
                    <a:t>4</a:t>
                  </a:r>
                </a:p>
              </p:txBody>
            </p:sp>
          </p:grpSp>
          <p:sp>
            <p:nvSpPr>
              <p:cNvPr id="61" name="AutoShape 35"/>
              <p:cNvSpPr>
                <a:spLocks noChangeArrowheads="1"/>
              </p:cNvSpPr>
              <p:nvPr/>
            </p:nvSpPr>
            <p:spPr bwMode="auto">
              <a:xfrm>
                <a:off x="3295650" y="5694363"/>
                <a:ext cx="1781175" cy="403225"/>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gn="ctr" eaLnBrk="0" hangingPunct="0">
                  <a:lnSpc>
                    <a:spcPct val="85000"/>
                  </a:lnSpc>
                </a:pPr>
                <a:r>
                  <a:rPr lang="en-US" sz="1700" b="1">
                    <a:latin typeface="Arial" pitchFamily="34" charset="0"/>
                    <a:cs typeface="Arial" pitchFamily="34" charset="0"/>
                  </a:rPr>
                  <a:t>IP Address Lease</a:t>
                </a:r>
              </a:p>
            </p:txBody>
          </p:sp>
          <p:sp>
            <p:nvSpPr>
              <p:cNvPr id="63" name="AutoShape 39"/>
              <p:cNvSpPr>
                <a:spLocks noChangeArrowheads="1"/>
              </p:cNvSpPr>
              <p:nvPr/>
            </p:nvSpPr>
            <p:spPr bwMode="auto">
              <a:xfrm>
                <a:off x="4016375" y="4732338"/>
                <a:ext cx="338138" cy="393700"/>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pPr algn="ctr" eaLnBrk="0" hangingPunct="0"/>
                <a:r>
                  <a:rPr lang="en-US" sz="1700" b="1">
                    <a:solidFill>
                      <a:srgbClr val="990033"/>
                    </a:solidFill>
                    <a:latin typeface="Arial" pitchFamily="34" charset="0"/>
                    <a:cs typeface="Arial" pitchFamily="34" charset="0"/>
                  </a:rPr>
                  <a:t>1</a:t>
                </a:r>
              </a:p>
            </p:txBody>
          </p:sp>
          <p:sp>
            <p:nvSpPr>
              <p:cNvPr id="64" name="AutoShape 40"/>
              <p:cNvSpPr>
                <a:spLocks noChangeArrowheads="1"/>
              </p:cNvSpPr>
              <p:nvPr/>
            </p:nvSpPr>
            <p:spPr bwMode="auto">
              <a:xfrm>
                <a:off x="4016375" y="5221288"/>
                <a:ext cx="338138" cy="393700"/>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pPr algn="ctr" eaLnBrk="0" hangingPunct="0"/>
                <a:r>
                  <a:rPr lang="en-US" sz="1700" b="1">
                    <a:solidFill>
                      <a:srgbClr val="990033"/>
                    </a:solidFill>
                    <a:latin typeface="Arial" pitchFamily="34" charset="0"/>
                    <a:cs typeface="Arial" pitchFamily="34" charset="0"/>
                  </a:rPr>
                  <a:t>2</a:t>
                </a:r>
              </a:p>
            </p:txBody>
          </p:sp>
        </p:grpSp>
      </p:gr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vi-VN" smtClean="0"/>
              <a:t>Active Directory-integrated zone có một số thuận lợi sau: </a:t>
            </a:r>
          </a:p>
          <a:p>
            <a:pPr lvl="1"/>
            <a:r>
              <a:rPr lang="vi-VN" smtClean="0"/>
              <a:t>DNS zone lưu trữ trong trong Active Directory, nhờ cơ chế này mà dữ liệu được bảo mật hơn. </a:t>
            </a:r>
          </a:p>
          <a:p>
            <a:pPr lvl="1"/>
            <a:r>
              <a:rPr lang="vi-VN" smtClean="0"/>
              <a:t>Sử dụng cơ chế nhân bản của Active Directory để cập nhận và sao chép cơ sở dữ liệu DNS. </a:t>
            </a:r>
          </a:p>
          <a:p>
            <a:pPr lvl="1"/>
            <a:r>
              <a:rPr lang="vi-VN" smtClean="0"/>
              <a:t>Sử dụng secure dynamic update. </a:t>
            </a:r>
          </a:p>
          <a:p>
            <a:pPr lvl="1"/>
            <a:r>
              <a:rPr lang="vi-VN" smtClean="0"/>
              <a:t>Sử  dụng  nhiều  master  name  server  để  quản   lý   tên  miền   thay  vì  sử  dụng  một  master  name server. </a:t>
            </a:r>
          </a:p>
          <a:p>
            <a:r>
              <a:rPr lang="vi-VN" smtClean="0"/>
              <a:t> Mô hình Active Directory-integrated zone sử dụng secure dynamic update</a:t>
            </a:r>
            <a:endParaRPr lang="en-US"/>
          </a:p>
        </p:txBody>
      </p:sp>
      <p:sp>
        <p:nvSpPr>
          <p:cNvPr id="3" name="Title 2"/>
          <p:cNvSpPr>
            <a:spLocks noGrp="1"/>
          </p:cNvSpPr>
          <p:nvPr>
            <p:ph type="title"/>
          </p:nvPr>
        </p:nvSpPr>
        <p:spPr>
          <a:xfrm>
            <a:off x="0" y="76200"/>
            <a:ext cx="9144000" cy="609600"/>
          </a:xfrm>
        </p:spPr>
        <p:txBody>
          <a:bodyPr/>
          <a:lstStyle/>
          <a:p>
            <a:r>
              <a:rPr lang="vi-VN" sz="3600" smtClean="0"/>
              <a:t>IV.7.  Active Directory-integrated zone. </a:t>
            </a:r>
            <a:endParaRPr lang="en-US"/>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Oval 2"/>
          <p:cNvSpPr>
            <a:spLocks noChangeArrowheads="1"/>
          </p:cNvSpPr>
          <p:nvPr/>
        </p:nvSpPr>
        <p:spPr bwMode="auto">
          <a:xfrm>
            <a:off x="5822950" y="3230562"/>
            <a:ext cx="1704975" cy="825500"/>
          </a:xfrm>
          <a:prstGeom prst="ellipse">
            <a:avLst/>
          </a:prstGeom>
          <a:gradFill rotWithShape="1">
            <a:gsLst>
              <a:gs pos="0">
                <a:srgbClr val="FFFFFF"/>
              </a:gs>
              <a:gs pos="100000">
                <a:srgbClr val="EEEFD7"/>
              </a:gs>
            </a:gsLst>
            <a:path path="shape">
              <a:fillToRect l="50000" t="50000" r="50000" b="50000"/>
            </a:path>
          </a:gradFill>
          <a:ln w="9525">
            <a:noFill/>
            <a:round/>
            <a:headEnd/>
            <a:tailEnd/>
          </a:ln>
          <a:effectLst>
            <a:outerShdw dist="35921" dir="2700000" algn="ctr" rotWithShape="0">
              <a:srgbClr val="ADADAD"/>
            </a:outerShdw>
          </a:effectLst>
        </p:spPr>
        <p:txBody>
          <a:bodyPr wrap="none" anchor="ctr"/>
          <a:lstStyle/>
          <a:p>
            <a:endParaRPr lang="en-US"/>
          </a:p>
        </p:txBody>
      </p:sp>
      <p:pic>
        <p:nvPicPr>
          <p:cNvPr id="40963" name="Picture 3" descr="Server01"/>
          <p:cNvPicPr>
            <a:picLocks noChangeAspect="1" noChangeArrowheads="1"/>
          </p:cNvPicPr>
          <p:nvPr/>
        </p:nvPicPr>
        <p:blipFill>
          <a:blip r:embed="rId2" cstate="print"/>
          <a:srcRect/>
          <a:stretch>
            <a:fillRect/>
          </a:stretch>
        </p:blipFill>
        <p:spPr bwMode="auto">
          <a:xfrm>
            <a:off x="6057900" y="2519362"/>
            <a:ext cx="1212850" cy="1425575"/>
          </a:xfrm>
          <a:prstGeom prst="rect">
            <a:avLst/>
          </a:prstGeom>
          <a:noFill/>
        </p:spPr>
      </p:pic>
      <p:sp>
        <p:nvSpPr>
          <p:cNvPr id="40964" name="Oval 4"/>
          <p:cNvSpPr>
            <a:spLocks noChangeArrowheads="1"/>
          </p:cNvSpPr>
          <p:nvPr/>
        </p:nvSpPr>
        <p:spPr bwMode="auto">
          <a:xfrm>
            <a:off x="5822950" y="5033962"/>
            <a:ext cx="1704975" cy="825500"/>
          </a:xfrm>
          <a:prstGeom prst="ellipse">
            <a:avLst/>
          </a:prstGeom>
          <a:gradFill rotWithShape="1">
            <a:gsLst>
              <a:gs pos="0">
                <a:srgbClr val="FFFFFF"/>
              </a:gs>
              <a:gs pos="100000">
                <a:srgbClr val="EEEFD7"/>
              </a:gs>
            </a:gsLst>
            <a:path path="shape">
              <a:fillToRect l="50000" t="50000" r="50000" b="50000"/>
            </a:path>
          </a:gradFill>
          <a:ln w="9525">
            <a:noFill/>
            <a:round/>
            <a:headEnd/>
            <a:tailEnd/>
          </a:ln>
          <a:effectLst>
            <a:outerShdw dist="35921" dir="2700000" algn="ctr" rotWithShape="0">
              <a:srgbClr val="ADADAD"/>
            </a:outerShdw>
          </a:effectLst>
        </p:spPr>
        <p:txBody>
          <a:bodyPr wrap="none" anchor="ctr"/>
          <a:lstStyle/>
          <a:p>
            <a:endParaRPr lang="en-US"/>
          </a:p>
        </p:txBody>
      </p:sp>
      <p:sp>
        <p:nvSpPr>
          <p:cNvPr id="40965" name="Oval 5"/>
          <p:cNvSpPr>
            <a:spLocks noChangeArrowheads="1"/>
          </p:cNvSpPr>
          <p:nvPr/>
        </p:nvSpPr>
        <p:spPr bwMode="auto">
          <a:xfrm>
            <a:off x="735013" y="4068762"/>
            <a:ext cx="1704975" cy="825500"/>
          </a:xfrm>
          <a:prstGeom prst="ellipse">
            <a:avLst/>
          </a:prstGeom>
          <a:gradFill rotWithShape="1">
            <a:gsLst>
              <a:gs pos="0">
                <a:srgbClr val="FFFFFF"/>
              </a:gs>
              <a:gs pos="100000">
                <a:srgbClr val="EEEFD7"/>
              </a:gs>
            </a:gsLst>
            <a:path path="shape">
              <a:fillToRect l="50000" t="50000" r="50000" b="50000"/>
            </a:path>
          </a:gradFill>
          <a:ln w="9525">
            <a:noFill/>
            <a:round/>
            <a:headEnd/>
            <a:tailEnd/>
          </a:ln>
          <a:effectLst>
            <a:outerShdw dist="35921" dir="2700000" algn="ctr" rotWithShape="0">
              <a:srgbClr val="ADADAD"/>
            </a:outerShdw>
          </a:effectLst>
        </p:spPr>
        <p:txBody>
          <a:bodyPr wrap="none" anchor="ctr"/>
          <a:lstStyle/>
          <a:p>
            <a:endParaRPr lang="en-US"/>
          </a:p>
        </p:txBody>
      </p:sp>
      <p:pic>
        <p:nvPicPr>
          <p:cNvPr id="40967" name="Picture 7" descr="Computer_DesktopComputerSansKeyboard01"/>
          <p:cNvPicPr>
            <a:picLocks noChangeAspect="1" noChangeArrowheads="1"/>
          </p:cNvPicPr>
          <p:nvPr/>
        </p:nvPicPr>
        <p:blipFill>
          <a:blip r:embed="rId3" cstate="print"/>
          <a:srcRect/>
          <a:stretch>
            <a:fillRect/>
          </a:stretch>
        </p:blipFill>
        <p:spPr bwMode="auto">
          <a:xfrm>
            <a:off x="1084263" y="3467100"/>
            <a:ext cx="1093787" cy="1333500"/>
          </a:xfrm>
          <a:prstGeom prst="rect">
            <a:avLst/>
          </a:prstGeom>
          <a:noFill/>
        </p:spPr>
      </p:pic>
      <p:sp>
        <p:nvSpPr>
          <p:cNvPr id="40968" name="AutoShape 8"/>
          <p:cNvSpPr>
            <a:spLocks noChangeArrowheads="1"/>
          </p:cNvSpPr>
          <p:nvPr/>
        </p:nvSpPr>
        <p:spPr bwMode="auto">
          <a:xfrm>
            <a:off x="909638" y="2671762"/>
            <a:ext cx="1398587" cy="823913"/>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gn="ctr" eaLnBrk="0" hangingPunct="0">
              <a:lnSpc>
                <a:spcPct val="85000"/>
              </a:lnSpc>
            </a:pPr>
            <a:r>
              <a:rPr lang="en-US" b="1">
                <a:latin typeface="Arial Narrow" pitchFamily="34" charset="0"/>
              </a:rPr>
              <a:t>DNS Client</a:t>
            </a:r>
          </a:p>
          <a:p>
            <a:pPr algn="ctr" eaLnBrk="0" hangingPunct="0">
              <a:lnSpc>
                <a:spcPct val="85000"/>
              </a:lnSpc>
            </a:pPr>
            <a:r>
              <a:rPr lang="en-US" b="1">
                <a:latin typeface="Arial Narrow" pitchFamily="34" charset="0"/>
              </a:rPr>
              <a:t>running</a:t>
            </a:r>
          </a:p>
          <a:p>
            <a:pPr algn="ctr" eaLnBrk="0" hangingPunct="0">
              <a:lnSpc>
                <a:spcPct val="85000"/>
              </a:lnSpc>
            </a:pPr>
            <a:r>
              <a:rPr lang="en-US" b="1">
                <a:latin typeface="Arial Narrow" pitchFamily="34" charset="0"/>
              </a:rPr>
              <a:t>Windows XP</a:t>
            </a:r>
          </a:p>
        </p:txBody>
      </p:sp>
      <p:sp>
        <p:nvSpPr>
          <p:cNvPr id="40969" name="AutoShape 9"/>
          <p:cNvSpPr>
            <a:spLocks noChangeArrowheads="1"/>
          </p:cNvSpPr>
          <p:nvPr/>
        </p:nvSpPr>
        <p:spPr bwMode="auto">
          <a:xfrm>
            <a:off x="6943725" y="2925762"/>
            <a:ext cx="1368425" cy="530225"/>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gn="ctr" eaLnBrk="0" hangingPunct="0">
              <a:lnSpc>
                <a:spcPct val="85000"/>
              </a:lnSpc>
            </a:pPr>
            <a:r>
              <a:rPr lang="en-US" b="1">
                <a:latin typeface="Arial Narrow" pitchFamily="34" charset="0"/>
              </a:rPr>
              <a:t>Local </a:t>
            </a:r>
          </a:p>
          <a:p>
            <a:pPr algn="ctr" eaLnBrk="0" hangingPunct="0">
              <a:lnSpc>
                <a:spcPct val="85000"/>
              </a:lnSpc>
            </a:pPr>
            <a:r>
              <a:rPr lang="en-US" b="1">
                <a:latin typeface="Arial Narrow" pitchFamily="34" charset="0"/>
              </a:rPr>
              <a:t>DNS Server</a:t>
            </a:r>
          </a:p>
        </p:txBody>
      </p:sp>
      <p:pic>
        <p:nvPicPr>
          <p:cNvPr id="40970" name="Picture 10" descr="Server01"/>
          <p:cNvPicPr>
            <a:picLocks noChangeAspect="1" noChangeArrowheads="1"/>
          </p:cNvPicPr>
          <p:nvPr/>
        </p:nvPicPr>
        <p:blipFill>
          <a:blip r:embed="rId2" cstate="print"/>
          <a:srcRect/>
          <a:stretch>
            <a:fillRect/>
          </a:stretch>
        </p:blipFill>
        <p:spPr bwMode="auto">
          <a:xfrm>
            <a:off x="6057900" y="4321175"/>
            <a:ext cx="1212850" cy="1425575"/>
          </a:xfrm>
          <a:prstGeom prst="rect">
            <a:avLst/>
          </a:prstGeom>
          <a:noFill/>
        </p:spPr>
      </p:pic>
      <p:sp>
        <p:nvSpPr>
          <p:cNvPr id="40971" name="AutoShape 11"/>
          <p:cNvSpPr>
            <a:spLocks noChangeArrowheads="1"/>
          </p:cNvSpPr>
          <p:nvPr/>
        </p:nvSpPr>
        <p:spPr bwMode="auto">
          <a:xfrm>
            <a:off x="5778500" y="5813425"/>
            <a:ext cx="2533650" cy="882650"/>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gn="ctr" eaLnBrk="0" hangingPunct="0">
              <a:lnSpc>
                <a:spcPct val="85000"/>
              </a:lnSpc>
            </a:pPr>
            <a:endParaRPr lang="en-US" b="1">
              <a:latin typeface="Arial Narrow" pitchFamily="34" charset="0"/>
            </a:endParaRPr>
          </a:p>
          <a:p>
            <a:pPr algn="ctr" eaLnBrk="0" hangingPunct="0">
              <a:lnSpc>
                <a:spcPct val="85000"/>
              </a:lnSpc>
            </a:pPr>
            <a:r>
              <a:rPr lang="en-US" b="1">
                <a:latin typeface="Arial Narrow" pitchFamily="34" charset="0"/>
              </a:rPr>
              <a:t>Domain Controller with </a:t>
            </a:r>
          </a:p>
          <a:p>
            <a:pPr algn="ctr" eaLnBrk="0" hangingPunct="0">
              <a:lnSpc>
                <a:spcPct val="85000"/>
              </a:lnSpc>
            </a:pPr>
            <a:r>
              <a:rPr lang="en-US" b="1">
                <a:latin typeface="Arial Narrow" pitchFamily="34" charset="0"/>
              </a:rPr>
              <a:t>Active Directory-</a:t>
            </a:r>
          </a:p>
          <a:p>
            <a:pPr algn="ctr" eaLnBrk="0" hangingPunct="0">
              <a:lnSpc>
                <a:spcPct val="85000"/>
              </a:lnSpc>
            </a:pPr>
            <a:r>
              <a:rPr lang="en-US" b="1">
                <a:latin typeface="Arial Narrow" pitchFamily="34" charset="0"/>
              </a:rPr>
              <a:t>Integrated DNS Zone</a:t>
            </a:r>
          </a:p>
          <a:p>
            <a:pPr algn="ctr" eaLnBrk="0" hangingPunct="0">
              <a:lnSpc>
                <a:spcPct val="85000"/>
              </a:lnSpc>
            </a:pPr>
            <a:endParaRPr lang="en-US" b="1">
              <a:latin typeface="Arial Narrow" pitchFamily="34" charset="0"/>
            </a:endParaRPr>
          </a:p>
        </p:txBody>
      </p:sp>
      <p:sp>
        <p:nvSpPr>
          <p:cNvPr id="40972" name="Line 12"/>
          <p:cNvSpPr>
            <a:spLocks noChangeShapeType="1"/>
          </p:cNvSpPr>
          <p:nvPr/>
        </p:nvSpPr>
        <p:spPr bwMode="auto">
          <a:xfrm flipV="1">
            <a:off x="2619375" y="2838450"/>
            <a:ext cx="3106738" cy="1587"/>
          </a:xfrm>
          <a:prstGeom prst="line">
            <a:avLst/>
          </a:prstGeom>
          <a:noFill/>
          <a:ln w="50800">
            <a:solidFill>
              <a:srgbClr val="CC0000"/>
            </a:solidFill>
            <a:round/>
            <a:headEnd/>
            <a:tailEnd type="triangle" w="med" len="med"/>
          </a:ln>
          <a:effectLst/>
        </p:spPr>
        <p:txBody>
          <a:bodyPr anchor="ctr"/>
          <a:lstStyle/>
          <a:p>
            <a:endParaRPr lang="en-US"/>
          </a:p>
        </p:txBody>
      </p:sp>
      <p:sp>
        <p:nvSpPr>
          <p:cNvPr id="40973" name="Line 13"/>
          <p:cNvSpPr>
            <a:spLocks noChangeShapeType="1"/>
          </p:cNvSpPr>
          <p:nvPr/>
        </p:nvSpPr>
        <p:spPr bwMode="auto">
          <a:xfrm>
            <a:off x="2586038" y="3695700"/>
            <a:ext cx="3028950" cy="454025"/>
          </a:xfrm>
          <a:prstGeom prst="line">
            <a:avLst/>
          </a:prstGeom>
          <a:noFill/>
          <a:ln w="50800">
            <a:solidFill>
              <a:srgbClr val="CC0000"/>
            </a:solidFill>
            <a:round/>
            <a:headEnd/>
            <a:tailEnd type="triangle" w="med" len="med"/>
          </a:ln>
          <a:effectLst/>
        </p:spPr>
        <p:txBody>
          <a:bodyPr anchor="ctr"/>
          <a:lstStyle/>
          <a:p>
            <a:endParaRPr lang="en-US"/>
          </a:p>
        </p:txBody>
      </p:sp>
      <p:sp>
        <p:nvSpPr>
          <p:cNvPr id="40974" name="Line 14"/>
          <p:cNvSpPr>
            <a:spLocks noChangeShapeType="1"/>
          </p:cNvSpPr>
          <p:nvPr/>
        </p:nvSpPr>
        <p:spPr bwMode="auto">
          <a:xfrm>
            <a:off x="2513013" y="4349750"/>
            <a:ext cx="3233737" cy="519112"/>
          </a:xfrm>
          <a:prstGeom prst="line">
            <a:avLst/>
          </a:prstGeom>
          <a:noFill/>
          <a:ln w="50800">
            <a:solidFill>
              <a:srgbClr val="CC0000"/>
            </a:solidFill>
            <a:round/>
            <a:headEnd/>
            <a:tailEnd type="triangle" w="med" len="med"/>
          </a:ln>
          <a:effectLst/>
        </p:spPr>
        <p:txBody>
          <a:bodyPr anchor="ctr"/>
          <a:lstStyle/>
          <a:p>
            <a:endParaRPr lang="en-US"/>
          </a:p>
        </p:txBody>
      </p:sp>
      <p:sp>
        <p:nvSpPr>
          <p:cNvPr id="40975" name="Line 15"/>
          <p:cNvSpPr>
            <a:spLocks noChangeShapeType="1"/>
          </p:cNvSpPr>
          <p:nvPr/>
        </p:nvSpPr>
        <p:spPr bwMode="auto">
          <a:xfrm flipH="1">
            <a:off x="2606675" y="3013075"/>
            <a:ext cx="3133725" cy="0"/>
          </a:xfrm>
          <a:prstGeom prst="line">
            <a:avLst/>
          </a:prstGeom>
          <a:noFill/>
          <a:ln w="50800" cap="rnd">
            <a:solidFill>
              <a:srgbClr val="CC0000"/>
            </a:solidFill>
            <a:prstDash val="sysDot"/>
            <a:round/>
            <a:headEnd/>
            <a:tailEnd type="triangle" w="med" len="med"/>
          </a:ln>
          <a:effectLst/>
        </p:spPr>
        <p:txBody>
          <a:bodyPr anchor="ctr"/>
          <a:lstStyle/>
          <a:p>
            <a:endParaRPr lang="en-US"/>
          </a:p>
        </p:txBody>
      </p:sp>
      <p:sp>
        <p:nvSpPr>
          <p:cNvPr id="40976" name="Line 16"/>
          <p:cNvSpPr>
            <a:spLocks noChangeShapeType="1"/>
          </p:cNvSpPr>
          <p:nvPr/>
        </p:nvSpPr>
        <p:spPr bwMode="auto">
          <a:xfrm flipH="1" flipV="1">
            <a:off x="2582863" y="3975100"/>
            <a:ext cx="3065462" cy="488950"/>
          </a:xfrm>
          <a:prstGeom prst="line">
            <a:avLst/>
          </a:prstGeom>
          <a:noFill/>
          <a:ln w="50800" cap="rnd">
            <a:solidFill>
              <a:srgbClr val="CC0000"/>
            </a:solidFill>
            <a:prstDash val="sysDot"/>
            <a:round/>
            <a:headEnd/>
            <a:tailEnd type="triangle" w="med" len="med"/>
          </a:ln>
          <a:effectLst/>
        </p:spPr>
        <p:txBody>
          <a:bodyPr anchor="ctr"/>
          <a:lstStyle/>
          <a:p>
            <a:endParaRPr lang="en-US"/>
          </a:p>
        </p:txBody>
      </p:sp>
      <p:sp>
        <p:nvSpPr>
          <p:cNvPr id="40977" name="Text Box 17"/>
          <p:cNvSpPr txBox="1">
            <a:spLocks noChangeArrowheads="1"/>
          </p:cNvSpPr>
          <p:nvPr/>
        </p:nvSpPr>
        <p:spPr bwMode="auto">
          <a:xfrm>
            <a:off x="2901950" y="2514600"/>
            <a:ext cx="2198688" cy="366712"/>
          </a:xfrm>
          <a:prstGeom prst="rect">
            <a:avLst/>
          </a:prstGeom>
          <a:noFill/>
          <a:ln w="9525" algn="ctr">
            <a:noFill/>
            <a:miter lim="800000"/>
            <a:headEnd/>
            <a:tailEnd/>
          </a:ln>
          <a:effectLst/>
        </p:spPr>
        <p:txBody>
          <a:bodyPr wrap="none">
            <a:spAutoFit/>
          </a:bodyPr>
          <a:lstStyle/>
          <a:p>
            <a:pPr algn="ctr" eaLnBrk="0" hangingPunct="0"/>
            <a:r>
              <a:rPr lang="en-US">
                <a:latin typeface="Arial Narrow" pitchFamily="34" charset="0"/>
              </a:rPr>
              <a:t>Find authoritative server</a:t>
            </a:r>
          </a:p>
        </p:txBody>
      </p:sp>
      <p:sp>
        <p:nvSpPr>
          <p:cNvPr id="40978" name="Text Box 18"/>
          <p:cNvSpPr txBox="1">
            <a:spLocks noChangeArrowheads="1"/>
          </p:cNvSpPr>
          <p:nvPr/>
        </p:nvSpPr>
        <p:spPr bwMode="auto">
          <a:xfrm>
            <a:off x="3824288" y="3019425"/>
            <a:ext cx="715962" cy="366712"/>
          </a:xfrm>
          <a:prstGeom prst="rect">
            <a:avLst/>
          </a:prstGeom>
          <a:noFill/>
          <a:ln w="9525" algn="ctr">
            <a:noFill/>
            <a:miter lim="800000"/>
            <a:headEnd/>
            <a:tailEnd/>
          </a:ln>
          <a:effectLst/>
        </p:spPr>
        <p:txBody>
          <a:bodyPr wrap="none">
            <a:spAutoFit/>
          </a:bodyPr>
          <a:lstStyle/>
          <a:p>
            <a:pPr algn="ctr" eaLnBrk="0" hangingPunct="0"/>
            <a:r>
              <a:rPr lang="en-US">
                <a:latin typeface="Arial Narrow" pitchFamily="34" charset="0"/>
              </a:rPr>
              <a:t>Result</a:t>
            </a:r>
          </a:p>
        </p:txBody>
      </p:sp>
      <p:sp>
        <p:nvSpPr>
          <p:cNvPr id="40979" name="Text Box 19"/>
          <p:cNvSpPr txBox="1">
            <a:spLocks noChangeArrowheads="1"/>
          </p:cNvSpPr>
          <p:nvPr/>
        </p:nvSpPr>
        <p:spPr bwMode="auto">
          <a:xfrm rot="478249">
            <a:off x="3013075" y="3614737"/>
            <a:ext cx="2333625" cy="366713"/>
          </a:xfrm>
          <a:prstGeom prst="rect">
            <a:avLst/>
          </a:prstGeom>
          <a:noFill/>
          <a:ln w="9525" algn="ctr">
            <a:noFill/>
            <a:miter lim="800000"/>
            <a:headEnd/>
            <a:tailEnd/>
          </a:ln>
          <a:effectLst/>
        </p:spPr>
        <p:txBody>
          <a:bodyPr>
            <a:spAutoFit/>
          </a:bodyPr>
          <a:lstStyle/>
          <a:p>
            <a:pPr algn="ctr" eaLnBrk="0" hangingPunct="0"/>
            <a:r>
              <a:rPr lang="en-US">
                <a:latin typeface="Arial Narrow" pitchFamily="34" charset="0"/>
              </a:rPr>
              <a:t>Find authoritative server</a:t>
            </a:r>
          </a:p>
        </p:txBody>
      </p:sp>
      <p:sp>
        <p:nvSpPr>
          <p:cNvPr id="40980" name="Text Box 20"/>
          <p:cNvSpPr txBox="1">
            <a:spLocks noChangeArrowheads="1"/>
          </p:cNvSpPr>
          <p:nvPr/>
        </p:nvSpPr>
        <p:spPr bwMode="auto">
          <a:xfrm rot="592778">
            <a:off x="3673475" y="3892550"/>
            <a:ext cx="715963" cy="366712"/>
          </a:xfrm>
          <a:prstGeom prst="rect">
            <a:avLst/>
          </a:prstGeom>
          <a:noFill/>
          <a:ln w="9525" algn="ctr">
            <a:noFill/>
            <a:miter lim="800000"/>
            <a:headEnd/>
            <a:tailEnd/>
          </a:ln>
          <a:effectLst/>
        </p:spPr>
        <p:txBody>
          <a:bodyPr wrap="none">
            <a:spAutoFit/>
          </a:bodyPr>
          <a:lstStyle/>
          <a:p>
            <a:pPr algn="ctr" eaLnBrk="0" hangingPunct="0"/>
            <a:r>
              <a:rPr lang="en-US">
                <a:latin typeface="Arial Narrow" pitchFamily="34" charset="0"/>
              </a:rPr>
              <a:t>Result</a:t>
            </a:r>
          </a:p>
        </p:txBody>
      </p:sp>
      <p:sp>
        <p:nvSpPr>
          <p:cNvPr id="40981" name="Text Box 21"/>
          <p:cNvSpPr txBox="1">
            <a:spLocks noChangeArrowheads="1"/>
          </p:cNvSpPr>
          <p:nvPr/>
        </p:nvSpPr>
        <p:spPr bwMode="auto">
          <a:xfrm rot="533145">
            <a:off x="2884488" y="4291012"/>
            <a:ext cx="2452687" cy="366713"/>
          </a:xfrm>
          <a:prstGeom prst="rect">
            <a:avLst/>
          </a:prstGeom>
          <a:noFill/>
          <a:ln w="9525" algn="ctr">
            <a:noFill/>
            <a:miter lim="800000"/>
            <a:headEnd/>
            <a:tailEnd/>
          </a:ln>
          <a:effectLst/>
        </p:spPr>
        <p:txBody>
          <a:bodyPr wrap="none">
            <a:spAutoFit/>
          </a:bodyPr>
          <a:lstStyle/>
          <a:p>
            <a:pPr algn="ctr" eaLnBrk="0" hangingPunct="0"/>
            <a:r>
              <a:rPr lang="en-US">
                <a:latin typeface="Arial Narrow" pitchFamily="34" charset="0"/>
              </a:rPr>
              <a:t>Attempt non-secure update</a:t>
            </a:r>
          </a:p>
        </p:txBody>
      </p:sp>
      <p:sp>
        <p:nvSpPr>
          <p:cNvPr id="40982" name="Line 22"/>
          <p:cNvSpPr>
            <a:spLocks noChangeShapeType="1"/>
          </p:cNvSpPr>
          <p:nvPr/>
        </p:nvSpPr>
        <p:spPr bwMode="auto">
          <a:xfrm flipH="1" flipV="1">
            <a:off x="2490788" y="4591050"/>
            <a:ext cx="3249612" cy="533400"/>
          </a:xfrm>
          <a:prstGeom prst="line">
            <a:avLst/>
          </a:prstGeom>
          <a:noFill/>
          <a:ln w="50800" cap="rnd">
            <a:solidFill>
              <a:srgbClr val="CC0000"/>
            </a:solidFill>
            <a:prstDash val="sysDot"/>
            <a:round/>
            <a:headEnd/>
            <a:tailEnd type="triangle" w="med" len="med"/>
          </a:ln>
          <a:effectLst/>
        </p:spPr>
        <p:txBody>
          <a:bodyPr anchor="ctr"/>
          <a:lstStyle/>
          <a:p>
            <a:endParaRPr lang="en-US"/>
          </a:p>
        </p:txBody>
      </p:sp>
      <p:sp>
        <p:nvSpPr>
          <p:cNvPr id="40983" name="Text Box 23"/>
          <p:cNvSpPr txBox="1">
            <a:spLocks noChangeArrowheads="1"/>
          </p:cNvSpPr>
          <p:nvPr/>
        </p:nvSpPr>
        <p:spPr bwMode="auto">
          <a:xfrm rot="503131">
            <a:off x="3525838" y="4525962"/>
            <a:ext cx="884237" cy="366713"/>
          </a:xfrm>
          <a:prstGeom prst="rect">
            <a:avLst/>
          </a:prstGeom>
          <a:noFill/>
          <a:ln w="9525" algn="ctr">
            <a:noFill/>
            <a:miter lim="800000"/>
            <a:headEnd/>
            <a:tailEnd/>
          </a:ln>
          <a:effectLst/>
        </p:spPr>
        <p:txBody>
          <a:bodyPr>
            <a:spAutoFit/>
          </a:bodyPr>
          <a:lstStyle/>
          <a:p>
            <a:pPr algn="ctr" eaLnBrk="0" hangingPunct="0"/>
            <a:r>
              <a:rPr lang="en-US">
                <a:latin typeface="Arial Narrow" pitchFamily="34" charset="0"/>
              </a:rPr>
              <a:t>Refused</a:t>
            </a:r>
          </a:p>
        </p:txBody>
      </p:sp>
      <p:sp>
        <p:nvSpPr>
          <p:cNvPr id="40984" name="Line 24"/>
          <p:cNvSpPr>
            <a:spLocks noChangeShapeType="1"/>
          </p:cNvSpPr>
          <p:nvPr/>
        </p:nvSpPr>
        <p:spPr bwMode="auto">
          <a:xfrm>
            <a:off x="2501900" y="4975225"/>
            <a:ext cx="3170238" cy="506412"/>
          </a:xfrm>
          <a:prstGeom prst="line">
            <a:avLst/>
          </a:prstGeom>
          <a:noFill/>
          <a:ln w="50800">
            <a:solidFill>
              <a:srgbClr val="CC0000"/>
            </a:solidFill>
            <a:round/>
            <a:headEnd/>
            <a:tailEnd type="triangle" w="med" len="med"/>
          </a:ln>
          <a:effectLst/>
        </p:spPr>
        <p:txBody>
          <a:bodyPr anchor="ctr"/>
          <a:lstStyle/>
          <a:p>
            <a:endParaRPr lang="en-US"/>
          </a:p>
        </p:txBody>
      </p:sp>
      <p:sp>
        <p:nvSpPr>
          <p:cNvPr id="40985" name="Text Box 25"/>
          <p:cNvSpPr txBox="1">
            <a:spLocks noChangeArrowheads="1"/>
          </p:cNvSpPr>
          <p:nvPr/>
        </p:nvSpPr>
        <p:spPr bwMode="auto">
          <a:xfrm rot="591949">
            <a:off x="2917825" y="4878387"/>
            <a:ext cx="2381250" cy="366713"/>
          </a:xfrm>
          <a:prstGeom prst="rect">
            <a:avLst/>
          </a:prstGeom>
          <a:noFill/>
          <a:ln w="9525" algn="ctr">
            <a:noFill/>
            <a:miter lim="800000"/>
            <a:headEnd/>
            <a:tailEnd/>
          </a:ln>
          <a:effectLst/>
        </p:spPr>
        <p:txBody>
          <a:bodyPr wrap="none">
            <a:spAutoFit/>
          </a:bodyPr>
          <a:lstStyle/>
          <a:p>
            <a:pPr algn="ctr" eaLnBrk="0" hangingPunct="0"/>
            <a:r>
              <a:rPr lang="en-US">
                <a:latin typeface="Arial Narrow" pitchFamily="34" charset="0"/>
              </a:rPr>
              <a:t>Secure update negotiation</a:t>
            </a:r>
          </a:p>
        </p:txBody>
      </p:sp>
      <p:sp>
        <p:nvSpPr>
          <p:cNvPr id="40986" name="Line 26"/>
          <p:cNvSpPr>
            <a:spLocks noChangeShapeType="1"/>
          </p:cNvSpPr>
          <p:nvPr/>
        </p:nvSpPr>
        <p:spPr bwMode="auto">
          <a:xfrm flipH="1" flipV="1">
            <a:off x="2492375" y="5305425"/>
            <a:ext cx="3148013" cy="482600"/>
          </a:xfrm>
          <a:prstGeom prst="line">
            <a:avLst/>
          </a:prstGeom>
          <a:noFill/>
          <a:ln w="50800" cap="rnd">
            <a:solidFill>
              <a:srgbClr val="CC0000"/>
            </a:solidFill>
            <a:prstDash val="sysDot"/>
            <a:round/>
            <a:headEnd/>
            <a:tailEnd type="triangle" w="med" len="med"/>
          </a:ln>
          <a:effectLst/>
        </p:spPr>
        <p:txBody>
          <a:bodyPr anchor="ctr"/>
          <a:lstStyle/>
          <a:p>
            <a:endParaRPr lang="en-US"/>
          </a:p>
        </p:txBody>
      </p:sp>
      <p:sp>
        <p:nvSpPr>
          <p:cNvPr id="40987" name="Text Box 27"/>
          <p:cNvSpPr txBox="1">
            <a:spLocks noChangeArrowheads="1"/>
          </p:cNvSpPr>
          <p:nvPr/>
        </p:nvSpPr>
        <p:spPr bwMode="auto">
          <a:xfrm rot="507545">
            <a:off x="3440113" y="5162550"/>
            <a:ext cx="968375" cy="366712"/>
          </a:xfrm>
          <a:prstGeom prst="rect">
            <a:avLst/>
          </a:prstGeom>
          <a:noFill/>
          <a:ln w="9525" algn="ctr">
            <a:noFill/>
            <a:miter lim="800000"/>
            <a:headEnd/>
            <a:tailEnd/>
          </a:ln>
          <a:effectLst/>
        </p:spPr>
        <p:txBody>
          <a:bodyPr wrap="none">
            <a:spAutoFit/>
          </a:bodyPr>
          <a:lstStyle/>
          <a:p>
            <a:pPr algn="ctr" eaLnBrk="0" hangingPunct="0"/>
            <a:r>
              <a:rPr lang="en-US">
                <a:latin typeface="Arial Narrow" pitchFamily="34" charset="0"/>
              </a:rPr>
              <a:t>Accepted</a:t>
            </a:r>
          </a:p>
        </p:txBody>
      </p:sp>
      <p:sp>
        <p:nvSpPr>
          <p:cNvPr id="40988" name="AutoShape 28"/>
          <p:cNvSpPr>
            <a:spLocks noChangeArrowheads="1"/>
          </p:cNvSpPr>
          <p:nvPr/>
        </p:nvSpPr>
        <p:spPr bwMode="auto">
          <a:xfrm>
            <a:off x="152400" y="1143000"/>
            <a:ext cx="8763000" cy="1143000"/>
          </a:xfrm>
          <a:prstGeom prst="roundRect">
            <a:avLst>
              <a:gd name="adj" fmla="val 16736"/>
            </a:avLst>
          </a:prstGeom>
          <a:gradFill rotWithShape="1">
            <a:gsLst>
              <a:gs pos="0">
                <a:srgbClr val="EAABA0"/>
              </a:gs>
              <a:gs pos="100000">
                <a:srgbClr val="F6D9D4"/>
              </a:gs>
            </a:gsLst>
            <a:lin ang="2700000" scaled="1"/>
          </a:gradFill>
          <a:ln w="9525" algn="ctr">
            <a:solidFill>
              <a:srgbClr val="808080"/>
            </a:solidFill>
            <a:round/>
            <a:headEnd/>
            <a:tailEnd/>
          </a:ln>
          <a:effectLst>
            <a:outerShdw dist="35921" dir="2700000" algn="ctr" rotWithShape="0">
              <a:srgbClr val="C0C0C0"/>
            </a:outerShdw>
          </a:effectLst>
        </p:spPr>
        <p:txBody>
          <a:bodyPr anchor="ctr"/>
          <a:lstStyle/>
          <a:p>
            <a:pPr>
              <a:lnSpc>
                <a:spcPct val="85000"/>
              </a:lnSpc>
            </a:pPr>
            <a:r>
              <a:rPr lang="en-US" sz="2600" b="1" i="1">
                <a:latin typeface="Arial" pitchFamily="34" charset="0"/>
                <a:cs typeface="Arial" pitchFamily="34" charset="0"/>
              </a:rPr>
              <a:t>secure dynamic update</a:t>
            </a:r>
            <a:r>
              <a:rPr lang="en-US" sz="2600" b="1">
                <a:latin typeface="Arial" pitchFamily="34" charset="0"/>
                <a:cs typeface="Arial" pitchFamily="34" charset="0"/>
              </a:rPr>
              <a:t> là tiến trình trong đó DNS Client cập nhật RR chỉ khi nào Client thực sự đăng nhập vào DNS Server</a:t>
            </a:r>
          </a:p>
        </p:txBody>
      </p:sp>
      <p:pic>
        <p:nvPicPr>
          <p:cNvPr id="40989" name="Picture 29" descr="ActiveDirectory01"/>
          <p:cNvPicPr>
            <a:picLocks noChangeAspect="1" noChangeArrowheads="1"/>
          </p:cNvPicPr>
          <p:nvPr/>
        </p:nvPicPr>
        <p:blipFill>
          <a:blip r:embed="rId4" cstate="print"/>
          <a:srcRect/>
          <a:stretch>
            <a:fillRect/>
          </a:stretch>
        </p:blipFill>
        <p:spPr bwMode="auto">
          <a:xfrm>
            <a:off x="6783388" y="5045075"/>
            <a:ext cx="1027112" cy="674687"/>
          </a:xfrm>
          <a:prstGeom prst="rect">
            <a:avLst/>
          </a:prstGeom>
          <a:noFill/>
        </p:spPr>
      </p:pic>
      <p:sp>
        <p:nvSpPr>
          <p:cNvPr id="40990" name="Rectangle 30"/>
          <p:cNvSpPr>
            <a:spLocks noGrp="1" noChangeArrowheads="1"/>
          </p:cNvSpPr>
          <p:nvPr>
            <p:ph type="title"/>
          </p:nvPr>
        </p:nvSpPr>
        <p:spPr>
          <a:xfrm>
            <a:off x="0" y="76200"/>
            <a:ext cx="9144000" cy="990600"/>
          </a:xfrm>
        </p:spPr>
        <p:txBody>
          <a:bodyPr/>
          <a:lstStyle/>
          <a:p>
            <a:r>
              <a:rPr lang="en-US" sz="3000"/>
              <a:t>Secure Dynamic Update với Active Directory - Integrated Zone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0972"/>
                                        </p:tgtEl>
                                        <p:attrNameLst>
                                          <p:attrName>style.visibility</p:attrName>
                                        </p:attrNameLst>
                                      </p:cBhvr>
                                      <p:to>
                                        <p:strVal val="visible"/>
                                      </p:to>
                                    </p:set>
                                    <p:animEffect transition="in" filter="wipe(left)">
                                      <p:cBhvr>
                                        <p:cTn id="7" dur="500"/>
                                        <p:tgtEl>
                                          <p:spTgt spid="40972"/>
                                        </p:tgtEl>
                                      </p:cBhvr>
                                    </p:animEffect>
                                  </p:childTnLst>
                                </p:cTn>
                              </p:par>
                              <p:par>
                                <p:cTn id="8" presetID="1" presetClass="entr" presetSubtype="0" fill="hold" grpId="0" nodeType="withEffect">
                                  <p:stCondLst>
                                    <p:cond delay="0"/>
                                  </p:stCondLst>
                                  <p:childTnLst>
                                    <p:set>
                                      <p:cBhvr>
                                        <p:cTn id="9" dur="1" fill="hold">
                                          <p:stCondLst>
                                            <p:cond delay="0"/>
                                          </p:stCondLst>
                                        </p:cTn>
                                        <p:tgtEl>
                                          <p:spTgt spid="40977"/>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22" presetClass="entr" presetSubtype="2" fill="hold" grpId="0" nodeType="clickEffect">
                                  <p:stCondLst>
                                    <p:cond delay="0"/>
                                  </p:stCondLst>
                                  <p:childTnLst>
                                    <p:set>
                                      <p:cBhvr>
                                        <p:cTn id="13" dur="1" fill="hold">
                                          <p:stCondLst>
                                            <p:cond delay="0"/>
                                          </p:stCondLst>
                                        </p:cTn>
                                        <p:tgtEl>
                                          <p:spTgt spid="40975"/>
                                        </p:tgtEl>
                                        <p:attrNameLst>
                                          <p:attrName>style.visibility</p:attrName>
                                        </p:attrNameLst>
                                      </p:cBhvr>
                                      <p:to>
                                        <p:strVal val="visible"/>
                                      </p:to>
                                    </p:set>
                                    <p:animEffect transition="in" filter="wipe(right)">
                                      <p:cBhvr>
                                        <p:cTn id="14" dur="500"/>
                                        <p:tgtEl>
                                          <p:spTgt spid="40975"/>
                                        </p:tgtEl>
                                      </p:cBhvr>
                                    </p:animEffect>
                                  </p:childTnLst>
                                </p:cTn>
                              </p:par>
                              <p:par>
                                <p:cTn id="15" presetID="1" presetClass="entr" presetSubtype="0" fill="hold" grpId="0" nodeType="withEffect">
                                  <p:stCondLst>
                                    <p:cond delay="0"/>
                                  </p:stCondLst>
                                  <p:childTnLst>
                                    <p:set>
                                      <p:cBhvr>
                                        <p:cTn id="16" dur="1" fill="hold">
                                          <p:stCondLst>
                                            <p:cond delay="0"/>
                                          </p:stCondLst>
                                        </p:cTn>
                                        <p:tgtEl>
                                          <p:spTgt spid="4097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40973"/>
                                        </p:tgtEl>
                                        <p:attrNameLst>
                                          <p:attrName>style.visibility</p:attrName>
                                        </p:attrNameLst>
                                      </p:cBhvr>
                                      <p:to>
                                        <p:strVal val="visible"/>
                                      </p:to>
                                    </p:set>
                                    <p:animEffect transition="in" filter="wipe(left)">
                                      <p:cBhvr>
                                        <p:cTn id="21" dur="500"/>
                                        <p:tgtEl>
                                          <p:spTgt spid="40973"/>
                                        </p:tgtEl>
                                      </p:cBhvr>
                                    </p:animEffect>
                                  </p:childTnLst>
                                </p:cTn>
                              </p:par>
                              <p:par>
                                <p:cTn id="22" presetID="1" presetClass="entr" presetSubtype="0" fill="hold" grpId="0" nodeType="withEffect">
                                  <p:stCondLst>
                                    <p:cond delay="0"/>
                                  </p:stCondLst>
                                  <p:childTnLst>
                                    <p:set>
                                      <p:cBhvr>
                                        <p:cTn id="23" dur="1" fill="hold">
                                          <p:stCondLst>
                                            <p:cond delay="0"/>
                                          </p:stCondLst>
                                        </p:cTn>
                                        <p:tgtEl>
                                          <p:spTgt spid="40979"/>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22" presetClass="entr" presetSubtype="2" fill="hold" grpId="0" nodeType="clickEffect">
                                  <p:stCondLst>
                                    <p:cond delay="0"/>
                                  </p:stCondLst>
                                  <p:childTnLst>
                                    <p:set>
                                      <p:cBhvr>
                                        <p:cTn id="27" dur="1" fill="hold">
                                          <p:stCondLst>
                                            <p:cond delay="0"/>
                                          </p:stCondLst>
                                        </p:cTn>
                                        <p:tgtEl>
                                          <p:spTgt spid="40976"/>
                                        </p:tgtEl>
                                        <p:attrNameLst>
                                          <p:attrName>style.visibility</p:attrName>
                                        </p:attrNameLst>
                                      </p:cBhvr>
                                      <p:to>
                                        <p:strVal val="visible"/>
                                      </p:to>
                                    </p:set>
                                    <p:animEffect transition="in" filter="wipe(right)">
                                      <p:cBhvr>
                                        <p:cTn id="28" dur="500"/>
                                        <p:tgtEl>
                                          <p:spTgt spid="40976"/>
                                        </p:tgtEl>
                                      </p:cBhvr>
                                    </p:animEffect>
                                  </p:childTnLst>
                                </p:cTn>
                              </p:par>
                              <p:par>
                                <p:cTn id="29" presetID="1" presetClass="entr" presetSubtype="0" fill="hold" grpId="0" nodeType="withEffect">
                                  <p:stCondLst>
                                    <p:cond delay="0"/>
                                  </p:stCondLst>
                                  <p:childTnLst>
                                    <p:set>
                                      <p:cBhvr>
                                        <p:cTn id="30" dur="1" fill="hold">
                                          <p:stCondLst>
                                            <p:cond delay="0"/>
                                          </p:stCondLst>
                                        </p:cTn>
                                        <p:tgtEl>
                                          <p:spTgt spid="4098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40974"/>
                                        </p:tgtEl>
                                        <p:attrNameLst>
                                          <p:attrName>style.visibility</p:attrName>
                                        </p:attrNameLst>
                                      </p:cBhvr>
                                      <p:to>
                                        <p:strVal val="visible"/>
                                      </p:to>
                                    </p:set>
                                    <p:animEffect transition="in" filter="wipe(left)">
                                      <p:cBhvr>
                                        <p:cTn id="35" dur="500"/>
                                        <p:tgtEl>
                                          <p:spTgt spid="40974"/>
                                        </p:tgtEl>
                                      </p:cBhvr>
                                    </p:animEffect>
                                  </p:childTnLst>
                                </p:cTn>
                              </p:par>
                              <p:par>
                                <p:cTn id="36" presetID="1" presetClass="entr" presetSubtype="0" fill="hold" grpId="0" nodeType="withEffect">
                                  <p:stCondLst>
                                    <p:cond delay="0"/>
                                  </p:stCondLst>
                                  <p:childTnLst>
                                    <p:set>
                                      <p:cBhvr>
                                        <p:cTn id="37" dur="1" fill="hold">
                                          <p:stCondLst>
                                            <p:cond delay="0"/>
                                          </p:stCondLst>
                                        </p:cTn>
                                        <p:tgtEl>
                                          <p:spTgt spid="40981"/>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22" presetClass="entr" presetSubtype="2" fill="hold" grpId="0" nodeType="clickEffect">
                                  <p:stCondLst>
                                    <p:cond delay="0"/>
                                  </p:stCondLst>
                                  <p:childTnLst>
                                    <p:set>
                                      <p:cBhvr>
                                        <p:cTn id="41" dur="1" fill="hold">
                                          <p:stCondLst>
                                            <p:cond delay="0"/>
                                          </p:stCondLst>
                                        </p:cTn>
                                        <p:tgtEl>
                                          <p:spTgt spid="40982"/>
                                        </p:tgtEl>
                                        <p:attrNameLst>
                                          <p:attrName>style.visibility</p:attrName>
                                        </p:attrNameLst>
                                      </p:cBhvr>
                                      <p:to>
                                        <p:strVal val="visible"/>
                                      </p:to>
                                    </p:set>
                                    <p:animEffect transition="in" filter="wipe(right)">
                                      <p:cBhvr>
                                        <p:cTn id="42" dur="500"/>
                                        <p:tgtEl>
                                          <p:spTgt spid="40982"/>
                                        </p:tgtEl>
                                      </p:cBhvr>
                                    </p:animEffect>
                                  </p:childTnLst>
                                </p:cTn>
                              </p:par>
                              <p:par>
                                <p:cTn id="43" presetID="1" presetClass="entr" presetSubtype="0" fill="hold" grpId="0" nodeType="withEffect">
                                  <p:stCondLst>
                                    <p:cond delay="0"/>
                                  </p:stCondLst>
                                  <p:childTnLst>
                                    <p:set>
                                      <p:cBhvr>
                                        <p:cTn id="44" dur="1" fill="hold">
                                          <p:stCondLst>
                                            <p:cond delay="0"/>
                                          </p:stCondLst>
                                        </p:cTn>
                                        <p:tgtEl>
                                          <p:spTgt spid="4098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40984"/>
                                        </p:tgtEl>
                                        <p:attrNameLst>
                                          <p:attrName>style.visibility</p:attrName>
                                        </p:attrNameLst>
                                      </p:cBhvr>
                                      <p:to>
                                        <p:strVal val="visible"/>
                                      </p:to>
                                    </p:set>
                                    <p:animEffect transition="in" filter="wipe(left)">
                                      <p:cBhvr>
                                        <p:cTn id="49" dur="500"/>
                                        <p:tgtEl>
                                          <p:spTgt spid="40984"/>
                                        </p:tgtEl>
                                      </p:cBhvr>
                                    </p:animEffect>
                                  </p:childTnLst>
                                </p:cTn>
                              </p:par>
                            </p:childTnLst>
                          </p:cTn>
                        </p:par>
                        <p:par>
                          <p:cTn id="50" fill="hold">
                            <p:stCondLst>
                              <p:cond delay="500"/>
                            </p:stCondLst>
                            <p:childTnLst>
                              <p:par>
                                <p:cTn id="51" presetID="22" presetClass="entr" presetSubtype="2" fill="hold" grpId="0" nodeType="afterEffect">
                                  <p:stCondLst>
                                    <p:cond delay="0"/>
                                  </p:stCondLst>
                                  <p:childTnLst>
                                    <p:set>
                                      <p:cBhvr>
                                        <p:cTn id="52" dur="1" fill="hold">
                                          <p:stCondLst>
                                            <p:cond delay="0"/>
                                          </p:stCondLst>
                                        </p:cTn>
                                        <p:tgtEl>
                                          <p:spTgt spid="40986"/>
                                        </p:tgtEl>
                                        <p:attrNameLst>
                                          <p:attrName>style.visibility</p:attrName>
                                        </p:attrNameLst>
                                      </p:cBhvr>
                                      <p:to>
                                        <p:strVal val="visible"/>
                                      </p:to>
                                    </p:set>
                                    <p:animEffect transition="in" filter="wipe(right)">
                                      <p:cBhvr>
                                        <p:cTn id="53" dur="500"/>
                                        <p:tgtEl>
                                          <p:spTgt spid="40986"/>
                                        </p:tgtEl>
                                      </p:cBhvr>
                                    </p:animEffect>
                                  </p:childTnLst>
                                </p:cTn>
                              </p:par>
                              <p:par>
                                <p:cTn id="54" presetID="1" presetClass="entr" presetSubtype="0" fill="hold" grpId="0" nodeType="withEffect">
                                  <p:stCondLst>
                                    <p:cond delay="0"/>
                                  </p:stCondLst>
                                  <p:childTnLst>
                                    <p:set>
                                      <p:cBhvr>
                                        <p:cTn id="55" dur="1" fill="hold">
                                          <p:stCondLst>
                                            <p:cond delay="0"/>
                                          </p:stCondLst>
                                        </p:cTn>
                                        <p:tgtEl>
                                          <p:spTgt spid="40985"/>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409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72" grpId="0" animBg="1"/>
      <p:bldP spid="40973" grpId="0" animBg="1"/>
      <p:bldP spid="40974" grpId="0" animBg="1"/>
      <p:bldP spid="40975" grpId="0" animBg="1"/>
      <p:bldP spid="40976" grpId="0" animBg="1"/>
      <p:bldP spid="40977" grpId="0"/>
      <p:bldP spid="40978" grpId="0"/>
      <p:bldP spid="40979" grpId="0"/>
      <p:bldP spid="40980" grpId="0"/>
      <p:bldP spid="40981" grpId="0"/>
      <p:bldP spid="40982" grpId="0" animBg="1"/>
      <p:bldP spid="40983" grpId="0"/>
      <p:bldP spid="40984" grpId="0" animBg="1"/>
      <p:bldP spid="40985" grpId="0"/>
      <p:bldP spid="40986" grpId="0" animBg="1"/>
      <p:bldP spid="40987"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reeform 11"/>
          <p:cNvSpPr>
            <a:spLocks/>
          </p:cNvSpPr>
          <p:nvPr/>
        </p:nvSpPr>
        <p:spPr bwMode="auto">
          <a:xfrm>
            <a:off x="3246437" y="1814513"/>
            <a:ext cx="792163" cy="1989137"/>
          </a:xfrm>
          <a:custGeom>
            <a:avLst/>
            <a:gdLst>
              <a:gd name="T0" fmla="*/ 0 w 499"/>
              <a:gd name="T1" fmla="*/ 1065 h 1253"/>
              <a:gd name="T2" fmla="*/ 388 w 499"/>
              <a:gd name="T3" fmla="*/ 0 h 1253"/>
              <a:gd name="T4" fmla="*/ 499 w 499"/>
              <a:gd name="T5" fmla="*/ 1253 h 1253"/>
              <a:gd name="T6" fmla="*/ 0 w 499"/>
              <a:gd name="T7" fmla="*/ 1065 h 1253"/>
              <a:gd name="T8" fmla="*/ 0 60000 65536"/>
              <a:gd name="T9" fmla="*/ 0 60000 65536"/>
              <a:gd name="T10" fmla="*/ 0 60000 65536"/>
              <a:gd name="T11" fmla="*/ 0 60000 65536"/>
              <a:gd name="T12" fmla="*/ 0 w 499"/>
              <a:gd name="T13" fmla="*/ 0 h 1253"/>
              <a:gd name="T14" fmla="*/ 499 w 499"/>
              <a:gd name="T15" fmla="*/ 1253 h 1253"/>
            </a:gdLst>
            <a:ahLst/>
            <a:cxnLst>
              <a:cxn ang="T8">
                <a:pos x="T0" y="T1"/>
              </a:cxn>
              <a:cxn ang="T9">
                <a:pos x="T2" y="T3"/>
              </a:cxn>
              <a:cxn ang="T10">
                <a:pos x="T4" y="T5"/>
              </a:cxn>
              <a:cxn ang="T11">
                <a:pos x="T6" y="T7"/>
              </a:cxn>
            </a:cxnLst>
            <a:rect l="T12" t="T13" r="T14" b="T15"/>
            <a:pathLst>
              <a:path w="499" h="1253">
                <a:moveTo>
                  <a:pt x="0" y="1065"/>
                </a:moveTo>
                <a:lnTo>
                  <a:pt x="388" y="0"/>
                </a:lnTo>
                <a:lnTo>
                  <a:pt x="499" y="1253"/>
                </a:lnTo>
                <a:lnTo>
                  <a:pt x="0" y="1065"/>
                </a:lnTo>
                <a:close/>
              </a:path>
            </a:pathLst>
          </a:custGeom>
          <a:solidFill>
            <a:schemeClr val="accent2">
              <a:alpha val="50195"/>
            </a:schemeClr>
          </a:solidFill>
          <a:ln w="9525">
            <a:noFill/>
            <a:round/>
            <a:headEnd/>
            <a:tailEnd/>
          </a:ln>
        </p:spPr>
        <p:txBody>
          <a:bodyPr anchor="ctr"/>
          <a:lstStyle/>
          <a:p>
            <a:endParaRPr lang="en-US" sz="1500" b="0"/>
          </a:p>
        </p:txBody>
      </p:sp>
      <p:sp>
        <p:nvSpPr>
          <p:cNvPr id="3" name="Title 2"/>
          <p:cNvSpPr>
            <a:spLocks noGrp="1"/>
          </p:cNvSpPr>
          <p:nvPr>
            <p:ph type="title"/>
          </p:nvPr>
        </p:nvSpPr>
        <p:spPr/>
        <p:txBody>
          <a:bodyPr/>
          <a:lstStyle/>
          <a:p>
            <a:r>
              <a:rPr lang="en-US" sz="3200" b="0" smtClean="0"/>
              <a:t>8.What Are Forward and Reverse Lookup Zones?</a:t>
            </a:r>
            <a:endParaRPr lang="en-US" sz="3200" b="0"/>
          </a:p>
        </p:txBody>
      </p:sp>
      <p:sp>
        <p:nvSpPr>
          <p:cNvPr id="4" name="Text Box 3"/>
          <p:cNvSpPr txBox="1">
            <a:spLocks noChangeArrowheads="1"/>
          </p:cNvSpPr>
          <p:nvPr/>
        </p:nvSpPr>
        <p:spPr bwMode="auto">
          <a:xfrm>
            <a:off x="2360612" y="1095375"/>
            <a:ext cx="3510898" cy="323165"/>
          </a:xfrm>
          <a:prstGeom prst="rect">
            <a:avLst/>
          </a:prstGeom>
          <a:noFill/>
          <a:ln w="9525" algn="ctr">
            <a:noFill/>
            <a:miter lim="800000"/>
            <a:headEnd/>
            <a:tailEnd/>
          </a:ln>
        </p:spPr>
        <p:txBody>
          <a:bodyPr wrap="none">
            <a:spAutoFit/>
          </a:bodyPr>
          <a:lstStyle/>
          <a:p>
            <a:r>
              <a:rPr lang="en-US" sz="1500"/>
              <a:t>Namespace: training.nwtraders.msft</a:t>
            </a:r>
          </a:p>
        </p:txBody>
      </p:sp>
      <p:grpSp>
        <p:nvGrpSpPr>
          <p:cNvPr id="23" name="Group 22"/>
          <p:cNvGrpSpPr/>
          <p:nvPr/>
        </p:nvGrpSpPr>
        <p:grpSpPr>
          <a:xfrm>
            <a:off x="1039812" y="1989138"/>
            <a:ext cx="6121400" cy="4183062"/>
            <a:chOff x="1039812" y="1989138"/>
            <a:chExt cx="6121400" cy="4183062"/>
          </a:xfrm>
        </p:grpSpPr>
        <p:grpSp>
          <p:nvGrpSpPr>
            <p:cNvPr id="22" name="Group 21"/>
            <p:cNvGrpSpPr/>
            <p:nvPr/>
          </p:nvGrpSpPr>
          <p:grpSpPr>
            <a:xfrm>
              <a:off x="1039812" y="1989138"/>
              <a:ext cx="5060950" cy="4183062"/>
              <a:chOff x="1039812" y="1989138"/>
              <a:chExt cx="5060950" cy="4183062"/>
            </a:xfrm>
          </p:grpSpPr>
          <p:sp>
            <p:nvSpPr>
              <p:cNvPr id="5" name="Oval 4"/>
              <p:cNvSpPr>
                <a:spLocks noChangeArrowheads="1"/>
              </p:cNvSpPr>
              <p:nvPr/>
            </p:nvSpPr>
            <p:spPr bwMode="auto">
              <a:xfrm>
                <a:off x="1512887" y="3294063"/>
                <a:ext cx="4056063" cy="2325687"/>
              </a:xfrm>
              <a:prstGeom prst="ellipse">
                <a:avLst/>
              </a:prstGeom>
              <a:gradFill rotWithShape="1">
                <a:gsLst>
                  <a:gs pos="0">
                    <a:srgbClr val="FFFFFF"/>
                  </a:gs>
                  <a:gs pos="100000">
                    <a:srgbClr val="EEEFD7"/>
                  </a:gs>
                </a:gsLst>
                <a:path path="shape">
                  <a:fillToRect l="50000" t="50000" r="50000" b="50000"/>
                </a:path>
              </a:gradFill>
              <a:ln w="9525" algn="ctr">
                <a:solidFill>
                  <a:srgbClr val="333333"/>
                </a:solidFill>
                <a:round/>
                <a:headEnd/>
                <a:tailEnd/>
              </a:ln>
              <a:effectLst>
                <a:outerShdw dist="35921" dir="2700000" algn="ctr" rotWithShape="0">
                  <a:srgbClr val="ADADAD"/>
                </a:outerShdw>
              </a:effectLst>
            </p:spPr>
            <p:txBody>
              <a:bodyPr wrap="none" anchor="ctr"/>
              <a:lstStyle/>
              <a:p>
                <a:pPr>
                  <a:defRPr/>
                </a:pPr>
                <a:endParaRPr lang="en-US" sz="1500" b="0">
                  <a:latin typeface="Arial" charset="0"/>
                </a:endParaRPr>
              </a:p>
            </p:txBody>
          </p:sp>
          <p:sp>
            <p:nvSpPr>
              <p:cNvPr id="6" name="AutoShape 5"/>
              <p:cNvSpPr>
                <a:spLocks noChangeArrowheads="1"/>
              </p:cNvSpPr>
              <p:nvPr/>
            </p:nvSpPr>
            <p:spPr bwMode="auto">
              <a:xfrm>
                <a:off x="1039812" y="5588000"/>
                <a:ext cx="1511300" cy="311150"/>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anchor="ctr"/>
              <a:lstStyle/>
              <a:p>
                <a:pPr>
                  <a:defRPr/>
                </a:pPr>
                <a:r>
                  <a:rPr lang="en-US" sz="1500" b="0"/>
                  <a:t>DNS Client1</a:t>
                </a:r>
              </a:p>
            </p:txBody>
          </p:sp>
          <p:pic>
            <p:nvPicPr>
              <p:cNvPr id="7" name="Picture 6" descr="Computer_DesktopComputerSansKeyboard01"/>
              <p:cNvPicPr>
                <a:picLocks noChangeAspect="1" noChangeArrowheads="1"/>
              </p:cNvPicPr>
              <p:nvPr/>
            </p:nvPicPr>
            <p:blipFill>
              <a:blip r:embed="rId2" cstate="print"/>
              <a:srcRect/>
              <a:stretch>
                <a:fillRect/>
              </a:stretch>
            </p:blipFill>
            <p:spPr bwMode="auto">
              <a:xfrm>
                <a:off x="4052887" y="4816475"/>
                <a:ext cx="850900" cy="1038225"/>
              </a:xfrm>
              <a:prstGeom prst="rect">
                <a:avLst/>
              </a:prstGeom>
              <a:noFill/>
              <a:ln w="9525">
                <a:noFill/>
                <a:miter lim="800000"/>
                <a:headEnd/>
                <a:tailEnd/>
              </a:ln>
            </p:spPr>
          </p:pic>
          <p:sp>
            <p:nvSpPr>
              <p:cNvPr id="8" name="AutoShape 7"/>
              <p:cNvSpPr>
                <a:spLocks noChangeArrowheads="1"/>
              </p:cNvSpPr>
              <p:nvPr/>
            </p:nvSpPr>
            <p:spPr bwMode="auto">
              <a:xfrm>
                <a:off x="4144962" y="5861050"/>
                <a:ext cx="1511300" cy="311150"/>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anchor="ctr"/>
              <a:lstStyle/>
              <a:p>
                <a:pPr>
                  <a:defRPr/>
                </a:pPr>
                <a:r>
                  <a:rPr lang="en-US" sz="1500" b="0"/>
                  <a:t>DNS Client2</a:t>
                </a:r>
              </a:p>
            </p:txBody>
          </p:sp>
          <p:pic>
            <p:nvPicPr>
              <p:cNvPr id="9" name="Picture 8" descr="Computer_DesktopComputerSansKeyboard01"/>
              <p:cNvPicPr>
                <a:picLocks noChangeAspect="1" noChangeArrowheads="1"/>
              </p:cNvPicPr>
              <p:nvPr/>
            </p:nvPicPr>
            <p:blipFill>
              <a:blip r:embed="rId2" cstate="print"/>
              <a:srcRect/>
              <a:stretch>
                <a:fillRect/>
              </a:stretch>
            </p:blipFill>
            <p:spPr bwMode="auto">
              <a:xfrm>
                <a:off x="5249862" y="4173538"/>
                <a:ext cx="850900" cy="1038225"/>
              </a:xfrm>
              <a:prstGeom prst="rect">
                <a:avLst/>
              </a:prstGeom>
              <a:noFill/>
              <a:ln w="9525">
                <a:noFill/>
                <a:miter lim="800000"/>
                <a:headEnd/>
                <a:tailEnd/>
              </a:ln>
            </p:spPr>
          </p:pic>
          <p:sp>
            <p:nvSpPr>
              <p:cNvPr id="11" name="AutoShape 10"/>
              <p:cNvSpPr>
                <a:spLocks noChangeArrowheads="1"/>
              </p:cNvSpPr>
              <p:nvPr/>
            </p:nvSpPr>
            <p:spPr bwMode="auto">
              <a:xfrm>
                <a:off x="1046162" y="1989138"/>
                <a:ext cx="2197100" cy="595312"/>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nSpc>
                    <a:spcPct val="85000"/>
                  </a:lnSpc>
                  <a:defRPr/>
                </a:pPr>
                <a:r>
                  <a:rPr lang="en-US" sz="1500" b="0"/>
                  <a:t>DNS Server Authorized</a:t>
                </a:r>
              </a:p>
              <a:p>
                <a:pPr>
                  <a:lnSpc>
                    <a:spcPct val="85000"/>
                  </a:lnSpc>
                  <a:defRPr/>
                </a:pPr>
                <a:r>
                  <a:rPr lang="en-US" sz="1500" b="0"/>
                  <a:t>for training</a:t>
                </a:r>
              </a:p>
            </p:txBody>
          </p:sp>
          <p:grpSp>
            <p:nvGrpSpPr>
              <p:cNvPr id="14" name="Group 44"/>
              <p:cNvGrpSpPr>
                <a:grpSpLocks/>
              </p:cNvGrpSpPr>
              <p:nvPr/>
            </p:nvGrpSpPr>
            <p:grpSpPr bwMode="auto">
              <a:xfrm>
                <a:off x="1941512" y="2528888"/>
                <a:ext cx="1477963" cy="1377950"/>
                <a:chOff x="1205" y="1577"/>
                <a:chExt cx="1088" cy="1014"/>
              </a:xfrm>
            </p:grpSpPr>
            <p:pic>
              <p:nvPicPr>
                <p:cNvPr id="15" name="Picture 45" descr="Server01"/>
                <p:cNvPicPr>
                  <a:picLocks noChangeAspect="1" noChangeArrowheads="1"/>
                </p:cNvPicPr>
                <p:nvPr/>
              </p:nvPicPr>
              <p:blipFill>
                <a:blip r:embed="rId3"/>
                <a:srcRect/>
                <a:stretch>
                  <a:fillRect/>
                </a:stretch>
              </p:blipFill>
              <p:spPr bwMode="auto">
                <a:xfrm>
                  <a:off x="1205" y="1577"/>
                  <a:ext cx="815" cy="958"/>
                </a:xfrm>
                <a:prstGeom prst="rect">
                  <a:avLst/>
                </a:prstGeom>
                <a:noFill/>
                <a:ln w="9525">
                  <a:noFill/>
                  <a:miter lim="800000"/>
                  <a:headEnd/>
                  <a:tailEnd/>
                </a:ln>
              </p:spPr>
            </p:pic>
            <p:pic>
              <p:nvPicPr>
                <p:cNvPr id="16" name="Picture 46" descr="Database01"/>
                <p:cNvPicPr>
                  <a:picLocks noChangeAspect="1" noChangeArrowheads="1"/>
                </p:cNvPicPr>
                <p:nvPr/>
              </p:nvPicPr>
              <p:blipFill>
                <a:blip r:embed="rId4"/>
                <a:srcRect/>
                <a:stretch>
                  <a:fillRect/>
                </a:stretch>
              </p:blipFill>
              <p:spPr bwMode="auto">
                <a:xfrm>
                  <a:off x="1721" y="2128"/>
                  <a:ext cx="572" cy="463"/>
                </a:xfrm>
                <a:prstGeom prst="rect">
                  <a:avLst/>
                </a:prstGeom>
                <a:noFill/>
                <a:ln w="9525">
                  <a:noFill/>
                  <a:miter lim="800000"/>
                  <a:headEnd/>
                  <a:tailEnd/>
                </a:ln>
              </p:spPr>
            </p:pic>
          </p:grpSp>
          <p:pic>
            <p:nvPicPr>
              <p:cNvPr id="18" name="Picture 49" descr="Computer_DesktopComputerSansKeyboard01"/>
              <p:cNvPicPr>
                <a:picLocks noChangeAspect="1" noChangeArrowheads="1"/>
              </p:cNvPicPr>
              <p:nvPr/>
            </p:nvPicPr>
            <p:blipFill>
              <a:blip r:embed="rId2" cstate="print"/>
              <a:srcRect/>
              <a:stretch>
                <a:fillRect/>
              </a:stretch>
            </p:blipFill>
            <p:spPr bwMode="auto">
              <a:xfrm>
                <a:off x="1311275" y="4643438"/>
                <a:ext cx="850900" cy="1038225"/>
              </a:xfrm>
              <a:prstGeom prst="rect">
                <a:avLst/>
              </a:prstGeom>
              <a:noFill/>
              <a:ln w="9525">
                <a:noFill/>
                <a:miter lim="800000"/>
                <a:headEnd/>
                <a:tailEnd/>
              </a:ln>
            </p:spPr>
          </p:pic>
        </p:grpSp>
        <p:sp>
          <p:nvSpPr>
            <p:cNvPr id="10" name="AutoShape 9"/>
            <p:cNvSpPr>
              <a:spLocks noChangeArrowheads="1"/>
            </p:cNvSpPr>
            <p:nvPr/>
          </p:nvSpPr>
          <p:spPr bwMode="auto">
            <a:xfrm>
              <a:off x="5621337" y="5165725"/>
              <a:ext cx="1539875" cy="311150"/>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anchor="ctr"/>
            <a:lstStyle/>
            <a:p>
              <a:pPr>
                <a:defRPr/>
              </a:pPr>
              <a:r>
                <a:rPr lang="en-US" sz="1500" b="0"/>
                <a:t>DNS Client3</a:t>
              </a:r>
            </a:p>
          </p:txBody>
        </p:sp>
      </p:grpSp>
      <p:graphicFrame>
        <p:nvGraphicFramePr>
          <p:cNvPr id="13" name="Group 62"/>
          <p:cNvGraphicFramePr>
            <a:graphicFrameLocks noGrp="1"/>
          </p:cNvGraphicFramePr>
          <p:nvPr>
            <p:extLst>
              <p:ext uri="{D42A27DB-BD31-4B8C-83A1-F6EECF244321}">
                <p14:modId xmlns:p14="http://schemas.microsoft.com/office/powerpoint/2010/main" val="1623716415"/>
              </p:ext>
            </p:extLst>
          </p:nvPr>
        </p:nvGraphicFramePr>
        <p:xfrm>
          <a:off x="3935412" y="1500822"/>
          <a:ext cx="4903788" cy="2309178"/>
        </p:xfrm>
        <a:graphic>
          <a:graphicData uri="http://schemas.openxmlformats.org/drawingml/2006/table">
            <a:tbl>
              <a:tblPr/>
              <a:tblGrid>
                <a:gridCol w="930275">
                  <a:extLst>
                    <a:ext uri="{9D8B030D-6E8A-4147-A177-3AD203B41FA5}">
                      <a16:colId xmlns:a16="http://schemas.microsoft.com/office/drawing/2014/main" val="20000"/>
                    </a:ext>
                  </a:extLst>
                </a:gridCol>
                <a:gridCol w="1303338">
                  <a:extLst>
                    <a:ext uri="{9D8B030D-6E8A-4147-A177-3AD203B41FA5}">
                      <a16:colId xmlns:a16="http://schemas.microsoft.com/office/drawing/2014/main" val="20001"/>
                    </a:ext>
                  </a:extLst>
                </a:gridCol>
                <a:gridCol w="1341437">
                  <a:extLst>
                    <a:ext uri="{9D8B030D-6E8A-4147-A177-3AD203B41FA5}">
                      <a16:colId xmlns:a16="http://schemas.microsoft.com/office/drawing/2014/main" val="20002"/>
                    </a:ext>
                  </a:extLst>
                </a:gridCol>
                <a:gridCol w="1328738">
                  <a:extLst>
                    <a:ext uri="{9D8B030D-6E8A-4147-A177-3AD203B41FA5}">
                      <a16:colId xmlns:a16="http://schemas.microsoft.com/office/drawing/2014/main" val="20003"/>
                    </a:ext>
                  </a:extLst>
                </a:gridCol>
              </a:tblGrid>
              <a:tr h="303213">
                <a:tc row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Narrow" pitchFamily="34" charset="0"/>
                        </a:rPr>
                        <a:t>Forward zone</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E8F6E4"/>
                    </a:solidFill>
                  </a:tcPr>
                </a:tc>
                <a:tc row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Narrow" pitchFamily="34" charset="0"/>
                        </a:rPr>
                        <a:t>Training</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E8F6E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chemeClr val="tx1"/>
                          </a:solidFill>
                          <a:effectLst/>
                          <a:latin typeface="Arial Narrow" pitchFamily="34" charset="0"/>
                        </a:rPr>
                        <a:t>DNS Client1</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E8F6E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chemeClr val="tx1"/>
                          </a:solidFill>
                          <a:effectLst/>
                          <a:latin typeface="Arial Narrow" pitchFamily="34" charset="0"/>
                        </a:rPr>
                        <a:t>192.168.2.45</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E8F6E4"/>
                    </a:solidFill>
                  </a:tcPr>
                </a:tc>
                <a:extLst>
                  <a:ext uri="{0D108BD9-81ED-4DB2-BD59-A6C34878D82A}">
                    <a16:rowId xmlns:a16="http://schemas.microsoft.com/office/drawing/2014/main" val="10000"/>
                  </a:ext>
                </a:extLst>
              </a:tr>
              <a:tr h="347663">
                <a:tc vMerge="1">
                  <a:txBody>
                    <a:bodyPr/>
                    <a:lstStyle/>
                    <a:p>
                      <a:endParaRPr lang="en-US"/>
                    </a:p>
                  </a:txBody>
                  <a:tcPr/>
                </a:tc>
                <a:tc vMerge="1">
                  <a:txBody>
                    <a:bodyPr/>
                    <a:lstStyle/>
                    <a:p>
                      <a:endParaRPr lang="en-US"/>
                    </a:p>
                  </a:txBody>
                  <a:tcPr/>
                </a:tc>
                <a:tc>
                  <a:txBody>
                    <a:bodyPr/>
                    <a:lstStyle/>
                    <a:p>
                      <a:pPr marL="177800" marR="0" lvl="0" indent="-17780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sz="1800" b="1" i="0" u="none" strike="noStrike" cap="none" normalizeH="0" baseline="0" smtClean="0">
                          <a:ln>
                            <a:noFill/>
                          </a:ln>
                          <a:solidFill>
                            <a:schemeClr val="tx1"/>
                          </a:solidFill>
                          <a:effectLst/>
                          <a:latin typeface="Arial Narrow" pitchFamily="34" charset="0"/>
                        </a:rPr>
                        <a:t>DNS Client2</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E8F6E4"/>
                    </a:solidFill>
                  </a:tcPr>
                </a:tc>
                <a:tc>
                  <a:txBody>
                    <a:bodyPr/>
                    <a:lstStyle/>
                    <a:p>
                      <a:pPr marL="177800" marR="0" lvl="0" indent="-17780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chemeClr val="tx1"/>
                          </a:solidFill>
                          <a:effectLst/>
                          <a:latin typeface="Arial Narrow" pitchFamily="34" charset="0"/>
                        </a:rPr>
                        <a:t>192.168.2.46</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E8F6E4"/>
                    </a:solidFill>
                  </a:tcPr>
                </a:tc>
                <a:extLst>
                  <a:ext uri="{0D108BD9-81ED-4DB2-BD59-A6C34878D82A}">
                    <a16:rowId xmlns:a16="http://schemas.microsoft.com/office/drawing/2014/main" val="10001"/>
                  </a:ext>
                </a:extLst>
              </a:tr>
              <a:tr h="388938">
                <a:tc vMerge="1">
                  <a:txBody>
                    <a:bodyPr/>
                    <a:lstStyle/>
                    <a:p>
                      <a:endParaRPr lang="en-US"/>
                    </a:p>
                  </a:txBody>
                  <a:tcPr/>
                </a:tc>
                <a:tc vMerge="1">
                  <a:txBody>
                    <a:bodyPr/>
                    <a:lstStyle/>
                    <a:p>
                      <a:endParaRPr lang="en-US"/>
                    </a:p>
                  </a:txBody>
                  <a:tcPr/>
                </a:tc>
                <a:tc>
                  <a:txBody>
                    <a:bodyPr/>
                    <a:lstStyle/>
                    <a:p>
                      <a:pPr marL="177800" marR="0" lvl="0" indent="-17780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sz="1800" b="1" i="0" u="none" strike="noStrike" cap="none" normalizeH="0" baseline="0" smtClean="0">
                          <a:ln>
                            <a:noFill/>
                          </a:ln>
                          <a:solidFill>
                            <a:schemeClr val="tx1"/>
                          </a:solidFill>
                          <a:effectLst/>
                          <a:latin typeface="Arial Narrow" pitchFamily="34" charset="0"/>
                        </a:rPr>
                        <a:t>DNS Client3</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E8F6E4"/>
                    </a:solidFill>
                  </a:tcPr>
                </a:tc>
                <a:tc>
                  <a:txBody>
                    <a:bodyPr/>
                    <a:lstStyle/>
                    <a:p>
                      <a:pPr marL="177800" marR="0" lvl="0" indent="-17780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chemeClr val="tx1"/>
                          </a:solidFill>
                          <a:effectLst/>
                          <a:latin typeface="Arial Narrow" pitchFamily="34" charset="0"/>
                        </a:rPr>
                        <a:t>192.168.2.47</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E8F6E4"/>
                    </a:solidFill>
                  </a:tcPr>
                </a:tc>
                <a:extLst>
                  <a:ext uri="{0D108BD9-81ED-4DB2-BD59-A6C34878D82A}">
                    <a16:rowId xmlns:a16="http://schemas.microsoft.com/office/drawing/2014/main" val="10002"/>
                  </a:ext>
                </a:extLst>
              </a:tr>
              <a:tr h="365125">
                <a:tc row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Narrow"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Narrow" pitchFamily="34" charset="0"/>
                        </a:rPr>
                        <a:t>Reverse zone</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Narrow" pitchFamily="34" charset="0"/>
                        </a:rPr>
                        <a:t> </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F6D9D4"/>
                    </a:solidFill>
                  </a:tcPr>
                </a:tc>
                <a:tc row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Narrow" pitchFamily="34" charset="0"/>
                        </a:rPr>
                        <a:t>1.168.192.in-addr.arpa</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F6D9D4"/>
                    </a:solidFill>
                  </a:tcPr>
                </a:tc>
                <a:tc>
                  <a:txBody>
                    <a:bodyPr/>
                    <a:lstStyle/>
                    <a:p>
                      <a:pPr marL="177800" marR="0" lvl="0" indent="-17780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chemeClr val="tx1"/>
                          </a:solidFill>
                          <a:effectLst/>
                          <a:latin typeface="Arial Narrow" pitchFamily="34" charset="0"/>
                        </a:rPr>
                        <a:t>192.168.2.45</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F6D9D4"/>
                    </a:solidFill>
                  </a:tcPr>
                </a:tc>
                <a:tc>
                  <a:txBody>
                    <a:bodyPr/>
                    <a:lstStyle/>
                    <a:p>
                      <a:pPr marL="177800" marR="0" lvl="0" indent="-17780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sz="1800" b="1" i="0" u="none" strike="noStrike" cap="none" normalizeH="0" baseline="0" smtClean="0">
                          <a:ln>
                            <a:noFill/>
                          </a:ln>
                          <a:solidFill>
                            <a:schemeClr val="tx1"/>
                          </a:solidFill>
                          <a:effectLst/>
                          <a:latin typeface="Arial Narrow" pitchFamily="34" charset="0"/>
                        </a:rPr>
                        <a:t>DNS Client1</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F6D9D4"/>
                    </a:solidFill>
                  </a:tcPr>
                </a:tc>
                <a:extLst>
                  <a:ext uri="{0D108BD9-81ED-4DB2-BD59-A6C34878D82A}">
                    <a16:rowId xmlns:a16="http://schemas.microsoft.com/office/drawing/2014/main" val="10003"/>
                  </a:ext>
                </a:extLst>
              </a:tr>
              <a:tr h="365125">
                <a:tc vMerge="1">
                  <a:txBody>
                    <a:bodyPr/>
                    <a:lstStyle/>
                    <a:p>
                      <a:endParaRPr lang="en-US"/>
                    </a:p>
                  </a:txBody>
                  <a:tcPr/>
                </a:tc>
                <a:tc vMerge="1">
                  <a:txBody>
                    <a:bodyPr/>
                    <a:lstStyle/>
                    <a:p>
                      <a:endParaRPr lang="en-US"/>
                    </a:p>
                  </a:txBody>
                  <a:tcPr/>
                </a:tc>
                <a:tc>
                  <a:txBody>
                    <a:bodyPr/>
                    <a:lstStyle/>
                    <a:p>
                      <a:pPr marL="177800" marR="0" lvl="0" indent="-17780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chemeClr val="tx1"/>
                          </a:solidFill>
                          <a:effectLst/>
                          <a:latin typeface="Arial Narrow" pitchFamily="34" charset="0"/>
                        </a:rPr>
                        <a:t>192.168.2.46</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F6D9D4"/>
                    </a:solidFill>
                  </a:tcPr>
                </a:tc>
                <a:tc>
                  <a:txBody>
                    <a:bodyPr/>
                    <a:lstStyle/>
                    <a:p>
                      <a:pPr marL="177800" marR="0" lvl="0" indent="-17780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sz="1800" b="1" i="0" u="none" strike="noStrike" cap="none" normalizeH="0" baseline="0" smtClean="0">
                          <a:ln>
                            <a:noFill/>
                          </a:ln>
                          <a:solidFill>
                            <a:schemeClr val="tx1"/>
                          </a:solidFill>
                          <a:effectLst/>
                          <a:latin typeface="Arial Narrow" pitchFamily="34" charset="0"/>
                        </a:rPr>
                        <a:t>DNS Client2</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F6D9D4"/>
                    </a:solidFill>
                  </a:tcPr>
                </a:tc>
                <a:extLst>
                  <a:ext uri="{0D108BD9-81ED-4DB2-BD59-A6C34878D82A}">
                    <a16:rowId xmlns:a16="http://schemas.microsoft.com/office/drawing/2014/main" val="10004"/>
                  </a:ext>
                </a:extLst>
              </a:tr>
              <a:tr h="330200">
                <a:tc vMerge="1">
                  <a:txBody>
                    <a:bodyPr/>
                    <a:lstStyle/>
                    <a:p>
                      <a:endParaRPr lang="en-US"/>
                    </a:p>
                  </a:txBody>
                  <a:tcPr/>
                </a:tc>
                <a:tc vMerge="1">
                  <a:txBody>
                    <a:bodyPr/>
                    <a:lstStyle/>
                    <a:p>
                      <a:endParaRPr lang="en-US"/>
                    </a:p>
                  </a:txBody>
                  <a:tcPr/>
                </a:tc>
                <a:tc>
                  <a:txBody>
                    <a:bodyPr/>
                    <a:lstStyle/>
                    <a:p>
                      <a:pPr marL="177800" marR="0" lvl="0" indent="-17780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chemeClr val="tx1"/>
                          </a:solidFill>
                          <a:effectLst/>
                          <a:latin typeface="Arial Narrow" pitchFamily="34" charset="0"/>
                        </a:rPr>
                        <a:t>192.168.2.47</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F6D9D4"/>
                    </a:solidFill>
                  </a:tcPr>
                </a:tc>
                <a:tc>
                  <a:txBody>
                    <a:bodyPr/>
                    <a:lstStyle/>
                    <a:p>
                      <a:pPr marL="177800" marR="0" lvl="0" indent="-17780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sz="1800" b="1" i="0" u="none" strike="noStrike" cap="none" normalizeH="0" baseline="0" smtClean="0">
                          <a:ln>
                            <a:noFill/>
                          </a:ln>
                          <a:solidFill>
                            <a:schemeClr val="tx1"/>
                          </a:solidFill>
                          <a:effectLst/>
                          <a:latin typeface="Arial Narrow" pitchFamily="34" charset="0"/>
                        </a:rPr>
                        <a:t>DNS Client3</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F6D9D4"/>
                    </a:solidFill>
                  </a:tcPr>
                </a:tc>
                <a:extLst>
                  <a:ext uri="{0D108BD9-81ED-4DB2-BD59-A6C34878D82A}">
                    <a16:rowId xmlns:a16="http://schemas.microsoft.com/office/drawing/2014/main" val="10005"/>
                  </a:ext>
                </a:extLst>
              </a:tr>
            </a:tbl>
          </a:graphicData>
        </a:graphic>
      </p:graphicFrame>
      <p:grpSp>
        <p:nvGrpSpPr>
          <p:cNvPr id="21" name="Group 20"/>
          <p:cNvGrpSpPr/>
          <p:nvPr/>
        </p:nvGrpSpPr>
        <p:grpSpPr>
          <a:xfrm>
            <a:off x="1219200" y="3175000"/>
            <a:ext cx="2589212" cy="1930400"/>
            <a:chOff x="1219200" y="3175000"/>
            <a:chExt cx="2589212" cy="1930400"/>
          </a:xfrm>
        </p:grpSpPr>
        <p:sp>
          <p:nvSpPr>
            <p:cNvPr id="17" name="Arc 47"/>
            <p:cNvSpPr>
              <a:spLocks/>
            </p:cNvSpPr>
            <p:nvPr/>
          </p:nvSpPr>
          <p:spPr bwMode="auto">
            <a:xfrm>
              <a:off x="1219200" y="3175000"/>
              <a:ext cx="1752600" cy="1930400"/>
            </a:xfrm>
            <a:custGeom>
              <a:avLst/>
              <a:gdLst>
                <a:gd name="T0" fmla="*/ 1734749 w 43200"/>
                <a:gd name="T1" fmla="*/ 732730 h 41810"/>
                <a:gd name="T2" fmla="*/ 567080 w 43200"/>
                <a:gd name="T3" fmla="*/ 0 h 41810"/>
                <a:gd name="T4" fmla="*/ 876300 w 43200"/>
                <a:gd name="T5" fmla="*/ 933111 h 41810"/>
                <a:gd name="T6" fmla="*/ 0 60000 65536"/>
                <a:gd name="T7" fmla="*/ 0 60000 65536"/>
                <a:gd name="T8" fmla="*/ 0 60000 65536"/>
                <a:gd name="T9" fmla="*/ 0 w 43200"/>
                <a:gd name="T10" fmla="*/ 0 h 41810"/>
                <a:gd name="T11" fmla="*/ 43200 w 43200"/>
                <a:gd name="T12" fmla="*/ 41810 h 41810"/>
              </a:gdLst>
              <a:ahLst/>
              <a:cxnLst>
                <a:cxn ang="T6">
                  <a:pos x="T0" y="T1"/>
                </a:cxn>
                <a:cxn ang="T7">
                  <a:pos x="T2" y="T3"/>
                </a:cxn>
                <a:cxn ang="T8">
                  <a:pos x="T4" y="T5"/>
                </a:cxn>
              </a:cxnLst>
              <a:rect l="T9" t="T10" r="T11" b="T12"/>
              <a:pathLst>
                <a:path w="43200" h="41810" fill="none" extrusionOk="0">
                  <a:moveTo>
                    <a:pt x="42759" y="15870"/>
                  </a:moveTo>
                  <a:cubicBezTo>
                    <a:pt x="43052" y="17298"/>
                    <a:pt x="43200" y="18752"/>
                    <a:pt x="43200" y="20210"/>
                  </a:cubicBezTo>
                  <a:cubicBezTo>
                    <a:pt x="43200" y="32139"/>
                    <a:pt x="33529" y="41810"/>
                    <a:pt x="21600" y="41810"/>
                  </a:cubicBezTo>
                  <a:cubicBezTo>
                    <a:pt x="9670" y="41810"/>
                    <a:pt x="0" y="32139"/>
                    <a:pt x="0" y="20210"/>
                  </a:cubicBezTo>
                  <a:cubicBezTo>
                    <a:pt x="-1" y="11220"/>
                    <a:pt x="5567" y="3171"/>
                    <a:pt x="13977" y="-1"/>
                  </a:cubicBezTo>
                </a:path>
                <a:path w="43200" h="41810" stroke="0" extrusionOk="0">
                  <a:moveTo>
                    <a:pt x="42759" y="15870"/>
                  </a:moveTo>
                  <a:cubicBezTo>
                    <a:pt x="43052" y="17298"/>
                    <a:pt x="43200" y="18752"/>
                    <a:pt x="43200" y="20210"/>
                  </a:cubicBezTo>
                  <a:cubicBezTo>
                    <a:pt x="43200" y="32139"/>
                    <a:pt x="33529" y="41810"/>
                    <a:pt x="21600" y="41810"/>
                  </a:cubicBezTo>
                  <a:cubicBezTo>
                    <a:pt x="9670" y="41810"/>
                    <a:pt x="0" y="32139"/>
                    <a:pt x="0" y="20210"/>
                  </a:cubicBezTo>
                  <a:cubicBezTo>
                    <a:pt x="-1" y="11220"/>
                    <a:pt x="5567" y="3171"/>
                    <a:pt x="13977" y="-1"/>
                  </a:cubicBezTo>
                  <a:lnTo>
                    <a:pt x="21600" y="20210"/>
                  </a:lnTo>
                  <a:close/>
                </a:path>
              </a:pathLst>
            </a:custGeom>
            <a:noFill/>
            <a:ln w="50800">
              <a:solidFill>
                <a:srgbClr val="CC0000"/>
              </a:solidFill>
              <a:round/>
              <a:headEnd type="triangle" w="med" len="med"/>
              <a:tailEnd type="triangle" w="med" len="med"/>
            </a:ln>
          </p:spPr>
          <p:txBody>
            <a:bodyPr/>
            <a:lstStyle/>
            <a:p>
              <a:endParaRPr lang="en-US" sz="1500" b="0"/>
            </a:p>
          </p:txBody>
        </p:sp>
        <p:sp>
          <p:nvSpPr>
            <p:cNvPr id="19" name="AutoShape 50"/>
            <p:cNvSpPr>
              <a:spLocks noChangeArrowheads="1"/>
            </p:cNvSpPr>
            <p:nvPr/>
          </p:nvSpPr>
          <p:spPr bwMode="auto">
            <a:xfrm>
              <a:off x="2144712" y="4545013"/>
              <a:ext cx="1663700" cy="376237"/>
            </a:xfrm>
            <a:prstGeom prst="roundRect">
              <a:avLst>
                <a:gd name="adj" fmla="val 16667"/>
              </a:avLst>
            </a:prstGeom>
            <a:gradFill rotWithShape="1">
              <a:gsLst>
                <a:gs pos="0">
                  <a:srgbClr val="ADE2A1"/>
                </a:gs>
                <a:gs pos="100000">
                  <a:srgbClr val="E8F6E4"/>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a:lnSpc>
                  <a:spcPct val="85000"/>
                </a:lnSpc>
                <a:defRPr/>
              </a:pPr>
              <a:r>
                <a:rPr lang="en-US" sz="1500" b="0"/>
                <a:t>192.168.2.46 = ?</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ppt_x"/>
                                          </p:val>
                                        </p:tav>
                                        <p:tav tm="100000">
                                          <p:val>
                                            <p:strVal val="#ppt_x"/>
                                          </p:val>
                                        </p:tav>
                                      </p:tavLst>
                                    </p:anim>
                                    <p:anim calcmode="lin" valueType="num">
                                      <p:cBhvr additive="base">
                                        <p:cTn id="8"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1"/>
                                        </p:tgtEl>
                                        <p:attrNameLst>
                                          <p:attrName>style.visibility</p:attrName>
                                        </p:attrNameLst>
                                      </p:cBhvr>
                                      <p:to>
                                        <p:strVal val="visible"/>
                                      </p:to>
                                    </p:set>
                                    <p:anim calcmode="lin" valueType="num">
                                      <p:cBhvr additive="base">
                                        <p:cTn id="13" dur="500" fill="hold"/>
                                        <p:tgtEl>
                                          <p:spTgt spid="21"/>
                                        </p:tgtEl>
                                        <p:attrNameLst>
                                          <p:attrName>ppt_x</p:attrName>
                                        </p:attrNameLst>
                                      </p:cBhvr>
                                      <p:tavLst>
                                        <p:tav tm="0">
                                          <p:val>
                                            <p:strVal val="#ppt_x"/>
                                          </p:val>
                                        </p:tav>
                                        <p:tav tm="100000">
                                          <p:val>
                                            <p:strVal val="#ppt_x"/>
                                          </p:val>
                                        </p:tav>
                                      </p:tavLst>
                                    </p:anim>
                                    <p:anim calcmode="lin" valueType="num">
                                      <p:cBhvr additive="base">
                                        <p:cTn id="14"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ppt_x"/>
                                          </p:val>
                                        </p:tav>
                                        <p:tav tm="100000">
                                          <p:val>
                                            <p:strVal val="#ppt_x"/>
                                          </p:val>
                                        </p:tav>
                                      </p:tavLst>
                                    </p:anim>
                                    <p:anim calcmode="lin" valueType="num">
                                      <p:cBhvr additive="base">
                                        <p:cTn id="20" dur="500" fill="hold"/>
                                        <p:tgtEl>
                                          <p:spTgt spid="13"/>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ppt_x"/>
                                          </p:val>
                                        </p:tav>
                                        <p:tav tm="100000">
                                          <p:val>
                                            <p:strVal val="#ppt_x"/>
                                          </p:val>
                                        </p:tav>
                                      </p:tavLst>
                                    </p:anim>
                                    <p:anim calcmode="lin" valueType="num">
                                      <p:cBhvr additive="base">
                                        <p:cTn id="2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vi-VN" smtClean="0"/>
              <a:t>V.1.  Primary Name Server</a:t>
            </a:r>
            <a:r>
              <a:rPr lang="en-US" smtClean="0"/>
              <a:t> </a:t>
            </a:r>
          </a:p>
          <a:p>
            <a:r>
              <a:rPr lang="vi-VN" smtClean="0"/>
              <a:t>V.2.  Secondary Name Server.</a:t>
            </a:r>
            <a:endParaRPr lang="en-US" smtClean="0"/>
          </a:p>
          <a:p>
            <a:r>
              <a:rPr lang="vi-VN" smtClean="0"/>
              <a:t> V.3.  Caching Name Server. </a:t>
            </a:r>
            <a:endParaRPr lang="en-US" smtClean="0"/>
          </a:p>
        </p:txBody>
      </p:sp>
      <p:sp>
        <p:nvSpPr>
          <p:cNvPr id="3" name="Title 2"/>
          <p:cNvSpPr>
            <a:spLocks noGrp="1"/>
          </p:cNvSpPr>
          <p:nvPr>
            <p:ph type="title"/>
          </p:nvPr>
        </p:nvSpPr>
        <p:spPr>
          <a:xfrm>
            <a:off x="0" y="76200"/>
            <a:ext cx="9144000" cy="609600"/>
          </a:xfrm>
        </p:spPr>
        <p:txBody>
          <a:bodyPr/>
          <a:lstStyle/>
          <a:p>
            <a:r>
              <a:rPr lang="vi-VN" smtClean="0"/>
              <a:t>V.  Phân loại Domain Name Server.</a:t>
            </a:r>
            <a:endParaRPr lang="en-US" smtClean="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vi-VN" smtClean="0"/>
              <a:t>Mỗi miền phải có một Primary Name Serve</a:t>
            </a:r>
            <a:r>
              <a:rPr lang="en-US" smtClean="0"/>
              <a:t> để lưu trữ CSDL của DNS</a:t>
            </a:r>
            <a:r>
              <a:rPr lang="vi-VN" smtClean="0"/>
              <a:t>. </a:t>
            </a:r>
            <a:endParaRPr lang="en-US" smtClean="0"/>
          </a:p>
          <a:p>
            <a:r>
              <a:rPr lang="vi-VN" smtClean="0"/>
              <a:t>Server này được đăng kí trên Internet để quản lý miền.</a:t>
            </a:r>
            <a:r>
              <a:rPr lang="en-US" smtClean="0"/>
              <a:t> (public tên và IP)</a:t>
            </a:r>
            <a:endParaRPr lang="vi-VN" smtClean="0"/>
          </a:p>
          <a:p>
            <a:r>
              <a:rPr lang="vi-VN" smtClean="0"/>
              <a:t>Server  này  có nhiệm  vụ phân giải  tất  cả  các</a:t>
            </a:r>
            <a:r>
              <a:rPr lang="en-US" smtClean="0"/>
              <a:t> </a:t>
            </a:r>
            <a:r>
              <a:rPr lang="vi-VN" smtClean="0"/>
              <a:t>máy trong miền hay zone. </a:t>
            </a:r>
            <a:endParaRPr lang="en-US"/>
          </a:p>
        </p:txBody>
      </p:sp>
      <p:sp>
        <p:nvSpPr>
          <p:cNvPr id="3" name="Title 2"/>
          <p:cNvSpPr>
            <a:spLocks noGrp="1"/>
          </p:cNvSpPr>
          <p:nvPr>
            <p:ph type="title"/>
          </p:nvPr>
        </p:nvSpPr>
        <p:spPr/>
        <p:txBody>
          <a:bodyPr/>
          <a:lstStyle/>
          <a:p>
            <a:r>
              <a:rPr lang="en-US" smtClean="0"/>
              <a:t>V.1. </a:t>
            </a:r>
            <a:r>
              <a:rPr lang="vi-VN" smtClean="0"/>
              <a:t>Primary Name Server</a:t>
            </a:r>
            <a:endParaRPr lang="en-US"/>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smtClean="0"/>
              <a:t>S</a:t>
            </a:r>
            <a:r>
              <a:rPr lang="vi-VN" smtClean="0"/>
              <a:t>erver này có nhiệm vụ sao  lưu  tất cả những dữ liệu  trên Primary Name Server</a:t>
            </a:r>
            <a:r>
              <a:rPr lang="en-US" smtClean="0"/>
              <a:t> t</a:t>
            </a:r>
            <a:r>
              <a:rPr lang="vi-VN" smtClean="0"/>
              <a:t>heo một chu kỳ</a:t>
            </a:r>
            <a:r>
              <a:rPr lang="en-US" smtClean="0"/>
              <a:t> nào đó</a:t>
            </a:r>
          </a:p>
          <a:p>
            <a:r>
              <a:rPr lang="en-US" smtClean="0"/>
              <a:t>Dự phòng khi </a:t>
            </a:r>
            <a:r>
              <a:rPr lang="vi-VN" smtClean="0"/>
              <a:t>Primary Name Server</a:t>
            </a:r>
            <a:r>
              <a:rPr lang="en-US" smtClean="0"/>
              <a:t> bị lỗi</a:t>
            </a:r>
            <a:endParaRPr lang="vi-VN" smtClean="0"/>
          </a:p>
          <a:p>
            <a:r>
              <a:rPr lang="vi-VN" smtClean="0"/>
              <a:t>Trong  một  miền  có  thể  có  một  hay  nhiều Secondary Name Server. </a:t>
            </a:r>
            <a:endParaRPr lang="en-US" smtClean="0"/>
          </a:p>
          <a:p>
            <a:r>
              <a:rPr lang="vi-VN" smtClean="0"/>
              <a:t>, Secondary sẽ sao chép và cập nhật CSDL  từ   Primary </a:t>
            </a:r>
          </a:p>
          <a:p>
            <a:r>
              <a:rPr lang="vi-VN" smtClean="0"/>
              <a:t>Tên và địa chỉ IP của Secondary Name Server cũng được </a:t>
            </a:r>
            <a:r>
              <a:rPr lang="en-US" smtClean="0"/>
              <a:t>public</a:t>
            </a:r>
            <a:endParaRPr lang="en-US"/>
          </a:p>
        </p:txBody>
      </p:sp>
      <p:sp>
        <p:nvSpPr>
          <p:cNvPr id="3" name="Title 2"/>
          <p:cNvSpPr>
            <a:spLocks noGrp="1"/>
          </p:cNvSpPr>
          <p:nvPr>
            <p:ph type="title"/>
          </p:nvPr>
        </p:nvSpPr>
        <p:spPr/>
        <p:txBody>
          <a:bodyPr/>
          <a:lstStyle/>
          <a:p>
            <a:r>
              <a:rPr lang="en-US" smtClean="0"/>
              <a:t>V.2. S</a:t>
            </a:r>
            <a:r>
              <a:rPr lang="vi-VN" smtClean="0"/>
              <a:t>econdary </a:t>
            </a:r>
            <a:r>
              <a:rPr lang="en-US" smtClean="0"/>
              <a:t>(Slave) </a:t>
            </a:r>
            <a:r>
              <a:rPr lang="vi-VN" smtClean="0"/>
              <a:t>Name Server</a:t>
            </a:r>
            <a:endParaRPr lang="en-US"/>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a:p>
        </p:txBody>
      </p:sp>
      <p:sp>
        <p:nvSpPr>
          <p:cNvPr id="3" name="Title 2"/>
          <p:cNvSpPr>
            <a:spLocks noGrp="1"/>
          </p:cNvSpPr>
          <p:nvPr>
            <p:ph type="title"/>
          </p:nvPr>
        </p:nvSpPr>
        <p:spPr/>
        <p:txBody>
          <a:bodyPr/>
          <a:lstStyle/>
          <a:p>
            <a:r>
              <a:rPr lang="en-US" smtClean="0"/>
              <a:t>Zone transfer</a:t>
            </a:r>
            <a:endParaRPr lang="en-US"/>
          </a:p>
        </p:txBody>
      </p:sp>
      <p:pic>
        <p:nvPicPr>
          <p:cNvPr id="63490" name="Picture 2"/>
          <p:cNvPicPr>
            <a:picLocks noChangeAspect="1" noChangeArrowheads="1"/>
          </p:cNvPicPr>
          <p:nvPr/>
        </p:nvPicPr>
        <p:blipFill>
          <a:blip r:embed="rId2"/>
          <a:srcRect/>
          <a:stretch>
            <a:fillRect/>
          </a:stretch>
        </p:blipFill>
        <p:spPr bwMode="auto">
          <a:xfrm>
            <a:off x="304800" y="990600"/>
            <a:ext cx="8566484" cy="5181600"/>
          </a:xfrm>
          <a:prstGeom prst="rect">
            <a:avLst/>
          </a:prstGeom>
          <a:noFill/>
          <a:ln w="9525">
            <a:noFill/>
            <a:miter lim="800000"/>
            <a:headEnd/>
            <a:tailEnd/>
          </a:ln>
          <a:effectLst/>
        </p:spPr>
      </p:pic>
    </p:spTree>
    <p:extLst>
      <p:ext uri="{BB962C8B-B14F-4D97-AF65-F5344CB8AC3E}">
        <p14:creationId xmlns:p14="http://schemas.microsoft.com/office/powerpoint/2010/main" val="190595724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a:p>
        </p:txBody>
      </p:sp>
      <p:sp>
        <p:nvSpPr>
          <p:cNvPr id="3" name="Title 2"/>
          <p:cNvSpPr>
            <a:spLocks noGrp="1"/>
          </p:cNvSpPr>
          <p:nvPr>
            <p:ph type="title"/>
          </p:nvPr>
        </p:nvSpPr>
        <p:spPr/>
        <p:txBody>
          <a:bodyPr/>
          <a:lstStyle/>
          <a:p>
            <a:r>
              <a:rPr lang="en-US" smtClean="0"/>
              <a:t>Primary - Secondary</a:t>
            </a:r>
            <a:endParaRPr lang="en-US"/>
          </a:p>
        </p:txBody>
      </p:sp>
      <p:pic>
        <p:nvPicPr>
          <p:cNvPr id="2050" name="Picture 2" descr="https://lh6.googleusercontent.com/-ogOgxn6UyrU/Tp4s9bHGb3I/AAAAAAAAB_E/tkRgzOFiBIA/Fig%2525208-5.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990600"/>
            <a:ext cx="8824109" cy="518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313053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200" y="228600"/>
            <a:ext cx="8229600" cy="487362"/>
          </a:xfrm>
        </p:spPr>
        <p:txBody>
          <a:bodyPr/>
          <a:lstStyle/>
          <a:p>
            <a:pPr marL="460375" indent="-460375"/>
            <a:r>
              <a:rPr lang="en-US" sz="2800" smtClean="0">
                <a:solidFill>
                  <a:schemeClr val="bg1"/>
                </a:solidFill>
              </a:rPr>
              <a:t>How Preferred and Alternate DNS Servers Work</a:t>
            </a:r>
          </a:p>
        </p:txBody>
      </p:sp>
      <p:pic>
        <p:nvPicPr>
          <p:cNvPr id="16387" name="Picture 3"/>
          <p:cNvPicPr>
            <a:picLocks noChangeAspect="1" noChangeArrowheads="1"/>
          </p:cNvPicPr>
          <p:nvPr/>
        </p:nvPicPr>
        <p:blipFill>
          <a:blip r:embed="rId3"/>
          <a:srcRect/>
          <a:stretch>
            <a:fillRect/>
          </a:stretch>
        </p:blipFill>
        <p:spPr bwMode="auto">
          <a:xfrm>
            <a:off x="552450" y="785813"/>
            <a:ext cx="4022725" cy="4459287"/>
          </a:xfrm>
          <a:prstGeom prst="rect">
            <a:avLst/>
          </a:prstGeom>
          <a:noFill/>
          <a:ln w="9525">
            <a:noFill/>
            <a:miter lim="800000"/>
            <a:headEnd/>
            <a:tailEnd/>
          </a:ln>
        </p:spPr>
      </p:pic>
      <p:sp>
        <p:nvSpPr>
          <p:cNvPr id="551940" name="Freeform 4"/>
          <p:cNvSpPr>
            <a:spLocks/>
          </p:cNvSpPr>
          <p:nvPr/>
        </p:nvSpPr>
        <p:spPr bwMode="auto">
          <a:xfrm>
            <a:off x="4087813" y="2081213"/>
            <a:ext cx="1157287" cy="3697287"/>
          </a:xfrm>
          <a:custGeom>
            <a:avLst/>
            <a:gdLst>
              <a:gd name="T0" fmla="*/ 0 w 729"/>
              <a:gd name="T1" fmla="*/ 1609 h 2329"/>
              <a:gd name="T2" fmla="*/ 491 w 729"/>
              <a:gd name="T3" fmla="*/ 0 h 2329"/>
              <a:gd name="T4" fmla="*/ 729 w 729"/>
              <a:gd name="T5" fmla="*/ 93 h 2329"/>
              <a:gd name="T6" fmla="*/ 534 w 729"/>
              <a:gd name="T7" fmla="*/ 2329 h 2329"/>
              <a:gd name="T8" fmla="*/ 0 w 729"/>
              <a:gd name="T9" fmla="*/ 1609 h 2329"/>
              <a:gd name="T10" fmla="*/ 0 60000 65536"/>
              <a:gd name="T11" fmla="*/ 0 60000 65536"/>
              <a:gd name="T12" fmla="*/ 0 60000 65536"/>
              <a:gd name="T13" fmla="*/ 0 60000 65536"/>
              <a:gd name="T14" fmla="*/ 0 60000 65536"/>
              <a:gd name="T15" fmla="*/ 0 w 729"/>
              <a:gd name="T16" fmla="*/ 0 h 2329"/>
              <a:gd name="T17" fmla="*/ 729 w 729"/>
              <a:gd name="T18" fmla="*/ 2329 h 2329"/>
            </a:gdLst>
            <a:ahLst/>
            <a:cxnLst>
              <a:cxn ang="T10">
                <a:pos x="T0" y="T1"/>
              </a:cxn>
              <a:cxn ang="T11">
                <a:pos x="T2" y="T3"/>
              </a:cxn>
              <a:cxn ang="T12">
                <a:pos x="T4" y="T5"/>
              </a:cxn>
              <a:cxn ang="T13">
                <a:pos x="T6" y="T7"/>
              </a:cxn>
              <a:cxn ang="T14">
                <a:pos x="T8" y="T9"/>
              </a:cxn>
            </a:cxnLst>
            <a:rect l="T15" t="T16" r="T17" b="T18"/>
            <a:pathLst>
              <a:path w="729" h="2329">
                <a:moveTo>
                  <a:pt x="0" y="1609"/>
                </a:moveTo>
                <a:lnTo>
                  <a:pt x="491" y="0"/>
                </a:lnTo>
                <a:lnTo>
                  <a:pt x="729" y="93"/>
                </a:lnTo>
                <a:lnTo>
                  <a:pt x="534" y="2329"/>
                </a:lnTo>
                <a:lnTo>
                  <a:pt x="0" y="1609"/>
                </a:lnTo>
                <a:close/>
              </a:path>
            </a:pathLst>
          </a:custGeom>
          <a:solidFill>
            <a:srgbClr val="FF0000">
              <a:alpha val="50195"/>
            </a:srgbClr>
          </a:solidFill>
          <a:ln w="9525">
            <a:noFill/>
            <a:round/>
            <a:headEnd/>
            <a:tailEnd/>
          </a:ln>
        </p:spPr>
        <p:txBody>
          <a:bodyPr/>
          <a:lstStyle/>
          <a:p>
            <a:endParaRPr lang="en-US" sz="1600"/>
          </a:p>
        </p:txBody>
      </p:sp>
      <p:pic>
        <p:nvPicPr>
          <p:cNvPr id="551941" name="Picture 5"/>
          <p:cNvPicPr>
            <a:picLocks noChangeAspect="1" noChangeArrowheads="1"/>
          </p:cNvPicPr>
          <p:nvPr/>
        </p:nvPicPr>
        <p:blipFill>
          <a:blip r:embed="rId4"/>
          <a:srcRect/>
          <a:stretch>
            <a:fillRect/>
          </a:stretch>
        </p:blipFill>
        <p:spPr bwMode="auto">
          <a:xfrm>
            <a:off x="4718050" y="1298575"/>
            <a:ext cx="4030663" cy="4797425"/>
          </a:xfrm>
          <a:prstGeom prst="rect">
            <a:avLst/>
          </a:prstGeom>
          <a:noFill/>
          <a:ln w="9525">
            <a:noFill/>
            <a:miter lim="800000"/>
            <a:headEnd/>
            <a:tailEnd/>
          </a:ln>
        </p:spPr>
      </p:pic>
      <p:grpSp>
        <p:nvGrpSpPr>
          <p:cNvPr id="2" name="Group 6"/>
          <p:cNvGrpSpPr>
            <a:grpSpLocks/>
          </p:cNvGrpSpPr>
          <p:nvPr/>
        </p:nvGrpSpPr>
        <p:grpSpPr bwMode="auto">
          <a:xfrm>
            <a:off x="650875" y="2182813"/>
            <a:ext cx="3306763" cy="1803400"/>
            <a:chOff x="410" y="1665"/>
            <a:chExt cx="2083" cy="1136"/>
          </a:xfrm>
        </p:grpSpPr>
        <p:sp>
          <p:nvSpPr>
            <p:cNvPr id="16407" name="Rectangle 7"/>
            <p:cNvSpPr>
              <a:spLocks noChangeArrowheads="1"/>
            </p:cNvSpPr>
            <p:nvPr/>
          </p:nvSpPr>
          <p:spPr bwMode="auto">
            <a:xfrm>
              <a:off x="503" y="2634"/>
              <a:ext cx="1990" cy="167"/>
            </a:xfrm>
            <a:prstGeom prst="rect">
              <a:avLst/>
            </a:prstGeom>
            <a:noFill/>
            <a:ln w="38100" algn="ctr">
              <a:solidFill>
                <a:srgbClr val="CC0000"/>
              </a:solidFill>
              <a:miter lim="800000"/>
              <a:headEnd/>
              <a:tailEnd/>
            </a:ln>
          </p:spPr>
          <p:txBody>
            <a:bodyPr wrap="none" anchor="ctr"/>
            <a:lstStyle/>
            <a:p>
              <a:endParaRPr lang="en-US" sz="1600"/>
            </a:p>
          </p:txBody>
        </p:sp>
        <p:sp>
          <p:nvSpPr>
            <p:cNvPr id="16408" name="Line 8"/>
            <p:cNvSpPr>
              <a:spLocks noChangeShapeType="1"/>
            </p:cNvSpPr>
            <p:nvPr/>
          </p:nvSpPr>
          <p:spPr bwMode="auto">
            <a:xfrm flipV="1">
              <a:off x="661" y="2287"/>
              <a:ext cx="0" cy="339"/>
            </a:xfrm>
            <a:prstGeom prst="line">
              <a:avLst/>
            </a:prstGeom>
            <a:noFill/>
            <a:ln w="38100">
              <a:solidFill>
                <a:srgbClr val="CC0000"/>
              </a:solidFill>
              <a:round/>
              <a:headEnd/>
              <a:tailEnd/>
            </a:ln>
          </p:spPr>
          <p:txBody>
            <a:bodyPr wrap="none" anchor="ctr"/>
            <a:lstStyle/>
            <a:p>
              <a:endParaRPr lang="en-US" sz="1600"/>
            </a:p>
          </p:txBody>
        </p:sp>
        <p:sp>
          <p:nvSpPr>
            <p:cNvPr id="551945" name="AutoShape 9"/>
            <p:cNvSpPr>
              <a:spLocks noChangeArrowheads="1"/>
            </p:cNvSpPr>
            <p:nvPr/>
          </p:nvSpPr>
          <p:spPr bwMode="auto">
            <a:xfrm>
              <a:off x="410" y="1665"/>
              <a:ext cx="1200" cy="680"/>
            </a:xfrm>
            <a:prstGeom prst="roundRect">
              <a:avLst>
                <a:gd name="adj" fmla="val 10296"/>
              </a:avLst>
            </a:prstGeom>
            <a:gradFill rotWithShape="1">
              <a:gsLst>
                <a:gs pos="0">
                  <a:srgbClr val="ADE2A1"/>
                </a:gs>
                <a:gs pos="100000">
                  <a:srgbClr val="E8F6E4"/>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marL="228600" indent="-228600" algn="l">
                <a:lnSpc>
                  <a:spcPct val="85000"/>
                </a:lnSpc>
                <a:defRPr/>
              </a:pPr>
              <a:r>
                <a:rPr lang="en-US" sz="1600">
                  <a:cs typeface="Arial" charset="0"/>
                </a:rPr>
                <a:t>1. 	The client tries the preferred DNS server first.</a:t>
              </a:r>
              <a:endParaRPr lang="en-US" sz="1600"/>
            </a:p>
          </p:txBody>
        </p:sp>
      </p:grpSp>
      <p:grpSp>
        <p:nvGrpSpPr>
          <p:cNvPr id="3" name="Group 10"/>
          <p:cNvGrpSpPr>
            <a:grpSpLocks/>
          </p:cNvGrpSpPr>
          <p:nvPr/>
        </p:nvGrpSpPr>
        <p:grpSpPr bwMode="auto">
          <a:xfrm>
            <a:off x="650875" y="3990975"/>
            <a:ext cx="3306763" cy="1484313"/>
            <a:chOff x="410" y="2804"/>
            <a:chExt cx="2083" cy="935"/>
          </a:xfrm>
        </p:grpSpPr>
        <p:sp>
          <p:nvSpPr>
            <p:cNvPr id="16404" name="Rectangle 11"/>
            <p:cNvSpPr>
              <a:spLocks noChangeArrowheads="1"/>
            </p:cNvSpPr>
            <p:nvPr/>
          </p:nvSpPr>
          <p:spPr bwMode="auto">
            <a:xfrm>
              <a:off x="503" y="2804"/>
              <a:ext cx="1990" cy="167"/>
            </a:xfrm>
            <a:prstGeom prst="rect">
              <a:avLst/>
            </a:prstGeom>
            <a:noFill/>
            <a:ln w="38100" algn="ctr">
              <a:solidFill>
                <a:srgbClr val="CC0000"/>
              </a:solidFill>
              <a:miter lim="800000"/>
              <a:headEnd/>
              <a:tailEnd/>
            </a:ln>
          </p:spPr>
          <p:txBody>
            <a:bodyPr wrap="none" anchor="ctr"/>
            <a:lstStyle/>
            <a:p>
              <a:endParaRPr lang="en-US" sz="1600"/>
            </a:p>
          </p:txBody>
        </p:sp>
        <p:sp>
          <p:nvSpPr>
            <p:cNvPr id="16405" name="Line 12"/>
            <p:cNvSpPr>
              <a:spLocks noChangeShapeType="1"/>
            </p:cNvSpPr>
            <p:nvPr/>
          </p:nvSpPr>
          <p:spPr bwMode="auto">
            <a:xfrm flipV="1">
              <a:off x="661" y="2965"/>
              <a:ext cx="0" cy="339"/>
            </a:xfrm>
            <a:prstGeom prst="line">
              <a:avLst/>
            </a:prstGeom>
            <a:noFill/>
            <a:ln w="38100">
              <a:solidFill>
                <a:srgbClr val="CC0000"/>
              </a:solidFill>
              <a:round/>
              <a:headEnd/>
              <a:tailEnd/>
            </a:ln>
          </p:spPr>
          <p:txBody>
            <a:bodyPr wrap="none" anchor="ctr"/>
            <a:lstStyle/>
            <a:p>
              <a:endParaRPr lang="en-US" sz="1600"/>
            </a:p>
          </p:txBody>
        </p:sp>
        <p:sp>
          <p:nvSpPr>
            <p:cNvPr id="551949" name="AutoShape 13"/>
            <p:cNvSpPr>
              <a:spLocks noChangeArrowheads="1"/>
            </p:cNvSpPr>
            <p:nvPr/>
          </p:nvSpPr>
          <p:spPr bwMode="auto">
            <a:xfrm>
              <a:off x="410" y="3153"/>
              <a:ext cx="1641" cy="586"/>
            </a:xfrm>
            <a:prstGeom prst="roundRect">
              <a:avLst>
                <a:gd name="adj" fmla="val 10296"/>
              </a:avLst>
            </a:prstGeom>
            <a:gradFill rotWithShape="1">
              <a:gsLst>
                <a:gs pos="0">
                  <a:srgbClr val="ADE2A1"/>
                </a:gs>
                <a:gs pos="100000">
                  <a:srgbClr val="E8F6E4"/>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marL="228600" indent="-228600" algn="l">
                <a:lnSpc>
                  <a:spcPct val="85000"/>
                </a:lnSpc>
                <a:defRPr/>
              </a:pPr>
              <a:r>
                <a:rPr lang="en-US" sz="1600">
                  <a:cs typeface="Arial" charset="0"/>
                </a:rPr>
                <a:t>2. </a:t>
              </a:r>
              <a:r>
                <a:rPr lang="en-US" sz="1600"/>
                <a:t>If the preferred server fails, the client tries the alternate DNS server.</a:t>
              </a:r>
            </a:p>
          </p:txBody>
        </p:sp>
      </p:grpSp>
      <p:sp>
        <p:nvSpPr>
          <p:cNvPr id="551950" name="Rectangle 14"/>
          <p:cNvSpPr>
            <a:spLocks noChangeArrowheads="1"/>
          </p:cNvSpPr>
          <p:nvPr/>
        </p:nvSpPr>
        <p:spPr bwMode="auto">
          <a:xfrm>
            <a:off x="4886325" y="1871663"/>
            <a:ext cx="3300413" cy="842962"/>
          </a:xfrm>
          <a:prstGeom prst="rect">
            <a:avLst/>
          </a:prstGeom>
          <a:noFill/>
          <a:ln w="38100" algn="ctr">
            <a:solidFill>
              <a:srgbClr val="CC0000"/>
            </a:solidFill>
            <a:miter lim="800000"/>
            <a:headEnd/>
            <a:tailEnd/>
          </a:ln>
        </p:spPr>
        <p:txBody>
          <a:bodyPr wrap="none" anchor="ctr"/>
          <a:lstStyle/>
          <a:p>
            <a:endParaRPr lang="en-US" sz="1600"/>
          </a:p>
        </p:txBody>
      </p:sp>
      <p:grpSp>
        <p:nvGrpSpPr>
          <p:cNvPr id="4" name="Group 15"/>
          <p:cNvGrpSpPr>
            <a:grpSpLocks/>
          </p:cNvGrpSpPr>
          <p:nvPr/>
        </p:nvGrpSpPr>
        <p:grpSpPr bwMode="auto">
          <a:xfrm>
            <a:off x="5075238" y="2720975"/>
            <a:ext cx="3671887" cy="1903413"/>
            <a:chOff x="3197" y="2076"/>
            <a:chExt cx="2022" cy="1273"/>
          </a:xfrm>
        </p:grpSpPr>
        <p:sp>
          <p:nvSpPr>
            <p:cNvPr id="16402" name="Line 16"/>
            <p:cNvSpPr>
              <a:spLocks noChangeShapeType="1"/>
            </p:cNvSpPr>
            <p:nvPr/>
          </p:nvSpPr>
          <p:spPr bwMode="auto">
            <a:xfrm flipV="1">
              <a:off x="3490" y="2076"/>
              <a:ext cx="0" cy="542"/>
            </a:xfrm>
            <a:prstGeom prst="line">
              <a:avLst/>
            </a:prstGeom>
            <a:noFill/>
            <a:ln w="38100">
              <a:solidFill>
                <a:srgbClr val="CC0000"/>
              </a:solidFill>
              <a:round/>
              <a:headEnd/>
              <a:tailEnd/>
            </a:ln>
          </p:spPr>
          <p:txBody>
            <a:bodyPr wrap="none" anchor="ctr"/>
            <a:lstStyle/>
            <a:p>
              <a:endParaRPr lang="en-US" sz="1600"/>
            </a:p>
          </p:txBody>
        </p:sp>
        <p:sp>
          <p:nvSpPr>
            <p:cNvPr id="551953" name="AutoShape 17"/>
            <p:cNvSpPr>
              <a:spLocks noChangeArrowheads="1"/>
            </p:cNvSpPr>
            <p:nvPr/>
          </p:nvSpPr>
          <p:spPr bwMode="auto">
            <a:xfrm>
              <a:off x="3197" y="2382"/>
              <a:ext cx="2022" cy="967"/>
            </a:xfrm>
            <a:prstGeom prst="roundRect">
              <a:avLst>
                <a:gd name="adj" fmla="val 10296"/>
              </a:avLst>
            </a:prstGeom>
            <a:gradFill rotWithShape="1">
              <a:gsLst>
                <a:gs pos="0">
                  <a:srgbClr val="ADE2A1"/>
                </a:gs>
                <a:gs pos="100000">
                  <a:srgbClr val="E8F6E4"/>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marL="228600" indent="-228600" algn="l">
                <a:lnSpc>
                  <a:spcPct val="85000"/>
                </a:lnSpc>
                <a:defRPr/>
              </a:pPr>
              <a:r>
                <a:rPr lang="en-US" sz="1600">
                  <a:cs typeface="Arial" charset="0"/>
                </a:rPr>
                <a:t>3. </a:t>
              </a:r>
              <a:r>
                <a:rPr lang="en-US" sz="1600"/>
                <a:t>Optionally, you can enter a whole list of alternate DNS servers.</a:t>
              </a:r>
              <a:r>
                <a:rPr lang="en-US" sz="1600" b="0"/>
                <a:t> </a:t>
              </a:r>
              <a:r>
                <a:rPr lang="en-US" sz="1600"/>
                <a:t>The preferred and alternate DNS servers automatically appear at the top of this list.</a:t>
              </a:r>
            </a:p>
          </p:txBody>
        </p:sp>
      </p:grpSp>
    </p:spTree>
    <p:extLst>
      <p:ext uri="{BB962C8B-B14F-4D97-AF65-F5344CB8AC3E}">
        <p14:creationId xmlns:p14="http://schemas.microsoft.com/office/powerpoint/2010/main" val="3605311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2"/>
                                        </p:tgtEl>
                                      </p:cBhvr>
                                    </p:animEffect>
                                    <p:set>
                                      <p:cBhvr>
                                        <p:cTn id="12" dur="1" fill="hold">
                                          <p:stCondLst>
                                            <p:cond delay="499"/>
                                          </p:stCondLst>
                                        </p:cTn>
                                        <p:tgtEl>
                                          <p:spTgt spid="2"/>
                                        </p:tgtEl>
                                        <p:attrNameLst>
                                          <p:attrName>style.visibility</p:attrName>
                                        </p:attrNameLst>
                                      </p:cBhvr>
                                      <p:to>
                                        <p:strVal val="hidden"/>
                                      </p:to>
                                    </p:set>
                                  </p:childTnLst>
                                </p:cTn>
                              </p:par>
                              <p:par>
                                <p:cTn id="13" presetID="10"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551940"/>
                                        </p:tgtEl>
                                        <p:attrNameLst>
                                          <p:attrName>style.visibility</p:attrName>
                                        </p:attrNameLst>
                                      </p:cBhvr>
                                      <p:to>
                                        <p:strVal val="visible"/>
                                      </p:to>
                                    </p:set>
                                    <p:animEffect transition="in" filter="fade">
                                      <p:cBhvr>
                                        <p:cTn id="20" dur="500"/>
                                        <p:tgtEl>
                                          <p:spTgt spid="551940"/>
                                        </p:tgtEl>
                                      </p:cBhvr>
                                    </p:animEffect>
                                  </p:childTnLst>
                                </p:cTn>
                              </p:par>
                              <p:par>
                                <p:cTn id="21" presetID="10" presetClass="entr" presetSubtype="0" fill="hold" nodeType="withEffect">
                                  <p:stCondLst>
                                    <p:cond delay="0"/>
                                  </p:stCondLst>
                                  <p:childTnLst>
                                    <p:set>
                                      <p:cBhvr>
                                        <p:cTn id="22" dur="1" fill="hold">
                                          <p:stCondLst>
                                            <p:cond delay="0"/>
                                          </p:stCondLst>
                                        </p:cTn>
                                        <p:tgtEl>
                                          <p:spTgt spid="551941"/>
                                        </p:tgtEl>
                                        <p:attrNameLst>
                                          <p:attrName>style.visibility</p:attrName>
                                        </p:attrNameLst>
                                      </p:cBhvr>
                                      <p:to>
                                        <p:strVal val="visible"/>
                                      </p:to>
                                    </p:set>
                                    <p:animEffect transition="in" filter="fade">
                                      <p:cBhvr>
                                        <p:cTn id="23" dur="500"/>
                                        <p:tgtEl>
                                          <p:spTgt spid="551941"/>
                                        </p:tgtEl>
                                      </p:cBhvr>
                                    </p:animEffect>
                                  </p:childTnLst>
                                </p:cTn>
                              </p:par>
                              <p:par>
                                <p:cTn id="24" presetID="10" presetClass="exit" presetSubtype="0" fill="hold" nodeType="withEffect">
                                  <p:stCondLst>
                                    <p:cond delay="0"/>
                                  </p:stCondLst>
                                  <p:childTnLst>
                                    <p:animEffect transition="out" filter="fade">
                                      <p:cBhvr>
                                        <p:cTn id="25" dur="500"/>
                                        <p:tgtEl>
                                          <p:spTgt spid="3"/>
                                        </p:tgtEl>
                                      </p:cBhvr>
                                    </p:animEffect>
                                    <p:set>
                                      <p:cBhvr>
                                        <p:cTn id="26" dur="1" fill="hold">
                                          <p:stCondLst>
                                            <p:cond delay="499"/>
                                          </p:stCondLst>
                                        </p:cTn>
                                        <p:tgtEl>
                                          <p:spTgt spid="3"/>
                                        </p:tgtEl>
                                        <p:attrNameLst>
                                          <p:attrName>style.visibility</p:attrName>
                                        </p:attrNameLst>
                                      </p:cBhvr>
                                      <p:to>
                                        <p:strVal val="hidden"/>
                                      </p:to>
                                    </p:set>
                                  </p:childTnLst>
                                </p:cTn>
                              </p:par>
                            </p:childTnLst>
                          </p:cTn>
                        </p:par>
                        <p:par>
                          <p:cTn id="27" fill="hold">
                            <p:stCondLst>
                              <p:cond delay="500"/>
                            </p:stCondLst>
                            <p:childTnLst>
                              <p:par>
                                <p:cTn id="28" presetID="10" presetClass="entr" presetSubtype="0" fill="hold" grpId="0" nodeType="afterEffect">
                                  <p:stCondLst>
                                    <p:cond delay="0"/>
                                  </p:stCondLst>
                                  <p:childTnLst>
                                    <p:set>
                                      <p:cBhvr>
                                        <p:cTn id="29" dur="1" fill="hold">
                                          <p:stCondLst>
                                            <p:cond delay="0"/>
                                          </p:stCondLst>
                                        </p:cTn>
                                        <p:tgtEl>
                                          <p:spTgt spid="551950"/>
                                        </p:tgtEl>
                                        <p:attrNameLst>
                                          <p:attrName>style.visibility</p:attrName>
                                        </p:attrNameLst>
                                      </p:cBhvr>
                                      <p:to>
                                        <p:strVal val="visible"/>
                                      </p:to>
                                    </p:set>
                                    <p:animEffect transition="in" filter="fade">
                                      <p:cBhvr>
                                        <p:cTn id="30" dur="500"/>
                                        <p:tgtEl>
                                          <p:spTgt spid="551950"/>
                                        </p:tgtEl>
                                      </p:cBhvr>
                                    </p:animEffect>
                                  </p:childTnLst>
                                </p:cTn>
                              </p:par>
                              <p:par>
                                <p:cTn id="31" presetID="10" presetClass="entr" presetSubtype="0" fill="hold" nodeType="with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fade">
                                      <p:cBhvr>
                                        <p:cTn id="3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1940" grpId="0" animBg="1"/>
      <p:bldP spid="551950"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r>
              <a:rPr lang="vi-VN" smtClean="0"/>
              <a:t>Caching Name Server  không  có bất  kỳ  tập  tin CSDL nào. </a:t>
            </a:r>
            <a:endParaRPr lang="en-US" smtClean="0"/>
          </a:p>
          <a:p>
            <a:r>
              <a:rPr lang="vi-VN" smtClean="0"/>
              <a:t>Nó  có  chức năng phân giải  tên máy  trên những mạng ở xa  thông qua những Name Server khác. </a:t>
            </a:r>
            <a:endParaRPr lang="en-US" smtClean="0"/>
          </a:p>
          <a:p>
            <a:r>
              <a:rPr lang="vi-VN" smtClean="0"/>
              <a:t>Nó  lưu giữ  lại những  tên máy đã được phân</a:t>
            </a:r>
            <a:r>
              <a:rPr lang="en-US" smtClean="0"/>
              <a:t> </a:t>
            </a:r>
            <a:r>
              <a:rPr lang="vi-VN" smtClean="0"/>
              <a:t>giải trước đó và được sử dụng lại những thông tin này nhằm mục đích: </a:t>
            </a:r>
          </a:p>
          <a:p>
            <a:pPr lvl="1"/>
            <a:r>
              <a:rPr lang="vi-VN" smtClean="0"/>
              <a:t>Làm tăng tốc độ phân giải bằng cách sử dụng cache. </a:t>
            </a:r>
          </a:p>
          <a:p>
            <a:pPr lvl="1"/>
            <a:r>
              <a:rPr lang="vi-VN" smtClean="0"/>
              <a:t>Giảm bớt gánh nặng phân giải tên máy cho các Name Server. </a:t>
            </a:r>
          </a:p>
          <a:p>
            <a:pPr lvl="1"/>
            <a:r>
              <a:rPr lang="vi-VN" smtClean="0"/>
              <a:t>Giảm việc lưu thông trên những mạng lớn. </a:t>
            </a:r>
            <a:endParaRPr lang="en-US"/>
          </a:p>
        </p:txBody>
      </p:sp>
      <p:sp>
        <p:nvSpPr>
          <p:cNvPr id="3" name="Title 2"/>
          <p:cNvSpPr>
            <a:spLocks noGrp="1"/>
          </p:cNvSpPr>
          <p:nvPr>
            <p:ph type="title"/>
          </p:nvPr>
        </p:nvSpPr>
        <p:spPr/>
        <p:txBody>
          <a:bodyPr/>
          <a:lstStyle/>
          <a:p>
            <a:r>
              <a:rPr lang="en-US" smtClean="0"/>
              <a:t>V.3. </a:t>
            </a:r>
            <a:r>
              <a:rPr lang="vi-VN" smtClean="0"/>
              <a:t>Caching Name Server </a:t>
            </a:r>
            <a:endParaRPr lang="en-US"/>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a:p>
        </p:txBody>
      </p:sp>
      <p:sp>
        <p:nvSpPr>
          <p:cNvPr id="3" name="Title 2"/>
          <p:cNvSpPr>
            <a:spLocks noGrp="1"/>
          </p:cNvSpPr>
          <p:nvPr>
            <p:ph type="title"/>
          </p:nvPr>
        </p:nvSpPr>
        <p:spPr/>
        <p:txBody>
          <a:bodyPr/>
          <a:lstStyle/>
          <a:p>
            <a:r>
              <a:rPr lang="en-US" smtClean="0"/>
              <a:t>V.3. </a:t>
            </a:r>
            <a:r>
              <a:rPr lang="vi-VN" smtClean="0"/>
              <a:t>Caching Name Server </a:t>
            </a:r>
            <a:endParaRPr lang="en-US"/>
          </a:p>
        </p:txBody>
      </p:sp>
      <p:sp>
        <p:nvSpPr>
          <p:cNvPr id="5" name="Oval 3"/>
          <p:cNvSpPr>
            <a:spLocks noChangeArrowheads="1"/>
          </p:cNvSpPr>
          <p:nvPr/>
        </p:nvSpPr>
        <p:spPr bwMode="auto">
          <a:xfrm>
            <a:off x="1725613" y="3144838"/>
            <a:ext cx="2617787" cy="1587500"/>
          </a:xfrm>
          <a:prstGeom prst="ellipse">
            <a:avLst/>
          </a:prstGeom>
          <a:gradFill rotWithShape="1">
            <a:gsLst>
              <a:gs pos="0">
                <a:srgbClr val="F0F1FF"/>
              </a:gs>
              <a:gs pos="100000">
                <a:srgbClr val="B3C8DF"/>
              </a:gs>
            </a:gsLst>
            <a:path path="shape">
              <a:fillToRect l="50000" t="50000" r="50000" b="50000"/>
            </a:path>
          </a:gradFill>
          <a:ln w="9525" algn="ctr">
            <a:noFill/>
            <a:round/>
            <a:headEnd/>
            <a:tailEnd/>
          </a:ln>
          <a:effectLst>
            <a:outerShdw dist="35921" dir="2700000" algn="ctr" rotWithShape="0">
              <a:srgbClr val="ADADAD"/>
            </a:outerShdw>
          </a:effectLst>
        </p:spPr>
        <p:txBody>
          <a:bodyPr wrap="none" anchor="ctr"/>
          <a:lstStyle/>
          <a:p>
            <a:pPr>
              <a:defRPr/>
            </a:pPr>
            <a:endParaRPr lang="en-US" sz="1600">
              <a:latin typeface="Arial" charset="0"/>
            </a:endParaRPr>
          </a:p>
        </p:txBody>
      </p:sp>
      <p:sp>
        <p:nvSpPr>
          <p:cNvPr id="6" name="AutoShape 4"/>
          <p:cNvSpPr>
            <a:spLocks noChangeArrowheads="1"/>
          </p:cNvSpPr>
          <p:nvPr/>
        </p:nvSpPr>
        <p:spPr bwMode="auto">
          <a:xfrm>
            <a:off x="1335088" y="2568575"/>
            <a:ext cx="1562100" cy="635000"/>
          </a:xfrm>
          <a:prstGeom prst="roundRect">
            <a:avLst>
              <a:gd name="adj" fmla="val 6329"/>
            </a:avLst>
          </a:prstGeom>
          <a:gradFill rotWithShape="1">
            <a:gsLst>
              <a:gs pos="0">
                <a:srgbClr val="ADE2A1"/>
              </a:gs>
              <a:gs pos="100000">
                <a:srgbClr val="E8F6E4"/>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a:defRPr/>
            </a:pPr>
            <a:r>
              <a:rPr lang="en-US" sz="1600"/>
              <a:t>Where’s ServerA?</a:t>
            </a:r>
          </a:p>
        </p:txBody>
      </p:sp>
      <p:sp>
        <p:nvSpPr>
          <p:cNvPr id="7" name="Oval 5"/>
          <p:cNvSpPr>
            <a:spLocks noChangeArrowheads="1"/>
          </p:cNvSpPr>
          <p:nvPr/>
        </p:nvSpPr>
        <p:spPr bwMode="auto">
          <a:xfrm>
            <a:off x="5629275" y="4252913"/>
            <a:ext cx="2101850" cy="1149350"/>
          </a:xfrm>
          <a:prstGeom prst="ellipse">
            <a:avLst/>
          </a:prstGeom>
          <a:gradFill rotWithShape="1">
            <a:gsLst>
              <a:gs pos="0">
                <a:srgbClr val="F0F1FF"/>
              </a:gs>
              <a:gs pos="100000">
                <a:srgbClr val="B3C8DF"/>
              </a:gs>
            </a:gsLst>
            <a:path path="shape">
              <a:fillToRect l="50000" t="50000" r="50000" b="50000"/>
            </a:path>
          </a:gradFill>
          <a:ln w="9525" algn="ctr">
            <a:noFill/>
            <a:round/>
            <a:headEnd/>
            <a:tailEnd/>
          </a:ln>
          <a:effectLst>
            <a:outerShdw dist="35921" dir="2700000" algn="ctr" rotWithShape="0">
              <a:srgbClr val="ADADAD"/>
            </a:outerShdw>
          </a:effectLst>
        </p:spPr>
        <p:txBody>
          <a:bodyPr wrap="none" anchor="ctr"/>
          <a:lstStyle/>
          <a:p>
            <a:pPr>
              <a:defRPr/>
            </a:pPr>
            <a:endParaRPr lang="en-US" sz="1600">
              <a:latin typeface="Arial" charset="0"/>
            </a:endParaRPr>
          </a:p>
        </p:txBody>
      </p:sp>
      <p:pic>
        <p:nvPicPr>
          <p:cNvPr id="8" name="Picture 6" descr="Internet01"/>
          <p:cNvPicPr>
            <a:picLocks noChangeAspect="1" noChangeArrowheads="1"/>
          </p:cNvPicPr>
          <p:nvPr/>
        </p:nvPicPr>
        <p:blipFill>
          <a:blip r:embed="rId2"/>
          <a:srcRect/>
          <a:stretch>
            <a:fillRect/>
          </a:stretch>
        </p:blipFill>
        <p:spPr bwMode="auto">
          <a:xfrm>
            <a:off x="6165850" y="1349375"/>
            <a:ext cx="1531938" cy="1528763"/>
          </a:xfrm>
          <a:prstGeom prst="rect">
            <a:avLst/>
          </a:prstGeom>
          <a:noFill/>
          <a:ln w="9525">
            <a:noFill/>
            <a:miter lim="800000"/>
            <a:headEnd/>
            <a:tailEnd/>
          </a:ln>
        </p:spPr>
      </p:pic>
      <p:sp>
        <p:nvSpPr>
          <p:cNvPr id="9" name="Arc 7"/>
          <p:cNvSpPr>
            <a:spLocks/>
          </p:cNvSpPr>
          <p:nvPr/>
        </p:nvSpPr>
        <p:spPr bwMode="auto">
          <a:xfrm>
            <a:off x="5651500" y="3768725"/>
            <a:ext cx="1284288" cy="947738"/>
          </a:xfrm>
          <a:custGeom>
            <a:avLst/>
            <a:gdLst>
              <a:gd name="T0" fmla="*/ 1284288 w 15563"/>
              <a:gd name="T1" fmla="*/ 734335 h 19332"/>
              <a:gd name="T2" fmla="*/ 795016 w 15563"/>
              <a:gd name="T3" fmla="*/ 947738 h 19332"/>
              <a:gd name="T4" fmla="*/ 0 w 15563"/>
              <a:gd name="T5" fmla="*/ 0 h 19332"/>
              <a:gd name="T6" fmla="*/ 0 60000 65536"/>
              <a:gd name="T7" fmla="*/ 0 60000 65536"/>
              <a:gd name="T8" fmla="*/ 0 60000 65536"/>
              <a:gd name="T9" fmla="*/ 0 w 15563"/>
              <a:gd name="T10" fmla="*/ 0 h 19332"/>
              <a:gd name="T11" fmla="*/ 15563 w 15563"/>
              <a:gd name="T12" fmla="*/ 19332 h 19332"/>
            </a:gdLst>
            <a:ahLst/>
            <a:cxnLst>
              <a:cxn ang="T6">
                <a:pos x="T0" y="T1"/>
              </a:cxn>
              <a:cxn ang="T7">
                <a:pos x="T2" y="T3"/>
              </a:cxn>
              <a:cxn ang="T8">
                <a:pos x="T4" y="T5"/>
              </a:cxn>
            </a:cxnLst>
            <a:rect l="T9" t="T10" r="T11" b="T12"/>
            <a:pathLst>
              <a:path w="15563" h="19332" fill="none" extrusionOk="0">
                <a:moveTo>
                  <a:pt x="15562" y="14978"/>
                </a:moveTo>
                <a:cubicBezTo>
                  <a:pt x="13849" y="16758"/>
                  <a:pt x="11844" y="18230"/>
                  <a:pt x="9634" y="19332"/>
                </a:cubicBezTo>
              </a:path>
              <a:path w="15563" h="19332" stroke="0" extrusionOk="0">
                <a:moveTo>
                  <a:pt x="15562" y="14978"/>
                </a:moveTo>
                <a:cubicBezTo>
                  <a:pt x="13849" y="16758"/>
                  <a:pt x="11844" y="18230"/>
                  <a:pt x="9634" y="19332"/>
                </a:cubicBezTo>
                <a:lnTo>
                  <a:pt x="0" y="0"/>
                </a:lnTo>
                <a:close/>
              </a:path>
            </a:pathLst>
          </a:custGeom>
          <a:noFill/>
          <a:ln w="50800">
            <a:solidFill>
              <a:srgbClr val="CC0000"/>
            </a:solidFill>
            <a:round/>
            <a:headEnd/>
            <a:tailEnd type="triangle" w="med" len="med"/>
          </a:ln>
        </p:spPr>
        <p:txBody>
          <a:bodyPr anchor="ctr"/>
          <a:lstStyle/>
          <a:p>
            <a:endParaRPr lang="en-US" sz="1600"/>
          </a:p>
        </p:txBody>
      </p:sp>
      <p:pic>
        <p:nvPicPr>
          <p:cNvPr id="10" name="Picture 8" descr="Server01"/>
          <p:cNvPicPr>
            <a:picLocks noChangeAspect="1" noChangeArrowheads="1"/>
          </p:cNvPicPr>
          <p:nvPr/>
        </p:nvPicPr>
        <p:blipFill>
          <a:blip r:embed="rId3">
            <a:grayscl/>
          </a:blip>
          <a:srcRect/>
          <a:stretch>
            <a:fillRect/>
          </a:stretch>
        </p:blipFill>
        <p:spPr bwMode="auto">
          <a:xfrm>
            <a:off x="5514975" y="1916113"/>
            <a:ext cx="884238" cy="1039812"/>
          </a:xfrm>
          <a:prstGeom prst="rect">
            <a:avLst/>
          </a:prstGeom>
          <a:noFill/>
          <a:ln w="9525">
            <a:noFill/>
            <a:miter lim="800000"/>
            <a:headEnd/>
            <a:tailEnd/>
          </a:ln>
        </p:spPr>
      </p:pic>
      <p:pic>
        <p:nvPicPr>
          <p:cNvPr id="11" name="Picture 9" descr="Server01"/>
          <p:cNvPicPr>
            <a:picLocks noChangeAspect="1" noChangeArrowheads="1"/>
          </p:cNvPicPr>
          <p:nvPr/>
        </p:nvPicPr>
        <p:blipFill>
          <a:blip r:embed="rId3">
            <a:grayscl/>
          </a:blip>
          <a:srcRect/>
          <a:stretch>
            <a:fillRect/>
          </a:stretch>
        </p:blipFill>
        <p:spPr bwMode="auto">
          <a:xfrm>
            <a:off x="6959600" y="2635250"/>
            <a:ext cx="884238" cy="1039813"/>
          </a:xfrm>
          <a:prstGeom prst="rect">
            <a:avLst/>
          </a:prstGeom>
          <a:noFill/>
          <a:ln w="9525">
            <a:noFill/>
            <a:miter lim="800000"/>
            <a:headEnd/>
            <a:tailEnd/>
          </a:ln>
        </p:spPr>
      </p:pic>
      <p:pic>
        <p:nvPicPr>
          <p:cNvPr id="12" name="Picture 10" descr="Server01"/>
          <p:cNvPicPr>
            <a:picLocks noChangeAspect="1" noChangeArrowheads="1"/>
          </p:cNvPicPr>
          <p:nvPr/>
        </p:nvPicPr>
        <p:blipFill>
          <a:blip r:embed="rId3">
            <a:grayscl/>
          </a:blip>
          <a:srcRect/>
          <a:stretch>
            <a:fillRect/>
          </a:stretch>
        </p:blipFill>
        <p:spPr bwMode="auto">
          <a:xfrm>
            <a:off x="5621338" y="4352925"/>
            <a:ext cx="884237" cy="1039813"/>
          </a:xfrm>
          <a:prstGeom prst="rect">
            <a:avLst/>
          </a:prstGeom>
          <a:noFill/>
          <a:ln w="9525">
            <a:noFill/>
            <a:miter lim="800000"/>
            <a:headEnd/>
            <a:tailEnd/>
          </a:ln>
        </p:spPr>
      </p:pic>
      <p:pic>
        <p:nvPicPr>
          <p:cNvPr id="13" name="Picture 11" descr="Server01"/>
          <p:cNvPicPr>
            <a:picLocks noChangeAspect="1" noChangeArrowheads="1"/>
          </p:cNvPicPr>
          <p:nvPr/>
        </p:nvPicPr>
        <p:blipFill>
          <a:blip r:embed="rId3">
            <a:grayscl/>
          </a:blip>
          <a:srcRect/>
          <a:stretch>
            <a:fillRect/>
          </a:stretch>
        </p:blipFill>
        <p:spPr bwMode="auto">
          <a:xfrm>
            <a:off x="3511550" y="2632075"/>
            <a:ext cx="884238" cy="1039813"/>
          </a:xfrm>
          <a:prstGeom prst="rect">
            <a:avLst/>
          </a:prstGeom>
          <a:noFill/>
          <a:ln w="9525">
            <a:noFill/>
            <a:miter lim="800000"/>
            <a:headEnd/>
            <a:tailEnd/>
          </a:ln>
        </p:spPr>
      </p:pic>
      <p:pic>
        <p:nvPicPr>
          <p:cNvPr id="14" name="Picture 13" descr="Computer_DesktopComputerSansKeyboard01"/>
          <p:cNvPicPr>
            <a:picLocks noChangeAspect="1" noChangeArrowheads="1"/>
          </p:cNvPicPr>
          <p:nvPr/>
        </p:nvPicPr>
        <p:blipFill>
          <a:blip r:embed="rId4" cstate="print"/>
          <a:srcRect/>
          <a:stretch>
            <a:fillRect/>
          </a:stretch>
        </p:blipFill>
        <p:spPr bwMode="auto">
          <a:xfrm>
            <a:off x="2584450" y="4422775"/>
            <a:ext cx="760413" cy="925513"/>
          </a:xfrm>
          <a:prstGeom prst="rect">
            <a:avLst/>
          </a:prstGeom>
          <a:noFill/>
          <a:ln w="9525">
            <a:noFill/>
            <a:miter lim="800000"/>
            <a:headEnd/>
            <a:tailEnd/>
          </a:ln>
        </p:spPr>
      </p:pic>
      <p:pic>
        <p:nvPicPr>
          <p:cNvPr id="15" name="Picture 14" descr="Computer_DesktopComputerSansKeyboard01"/>
          <p:cNvPicPr>
            <a:picLocks noChangeAspect="1" noChangeArrowheads="1"/>
          </p:cNvPicPr>
          <p:nvPr/>
        </p:nvPicPr>
        <p:blipFill>
          <a:blip r:embed="rId4" cstate="print"/>
          <a:srcRect/>
          <a:stretch>
            <a:fillRect/>
          </a:stretch>
        </p:blipFill>
        <p:spPr bwMode="auto">
          <a:xfrm>
            <a:off x="1604963" y="3616325"/>
            <a:ext cx="760412" cy="925513"/>
          </a:xfrm>
          <a:prstGeom prst="rect">
            <a:avLst/>
          </a:prstGeom>
          <a:noFill/>
          <a:ln w="9525">
            <a:noFill/>
            <a:miter lim="800000"/>
            <a:headEnd/>
            <a:tailEnd/>
          </a:ln>
        </p:spPr>
      </p:pic>
      <p:sp>
        <p:nvSpPr>
          <p:cNvPr id="16" name="AutoShape 15"/>
          <p:cNvSpPr>
            <a:spLocks noChangeArrowheads="1"/>
          </p:cNvSpPr>
          <p:nvPr/>
        </p:nvSpPr>
        <p:spPr bwMode="auto">
          <a:xfrm>
            <a:off x="1060450" y="4503738"/>
            <a:ext cx="812800" cy="282575"/>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defRPr/>
            </a:pPr>
            <a:r>
              <a:rPr lang="en-US" sz="1600"/>
              <a:t>Client1</a:t>
            </a:r>
          </a:p>
        </p:txBody>
      </p:sp>
      <p:sp>
        <p:nvSpPr>
          <p:cNvPr id="17" name="AutoShape 16"/>
          <p:cNvSpPr>
            <a:spLocks noChangeArrowheads="1"/>
          </p:cNvSpPr>
          <p:nvPr/>
        </p:nvSpPr>
        <p:spPr bwMode="auto">
          <a:xfrm>
            <a:off x="1704975" y="5005388"/>
            <a:ext cx="812800" cy="282575"/>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defRPr/>
            </a:pPr>
            <a:r>
              <a:rPr lang="en-US" sz="1600"/>
              <a:t>Client2</a:t>
            </a:r>
          </a:p>
        </p:txBody>
      </p:sp>
      <p:sp>
        <p:nvSpPr>
          <p:cNvPr id="18" name="AutoShape 17"/>
          <p:cNvSpPr>
            <a:spLocks noChangeArrowheads="1"/>
          </p:cNvSpPr>
          <p:nvPr/>
        </p:nvSpPr>
        <p:spPr bwMode="auto">
          <a:xfrm>
            <a:off x="5233988" y="4127501"/>
            <a:ext cx="1014412" cy="215900"/>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defRPr/>
            </a:pPr>
            <a:r>
              <a:rPr lang="en-US" sz="1600"/>
              <a:t>ServerA</a:t>
            </a:r>
          </a:p>
        </p:txBody>
      </p:sp>
      <p:sp>
        <p:nvSpPr>
          <p:cNvPr id="19" name="Arc 18"/>
          <p:cNvSpPr>
            <a:spLocks/>
          </p:cNvSpPr>
          <p:nvPr/>
        </p:nvSpPr>
        <p:spPr bwMode="auto">
          <a:xfrm>
            <a:off x="4533900" y="2909888"/>
            <a:ext cx="1133475" cy="882650"/>
          </a:xfrm>
          <a:custGeom>
            <a:avLst/>
            <a:gdLst>
              <a:gd name="T0" fmla="*/ 0 w 15285"/>
              <a:gd name="T1" fmla="*/ 243219 h 21600"/>
              <a:gd name="T2" fmla="*/ 1133475 w 15285"/>
              <a:gd name="T3" fmla="*/ 163 h 21600"/>
              <a:gd name="T4" fmla="*/ 1104109 w 15285"/>
              <a:gd name="T5" fmla="*/ 882650 h 21600"/>
              <a:gd name="T6" fmla="*/ 0 60000 65536"/>
              <a:gd name="T7" fmla="*/ 0 60000 65536"/>
              <a:gd name="T8" fmla="*/ 0 60000 65536"/>
              <a:gd name="T9" fmla="*/ 0 w 15285"/>
              <a:gd name="T10" fmla="*/ 0 h 21600"/>
              <a:gd name="T11" fmla="*/ 15285 w 15285"/>
              <a:gd name="T12" fmla="*/ 21600 h 21600"/>
            </a:gdLst>
            <a:ahLst/>
            <a:cxnLst>
              <a:cxn ang="T6">
                <a:pos x="T0" y="T1"/>
              </a:cxn>
              <a:cxn ang="T7">
                <a:pos x="T2" y="T3"/>
              </a:cxn>
              <a:cxn ang="T8">
                <a:pos x="T4" y="T5"/>
              </a:cxn>
            </a:cxnLst>
            <a:rect l="T9" t="T10" r="T11" b="T12"/>
            <a:pathLst>
              <a:path w="15285" h="21600" fill="none" extrusionOk="0">
                <a:moveTo>
                  <a:pt x="-1" y="5951"/>
                </a:moveTo>
                <a:cubicBezTo>
                  <a:pt x="4015" y="2130"/>
                  <a:pt x="9346" y="-1"/>
                  <a:pt x="14889" y="0"/>
                </a:cubicBezTo>
                <a:cubicBezTo>
                  <a:pt x="15021" y="0"/>
                  <a:pt x="15153" y="1"/>
                  <a:pt x="15285" y="3"/>
                </a:cubicBezTo>
              </a:path>
              <a:path w="15285" h="21600" stroke="0" extrusionOk="0">
                <a:moveTo>
                  <a:pt x="-1" y="5951"/>
                </a:moveTo>
                <a:cubicBezTo>
                  <a:pt x="4015" y="2130"/>
                  <a:pt x="9346" y="-1"/>
                  <a:pt x="14889" y="0"/>
                </a:cubicBezTo>
                <a:cubicBezTo>
                  <a:pt x="15021" y="0"/>
                  <a:pt x="15153" y="1"/>
                  <a:pt x="15285" y="3"/>
                </a:cubicBezTo>
                <a:lnTo>
                  <a:pt x="14889" y="21600"/>
                </a:lnTo>
                <a:close/>
              </a:path>
            </a:pathLst>
          </a:custGeom>
          <a:noFill/>
          <a:ln w="50800">
            <a:solidFill>
              <a:srgbClr val="CC0000"/>
            </a:solidFill>
            <a:round/>
            <a:headEnd type="triangle" w="med" len="med"/>
            <a:tailEnd/>
          </a:ln>
        </p:spPr>
        <p:txBody>
          <a:bodyPr anchor="ctr"/>
          <a:lstStyle/>
          <a:p>
            <a:endParaRPr lang="en-US" sz="1600"/>
          </a:p>
        </p:txBody>
      </p:sp>
      <p:sp>
        <p:nvSpPr>
          <p:cNvPr id="20" name="Arc 19"/>
          <p:cNvSpPr>
            <a:spLocks/>
          </p:cNvSpPr>
          <p:nvPr/>
        </p:nvSpPr>
        <p:spPr bwMode="auto">
          <a:xfrm>
            <a:off x="5621338" y="3697288"/>
            <a:ext cx="1782762" cy="479425"/>
          </a:xfrm>
          <a:custGeom>
            <a:avLst/>
            <a:gdLst>
              <a:gd name="T0" fmla="*/ 1773931 w 21600"/>
              <a:gd name="T1" fmla="*/ 0 h 9780"/>
              <a:gd name="T2" fmla="*/ 1667873 w 21600"/>
              <a:gd name="T3" fmla="*/ 479425 h 9780"/>
              <a:gd name="T4" fmla="*/ 0 w 21600"/>
              <a:gd name="T5" fmla="*/ 105444 h 9780"/>
              <a:gd name="T6" fmla="*/ 0 60000 65536"/>
              <a:gd name="T7" fmla="*/ 0 60000 65536"/>
              <a:gd name="T8" fmla="*/ 0 60000 65536"/>
              <a:gd name="T9" fmla="*/ 0 w 21600"/>
              <a:gd name="T10" fmla="*/ 0 h 9780"/>
              <a:gd name="T11" fmla="*/ 21600 w 21600"/>
              <a:gd name="T12" fmla="*/ 9780 h 9780"/>
            </a:gdLst>
            <a:ahLst/>
            <a:cxnLst>
              <a:cxn ang="T6">
                <a:pos x="T0" y="T1"/>
              </a:cxn>
              <a:cxn ang="T7">
                <a:pos x="T2" y="T3"/>
              </a:cxn>
              <a:cxn ang="T8">
                <a:pos x="T4" y="T5"/>
              </a:cxn>
            </a:cxnLst>
            <a:rect l="T9" t="T10" r="T11" b="T12"/>
            <a:pathLst>
              <a:path w="21600" h="9780" fill="none" extrusionOk="0">
                <a:moveTo>
                  <a:pt x="21492" y="0"/>
                </a:moveTo>
                <a:cubicBezTo>
                  <a:pt x="21564" y="714"/>
                  <a:pt x="21600" y="1432"/>
                  <a:pt x="21600" y="2151"/>
                </a:cubicBezTo>
                <a:cubicBezTo>
                  <a:pt x="21600" y="4757"/>
                  <a:pt x="21128" y="7341"/>
                  <a:pt x="20207" y="9779"/>
                </a:cubicBezTo>
              </a:path>
              <a:path w="21600" h="9780" stroke="0" extrusionOk="0">
                <a:moveTo>
                  <a:pt x="21492" y="0"/>
                </a:moveTo>
                <a:cubicBezTo>
                  <a:pt x="21564" y="714"/>
                  <a:pt x="21600" y="1432"/>
                  <a:pt x="21600" y="2151"/>
                </a:cubicBezTo>
                <a:cubicBezTo>
                  <a:pt x="21600" y="4757"/>
                  <a:pt x="21128" y="7341"/>
                  <a:pt x="20207" y="9779"/>
                </a:cubicBezTo>
                <a:lnTo>
                  <a:pt x="0" y="2151"/>
                </a:lnTo>
                <a:close/>
              </a:path>
            </a:pathLst>
          </a:custGeom>
          <a:noFill/>
          <a:ln w="50800">
            <a:solidFill>
              <a:srgbClr val="CC0000"/>
            </a:solidFill>
            <a:round/>
            <a:headEnd/>
            <a:tailEnd type="triangle" w="med" len="med"/>
          </a:ln>
        </p:spPr>
        <p:txBody>
          <a:bodyPr anchor="ctr"/>
          <a:lstStyle/>
          <a:p>
            <a:endParaRPr lang="en-US" sz="1600"/>
          </a:p>
        </p:txBody>
      </p:sp>
      <p:sp>
        <p:nvSpPr>
          <p:cNvPr id="21" name="Arc 20"/>
          <p:cNvSpPr>
            <a:spLocks/>
          </p:cNvSpPr>
          <p:nvPr/>
        </p:nvSpPr>
        <p:spPr bwMode="auto">
          <a:xfrm>
            <a:off x="5595938" y="2819400"/>
            <a:ext cx="1331912" cy="982663"/>
          </a:xfrm>
          <a:custGeom>
            <a:avLst/>
            <a:gdLst>
              <a:gd name="T0" fmla="*/ 656383 w 16140"/>
              <a:gd name="T1" fmla="*/ 0 h 20082"/>
              <a:gd name="T2" fmla="*/ 1331912 w 16140"/>
              <a:gd name="T3" fmla="*/ 280237 h 20082"/>
              <a:gd name="T4" fmla="*/ 0 w 16140"/>
              <a:gd name="T5" fmla="*/ 982663 h 20082"/>
              <a:gd name="T6" fmla="*/ 0 60000 65536"/>
              <a:gd name="T7" fmla="*/ 0 60000 65536"/>
              <a:gd name="T8" fmla="*/ 0 60000 65536"/>
              <a:gd name="T9" fmla="*/ 0 w 16140"/>
              <a:gd name="T10" fmla="*/ 0 h 20082"/>
              <a:gd name="T11" fmla="*/ 16140 w 16140"/>
              <a:gd name="T12" fmla="*/ 20082 h 20082"/>
            </a:gdLst>
            <a:ahLst/>
            <a:cxnLst>
              <a:cxn ang="T6">
                <a:pos x="T0" y="T1"/>
              </a:cxn>
              <a:cxn ang="T7">
                <a:pos x="T2" y="T3"/>
              </a:cxn>
              <a:cxn ang="T8">
                <a:pos x="T4" y="T5"/>
              </a:cxn>
            </a:cxnLst>
            <a:rect l="T9" t="T10" r="T11" b="T12"/>
            <a:pathLst>
              <a:path w="16140" h="20082" fill="none" extrusionOk="0">
                <a:moveTo>
                  <a:pt x="7954" y="-1"/>
                </a:moveTo>
                <a:cubicBezTo>
                  <a:pt x="11092" y="1243"/>
                  <a:pt x="13896" y="3204"/>
                  <a:pt x="16139" y="5727"/>
                </a:cubicBezTo>
              </a:path>
              <a:path w="16140" h="20082" stroke="0" extrusionOk="0">
                <a:moveTo>
                  <a:pt x="7954" y="-1"/>
                </a:moveTo>
                <a:cubicBezTo>
                  <a:pt x="11092" y="1243"/>
                  <a:pt x="13896" y="3204"/>
                  <a:pt x="16139" y="5727"/>
                </a:cubicBezTo>
                <a:lnTo>
                  <a:pt x="0" y="20082"/>
                </a:lnTo>
                <a:close/>
              </a:path>
            </a:pathLst>
          </a:custGeom>
          <a:noFill/>
          <a:ln w="50800">
            <a:solidFill>
              <a:srgbClr val="CC0000"/>
            </a:solidFill>
            <a:round/>
            <a:headEnd/>
            <a:tailEnd type="triangle" w="med" len="med"/>
          </a:ln>
        </p:spPr>
        <p:txBody>
          <a:bodyPr anchor="ctr"/>
          <a:lstStyle/>
          <a:p>
            <a:endParaRPr lang="en-US" sz="1600"/>
          </a:p>
        </p:txBody>
      </p:sp>
      <p:sp>
        <p:nvSpPr>
          <p:cNvPr id="22" name="Arc 21"/>
          <p:cNvSpPr>
            <a:spLocks/>
          </p:cNvSpPr>
          <p:nvPr/>
        </p:nvSpPr>
        <p:spPr bwMode="auto">
          <a:xfrm>
            <a:off x="4475163" y="2746375"/>
            <a:ext cx="1122362" cy="1055688"/>
          </a:xfrm>
          <a:custGeom>
            <a:avLst/>
            <a:gdLst>
              <a:gd name="T0" fmla="*/ 0 w 13606"/>
              <a:gd name="T1" fmla="*/ 233601 h 21543"/>
              <a:gd name="T2" fmla="*/ 992770 w 13606"/>
              <a:gd name="T3" fmla="*/ 0 h 21543"/>
              <a:gd name="T4" fmla="*/ 1122362 w 13606"/>
              <a:gd name="T5" fmla="*/ 1055688 h 21543"/>
              <a:gd name="T6" fmla="*/ 0 60000 65536"/>
              <a:gd name="T7" fmla="*/ 0 60000 65536"/>
              <a:gd name="T8" fmla="*/ 0 60000 65536"/>
              <a:gd name="T9" fmla="*/ 0 w 13606"/>
              <a:gd name="T10" fmla="*/ 0 h 21543"/>
              <a:gd name="T11" fmla="*/ 13606 w 13606"/>
              <a:gd name="T12" fmla="*/ 21543 h 21543"/>
            </a:gdLst>
            <a:ahLst/>
            <a:cxnLst>
              <a:cxn ang="T6">
                <a:pos x="T0" y="T1"/>
              </a:cxn>
              <a:cxn ang="T7">
                <a:pos x="T2" y="T3"/>
              </a:cxn>
              <a:cxn ang="T8">
                <a:pos x="T4" y="T5"/>
              </a:cxn>
            </a:cxnLst>
            <a:rect l="T9" t="T10" r="T11" b="T12"/>
            <a:pathLst>
              <a:path w="13606" h="21543" fill="none" extrusionOk="0">
                <a:moveTo>
                  <a:pt x="-1" y="4766"/>
                </a:moveTo>
                <a:cubicBezTo>
                  <a:pt x="3430" y="1985"/>
                  <a:pt x="7630" y="321"/>
                  <a:pt x="12035" y="0"/>
                </a:cubicBezTo>
              </a:path>
              <a:path w="13606" h="21543" stroke="0" extrusionOk="0">
                <a:moveTo>
                  <a:pt x="-1" y="4766"/>
                </a:moveTo>
                <a:cubicBezTo>
                  <a:pt x="3430" y="1985"/>
                  <a:pt x="7630" y="321"/>
                  <a:pt x="12035" y="0"/>
                </a:cubicBezTo>
                <a:lnTo>
                  <a:pt x="13606" y="21543"/>
                </a:lnTo>
                <a:close/>
              </a:path>
            </a:pathLst>
          </a:custGeom>
          <a:noFill/>
          <a:ln w="50800">
            <a:solidFill>
              <a:srgbClr val="CC0000"/>
            </a:solidFill>
            <a:round/>
            <a:headEnd/>
            <a:tailEnd type="triangle" w="med" len="med"/>
          </a:ln>
        </p:spPr>
        <p:txBody>
          <a:bodyPr anchor="ctr"/>
          <a:lstStyle/>
          <a:p>
            <a:endParaRPr lang="en-US" sz="1600"/>
          </a:p>
        </p:txBody>
      </p:sp>
      <p:sp>
        <p:nvSpPr>
          <p:cNvPr id="23" name="Arc 22"/>
          <p:cNvSpPr>
            <a:spLocks/>
          </p:cNvSpPr>
          <p:nvPr/>
        </p:nvSpPr>
        <p:spPr bwMode="auto">
          <a:xfrm>
            <a:off x="5637213" y="2954338"/>
            <a:ext cx="1247775" cy="838200"/>
          </a:xfrm>
          <a:custGeom>
            <a:avLst/>
            <a:gdLst>
              <a:gd name="T0" fmla="*/ 497924 w 16830"/>
              <a:gd name="T1" fmla="*/ 0 h 20529"/>
              <a:gd name="T2" fmla="*/ 1247775 w 16830"/>
              <a:gd name="T3" fmla="*/ 285402 h 20529"/>
              <a:gd name="T4" fmla="*/ 0 w 16830"/>
              <a:gd name="T5" fmla="*/ 838200 h 20529"/>
              <a:gd name="T6" fmla="*/ 0 60000 65536"/>
              <a:gd name="T7" fmla="*/ 0 60000 65536"/>
              <a:gd name="T8" fmla="*/ 0 60000 65536"/>
              <a:gd name="T9" fmla="*/ 0 w 16830"/>
              <a:gd name="T10" fmla="*/ 0 h 20529"/>
              <a:gd name="T11" fmla="*/ 16830 w 16830"/>
              <a:gd name="T12" fmla="*/ 20529 h 20529"/>
            </a:gdLst>
            <a:ahLst/>
            <a:cxnLst>
              <a:cxn ang="T6">
                <a:pos x="T0" y="T1"/>
              </a:cxn>
              <a:cxn ang="T7">
                <a:pos x="T2" y="T3"/>
              </a:cxn>
              <a:cxn ang="T8">
                <a:pos x="T4" y="T5"/>
              </a:cxn>
            </a:cxnLst>
            <a:rect l="T9" t="T10" r="T11" b="T12"/>
            <a:pathLst>
              <a:path w="16830" h="20529" fill="none" extrusionOk="0">
                <a:moveTo>
                  <a:pt x="6716" y="-1"/>
                </a:moveTo>
                <a:cubicBezTo>
                  <a:pt x="10693" y="1300"/>
                  <a:pt x="14207" y="3729"/>
                  <a:pt x="16830" y="6989"/>
                </a:cubicBezTo>
              </a:path>
              <a:path w="16830" h="20529" stroke="0" extrusionOk="0">
                <a:moveTo>
                  <a:pt x="6716" y="-1"/>
                </a:moveTo>
                <a:cubicBezTo>
                  <a:pt x="10693" y="1300"/>
                  <a:pt x="14207" y="3729"/>
                  <a:pt x="16830" y="6989"/>
                </a:cubicBezTo>
                <a:lnTo>
                  <a:pt x="0" y="20529"/>
                </a:lnTo>
                <a:close/>
              </a:path>
            </a:pathLst>
          </a:custGeom>
          <a:noFill/>
          <a:ln w="50800">
            <a:solidFill>
              <a:srgbClr val="CC0000"/>
            </a:solidFill>
            <a:round/>
            <a:headEnd type="triangle" w="med" len="med"/>
            <a:tailEnd/>
          </a:ln>
        </p:spPr>
        <p:txBody>
          <a:bodyPr anchor="ctr"/>
          <a:lstStyle/>
          <a:p>
            <a:endParaRPr lang="en-US" sz="1600"/>
          </a:p>
        </p:txBody>
      </p:sp>
      <p:sp>
        <p:nvSpPr>
          <p:cNvPr id="24" name="Arc 23"/>
          <p:cNvSpPr>
            <a:spLocks/>
          </p:cNvSpPr>
          <p:nvPr/>
        </p:nvSpPr>
        <p:spPr bwMode="auto">
          <a:xfrm>
            <a:off x="5648325" y="3627438"/>
            <a:ext cx="1601788" cy="620712"/>
          </a:xfrm>
          <a:custGeom>
            <a:avLst/>
            <a:gdLst>
              <a:gd name="T0" fmla="*/ 1567898 w 21600"/>
              <a:gd name="T1" fmla="*/ 0 h 15183"/>
              <a:gd name="T2" fmla="*/ 1388735 w 21600"/>
              <a:gd name="T3" fmla="*/ 620712 h 15183"/>
              <a:gd name="T4" fmla="*/ 0 w 21600"/>
              <a:gd name="T5" fmla="*/ 180699 h 15183"/>
              <a:gd name="T6" fmla="*/ 0 60000 65536"/>
              <a:gd name="T7" fmla="*/ 0 60000 65536"/>
              <a:gd name="T8" fmla="*/ 0 60000 65536"/>
              <a:gd name="T9" fmla="*/ 0 w 21600"/>
              <a:gd name="T10" fmla="*/ 0 h 15183"/>
              <a:gd name="T11" fmla="*/ 21600 w 21600"/>
              <a:gd name="T12" fmla="*/ 15183 h 15183"/>
            </a:gdLst>
            <a:ahLst/>
            <a:cxnLst>
              <a:cxn ang="T6">
                <a:pos x="T0" y="T1"/>
              </a:cxn>
              <a:cxn ang="T7">
                <a:pos x="T2" y="T3"/>
              </a:cxn>
              <a:cxn ang="T8">
                <a:pos x="T4" y="T5"/>
              </a:cxn>
            </a:cxnLst>
            <a:rect l="T9" t="T10" r="T11" b="T12"/>
            <a:pathLst>
              <a:path w="21600" h="15183" fill="none" extrusionOk="0">
                <a:moveTo>
                  <a:pt x="21142" y="0"/>
                </a:moveTo>
                <a:cubicBezTo>
                  <a:pt x="21446" y="1453"/>
                  <a:pt x="21600" y="2934"/>
                  <a:pt x="21600" y="4420"/>
                </a:cubicBezTo>
                <a:cubicBezTo>
                  <a:pt x="21600" y="8197"/>
                  <a:pt x="20609" y="11908"/>
                  <a:pt x="18727" y="15183"/>
                </a:cubicBezTo>
              </a:path>
              <a:path w="21600" h="15183" stroke="0" extrusionOk="0">
                <a:moveTo>
                  <a:pt x="21142" y="0"/>
                </a:moveTo>
                <a:cubicBezTo>
                  <a:pt x="21446" y="1453"/>
                  <a:pt x="21600" y="2934"/>
                  <a:pt x="21600" y="4420"/>
                </a:cubicBezTo>
                <a:cubicBezTo>
                  <a:pt x="21600" y="8197"/>
                  <a:pt x="20609" y="11908"/>
                  <a:pt x="18727" y="15183"/>
                </a:cubicBezTo>
                <a:lnTo>
                  <a:pt x="0" y="4420"/>
                </a:lnTo>
                <a:close/>
              </a:path>
            </a:pathLst>
          </a:custGeom>
          <a:noFill/>
          <a:ln w="50800">
            <a:solidFill>
              <a:srgbClr val="CC0000"/>
            </a:solidFill>
            <a:round/>
            <a:headEnd type="triangle" w="med" len="med"/>
            <a:tailEnd/>
          </a:ln>
        </p:spPr>
        <p:txBody>
          <a:bodyPr anchor="ctr"/>
          <a:lstStyle/>
          <a:p>
            <a:endParaRPr lang="en-US" sz="1600"/>
          </a:p>
        </p:txBody>
      </p:sp>
      <p:sp>
        <p:nvSpPr>
          <p:cNvPr id="25" name="Arc 24"/>
          <p:cNvSpPr>
            <a:spLocks/>
          </p:cNvSpPr>
          <p:nvPr/>
        </p:nvSpPr>
        <p:spPr bwMode="auto">
          <a:xfrm>
            <a:off x="5692775" y="3760788"/>
            <a:ext cx="1189038" cy="773112"/>
          </a:xfrm>
          <a:custGeom>
            <a:avLst/>
            <a:gdLst>
              <a:gd name="T0" fmla="*/ 1189038 w 16040"/>
              <a:gd name="T1" fmla="*/ 591362 h 18912"/>
              <a:gd name="T2" fmla="*/ 773542 w 16040"/>
              <a:gd name="T3" fmla="*/ 773112 h 18912"/>
              <a:gd name="T4" fmla="*/ 0 w 16040"/>
              <a:gd name="T5" fmla="*/ 0 h 18912"/>
              <a:gd name="T6" fmla="*/ 0 60000 65536"/>
              <a:gd name="T7" fmla="*/ 0 60000 65536"/>
              <a:gd name="T8" fmla="*/ 0 60000 65536"/>
              <a:gd name="T9" fmla="*/ 0 w 16040"/>
              <a:gd name="T10" fmla="*/ 0 h 18912"/>
              <a:gd name="T11" fmla="*/ 16040 w 16040"/>
              <a:gd name="T12" fmla="*/ 18912 h 18912"/>
            </a:gdLst>
            <a:ahLst/>
            <a:cxnLst>
              <a:cxn ang="T6">
                <a:pos x="T0" y="T1"/>
              </a:cxn>
              <a:cxn ang="T7">
                <a:pos x="T2" y="T3"/>
              </a:cxn>
              <a:cxn ang="T8">
                <a:pos x="T4" y="T5"/>
              </a:cxn>
            </a:cxnLst>
            <a:rect l="T9" t="T10" r="T11" b="T12"/>
            <a:pathLst>
              <a:path w="16040" h="18912" fill="none" extrusionOk="0">
                <a:moveTo>
                  <a:pt x="16040" y="14466"/>
                </a:moveTo>
                <a:cubicBezTo>
                  <a:pt x="14431" y="16249"/>
                  <a:pt x="12537" y="17752"/>
                  <a:pt x="10435" y="18912"/>
                </a:cubicBezTo>
              </a:path>
              <a:path w="16040" h="18912" stroke="0" extrusionOk="0">
                <a:moveTo>
                  <a:pt x="16040" y="14466"/>
                </a:moveTo>
                <a:cubicBezTo>
                  <a:pt x="14431" y="16249"/>
                  <a:pt x="12537" y="17752"/>
                  <a:pt x="10435" y="18912"/>
                </a:cubicBezTo>
                <a:lnTo>
                  <a:pt x="0" y="0"/>
                </a:lnTo>
                <a:close/>
              </a:path>
            </a:pathLst>
          </a:custGeom>
          <a:noFill/>
          <a:ln w="50800">
            <a:solidFill>
              <a:srgbClr val="CC0000"/>
            </a:solidFill>
            <a:round/>
            <a:headEnd type="triangle" w="med" len="med"/>
            <a:tailEnd/>
          </a:ln>
        </p:spPr>
        <p:txBody>
          <a:bodyPr anchor="ctr"/>
          <a:lstStyle/>
          <a:p>
            <a:endParaRPr lang="en-US" sz="1600"/>
          </a:p>
        </p:txBody>
      </p:sp>
      <p:sp>
        <p:nvSpPr>
          <p:cNvPr id="26" name="AutoShape 25"/>
          <p:cNvSpPr>
            <a:spLocks noChangeArrowheads="1"/>
          </p:cNvSpPr>
          <p:nvPr/>
        </p:nvSpPr>
        <p:spPr bwMode="auto">
          <a:xfrm>
            <a:off x="1335088" y="2570163"/>
            <a:ext cx="1562100" cy="635000"/>
          </a:xfrm>
          <a:prstGeom prst="roundRect">
            <a:avLst>
              <a:gd name="adj" fmla="val 6329"/>
            </a:avLst>
          </a:prstGeom>
          <a:gradFill rotWithShape="1">
            <a:gsLst>
              <a:gs pos="0">
                <a:srgbClr val="EAABA0"/>
              </a:gs>
              <a:gs pos="100000">
                <a:srgbClr val="F6D9D4"/>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a:defRPr/>
            </a:pPr>
            <a:r>
              <a:rPr lang="en-US" sz="1600"/>
              <a:t>ServerA is at 192.168.8.44</a:t>
            </a:r>
          </a:p>
        </p:txBody>
      </p:sp>
      <p:sp>
        <p:nvSpPr>
          <p:cNvPr id="27" name="AutoShape 26"/>
          <p:cNvSpPr>
            <a:spLocks noChangeArrowheads="1"/>
          </p:cNvSpPr>
          <p:nvPr/>
        </p:nvSpPr>
        <p:spPr bwMode="auto">
          <a:xfrm>
            <a:off x="3522663" y="4719638"/>
            <a:ext cx="1562100" cy="635000"/>
          </a:xfrm>
          <a:prstGeom prst="roundRect">
            <a:avLst>
              <a:gd name="adj" fmla="val 6329"/>
            </a:avLst>
          </a:prstGeom>
          <a:gradFill rotWithShape="1">
            <a:gsLst>
              <a:gs pos="0">
                <a:srgbClr val="ADE2A1"/>
              </a:gs>
              <a:gs pos="100000">
                <a:srgbClr val="E8F6E4"/>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a:defRPr/>
            </a:pPr>
            <a:r>
              <a:rPr lang="en-US" sz="1600"/>
              <a:t>Where’s ServerA?</a:t>
            </a:r>
          </a:p>
        </p:txBody>
      </p:sp>
      <p:sp>
        <p:nvSpPr>
          <p:cNvPr id="28" name="AutoShape 27"/>
          <p:cNvSpPr>
            <a:spLocks noChangeArrowheads="1"/>
          </p:cNvSpPr>
          <p:nvPr/>
        </p:nvSpPr>
        <p:spPr bwMode="auto">
          <a:xfrm>
            <a:off x="3533775" y="4716463"/>
            <a:ext cx="1562100" cy="635000"/>
          </a:xfrm>
          <a:prstGeom prst="roundRect">
            <a:avLst>
              <a:gd name="adj" fmla="val 6329"/>
            </a:avLst>
          </a:prstGeom>
          <a:gradFill rotWithShape="1">
            <a:gsLst>
              <a:gs pos="0">
                <a:srgbClr val="EAABA0"/>
              </a:gs>
              <a:gs pos="100000">
                <a:srgbClr val="F6D9D4"/>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a:defRPr/>
            </a:pPr>
            <a:r>
              <a:rPr lang="en-US" sz="1600"/>
              <a:t>ServerA is at 192.168.8.44</a:t>
            </a:r>
          </a:p>
        </p:txBody>
      </p:sp>
      <p:sp>
        <p:nvSpPr>
          <p:cNvPr id="29" name="Line 28"/>
          <p:cNvSpPr>
            <a:spLocks noChangeShapeType="1"/>
          </p:cNvSpPr>
          <p:nvPr/>
        </p:nvSpPr>
        <p:spPr bwMode="auto">
          <a:xfrm flipV="1">
            <a:off x="2422525" y="3338513"/>
            <a:ext cx="971550" cy="477837"/>
          </a:xfrm>
          <a:prstGeom prst="line">
            <a:avLst/>
          </a:prstGeom>
          <a:noFill/>
          <a:ln w="50800">
            <a:solidFill>
              <a:srgbClr val="CC0000"/>
            </a:solidFill>
            <a:round/>
            <a:headEnd/>
            <a:tailEnd type="triangle" w="med" len="med"/>
          </a:ln>
        </p:spPr>
        <p:txBody>
          <a:bodyPr anchor="ctr"/>
          <a:lstStyle/>
          <a:p>
            <a:endParaRPr lang="en-US" sz="1600"/>
          </a:p>
        </p:txBody>
      </p:sp>
      <p:sp>
        <p:nvSpPr>
          <p:cNvPr id="30" name="Line 29"/>
          <p:cNvSpPr>
            <a:spLocks noChangeShapeType="1"/>
          </p:cNvSpPr>
          <p:nvPr/>
        </p:nvSpPr>
        <p:spPr bwMode="auto">
          <a:xfrm flipH="1">
            <a:off x="2433638" y="3502025"/>
            <a:ext cx="998537" cy="493713"/>
          </a:xfrm>
          <a:prstGeom prst="line">
            <a:avLst/>
          </a:prstGeom>
          <a:noFill/>
          <a:ln w="50800">
            <a:solidFill>
              <a:srgbClr val="CC0000"/>
            </a:solidFill>
            <a:round/>
            <a:headEnd/>
            <a:tailEnd type="triangle" w="med" len="med"/>
          </a:ln>
        </p:spPr>
        <p:txBody>
          <a:bodyPr anchor="ctr"/>
          <a:lstStyle/>
          <a:p>
            <a:endParaRPr lang="en-US" sz="1600"/>
          </a:p>
        </p:txBody>
      </p:sp>
      <p:sp>
        <p:nvSpPr>
          <p:cNvPr id="31" name="Line 30"/>
          <p:cNvSpPr>
            <a:spLocks noChangeShapeType="1"/>
          </p:cNvSpPr>
          <p:nvPr/>
        </p:nvSpPr>
        <p:spPr bwMode="auto">
          <a:xfrm flipH="1">
            <a:off x="3278188" y="3760788"/>
            <a:ext cx="490537" cy="638175"/>
          </a:xfrm>
          <a:prstGeom prst="line">
            <a:avLst/>
          </a:prstGeom>
          <a:noFill/>
          <a:ln w="50800">
            <a:solidFill>
              <a:srgbClr val="CC0000"/>
            </a:solidFill>
            <a:round/>
            <a:headEnd/>
            <a:tailEnd type="triangle" w="med" len="med"/>
          </a:ln>
        </p:spPr>
        <p:txBody>
          <a:bodyPr anchor="ctr"/>
          <a:lstStyle/>
          <a:p>
            <a:endParaRPr lang="en-US" sz="1600"/>
          </a:p>
        </p:txBody>
      </p:sp>
      <p:sp>
        <p:nvSpPr>
          <p:cNvPr id="32" name="Line 31"/>
          <p:cNvSpPr>
            <a:spLocks noChangeShapeType="1"/>
          </p:cNvSpPr>
          <p:nvPr/>
        </p:nvSpPr>
        <p:spPr bwMode="auto">
          <a:xfrm flipV="1">
            <a:off x="3049588" y="3629025"/>
            <a:ext cx="593725" cy="739775"/>
          </a:xfrm>
          <a:prstGeom prst="line">
            <a:avLst/>
          </a:prstGeom>
          <a:noFill/>
          <a:ln w="50800">
            <a:solidFill>
              <a:srgbClr val="CC0000"/>
            </a:solidFill>
            <a:round/>
            <a:headEnd/>
            <a:tailEnd type="triangle" w="med" len="med"/>
          </a:ln>
        </p:spPr>
        <p:txBody>
          <a:bodyPr anchor="ctr"/>
          <a:lstStyle/>
          <a:p>
            <a:endParaRPr lang="en-US" sz="1600"/>
          </a:p>
        </p:txBody>
      </p:sp>
      <p:graphicFrame>
        <p:nvGraphicFramePr>
          <p:cNvPr id="33" name="Group 64"/>
          <p:cNvGraphicFramePr>
            <a:graphicFrameLocks noGrp="1"/>
          </p:cNvGraphicFramePr>
          <p:nvPr/>
        </p:nvGraphicFramePr>
        <p:xfrm>
          <a:off x="990600" y="1287463"/>
          <a:ext cx="4411663" cy="1022985"/>
        </p:xfrm>
        <a:graphic>
          <a:graphicData uri="http://schemas.openxmlformats.org/drawingml/2006/table">
            <a:tbl>
              <a:tblPr/>
              <a:tblGrid>
                <a:gridCol w="1944688">
                  <a:extLst>
                    <a:ext uri="{9D8B030D-6E8A-4147-A177-3AD203B41FA5}">
                      <a16:colId xmlns:a16="http://schemas.microsoft.com/office/drawing/2014/main" val="20000"/>
                    </a:ext>
                  </a:extLst>
                </a:gridCol>
                <a:gridCol w="1292225">
                  <a:extLst>
                    <a:ext uri="{9D8B030D-6E8A-4147-A177-3AD203B41FA5}">
                      <a16:colId xmlns:a16="http://schemas.microsoft.com/office/drawing/2014/main" val="20001"/>
                    </a:ext>
                  </a:extLst>
                </a:gridCol>
                <a:gridCol w="1174750">
                  <a:extLst>
                    <a:ext uri="{9D8B030D-6E8A-4147-A177-3AD203B41FA5}">
                      <a16:colId xmlns:a16="http://schemas.microsoft.com/office/drawing/2014/main" val="20002"/>
                    </a:ext>
                  </a:extLst>
                </a:gridCol>
              </a:tblGrid>
              <a:tr h="352425">
                <a:tc grid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Arial Narrow" pitchFamily="34" charset="0"/>
                        </a:rPr>
                        <a:t>DNS server cache</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B3C8D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270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Arial Narrow" pitchFamily="34" charset="0"/>
                        </a:rPr>
                        <a:t>Host name</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177800" marR="0" lvl="0" indent="-17780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sz="1600" b="0" i="0" u="none" strike="noStrike" cap="none" normalizeH="0" baseline="0" smtClean="0">
                          <a:ln>
                            <a:noFill/>
                          </a:ln>
                          <a:solidFill>
                            <a:schemeClr val="tx1"/>
                          </a:solidFill>
                          <a:effectLst/>
                          <a:latin typeface="Arial Narrow" pitchFamily="34" charset="0"/>
                        </a:rPr>
                        <a:t>IP address</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177800" marR="0" lvl="0" indent="-17780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sz="1600" b="0" i="0" u="none" strike="noStrike" cap="none" normalizeH="0" baseline="0" smtClean="0">
                          <a:ln>
                            <a:noFill/>
                          </a:ln>
                          <a:solidFill>
                            <a:schemeClr val="tx1"/>
                          </a:solidFill>
                          <a:effectLst/>
                          <a:latin typeface="Arial Narrow" pitchFamily="34" charset="0"/>
                        </a:rPr>
                        <a:t>TTL</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extLst>
                  <a:ext uri="{0D108BD9-81ED-4DB2-BD59-A6C34878D82A}">
                    <a16:rowId xmlns:a16="http://schemas.microsoft.com/office/drawing/2014/main" val="10001"/>
                  </a:ext>
                </a:extLst>
              </a:tr>
              <a:tr h="3016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Arial Narrow" pitchFamily="34" charset="0"/>
                        </a:rPr>
                        <a:t>ServerA.contoso.msft</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accent1"/>
                    </a:solidFill>
                  </a:tcPr>
                </a:tc>
                <a:tc>
                  <a:txBody>
                    <a:bodyPr/>
                    <a:lstStyle/>
                    <a:p>
                      <a:pPr marL="177800" marR="0" lvl="0" indent="-17780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sz="1600" b="1" i="0" u="none" strike="noStrike" cap="none" normalizeH="0" baseline="0" smtClean="0">
                          <a:ln>
                            <a:noFill/>
                          </a:ln>
                          <a:solidFill>
                            <a:schemeClr val="tx1"/>
                          </a:solidFill>
                          <a:effectLst/>
                          <a:latin typeface="Arial Narrow" pitchFamily="34" charset="0"/>
                        </a:rPr>
                        <a:t>192.168.8.44</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accent1"/>
                    </a:solidFill>
                  </a:tcPr>
                </a:tc>
                <a:tc>
                  <a:txBody>
                    <a:bodyPr/>
                    <a:lstStyle/>
                    <a:p>
                      <a:pPr marL="177800" marR="0" lvl="0" indent="-17780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sz="1600" b="1" i="0" u="none" strike="noStrike" cap="none" normalizeH="0" baseline="0" smtClean="0">
                          <a:ln>
                            <a:noFill/>
                          </a:ln>
                          <a:solidFill>
                            <a:schemeClr val="tx1"/>
                          </a:solidFill>
                          <a:effectLst/>
                          <a:latin typeface="Arial Narrow" pitchFamily="34" charset="0"/>
                        </a:rPr>
                        <a:t>28 seconds</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2"/>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9"/>
                                        </p:tgtEl>
                                        <p:attrNameLst>
                                          <p:attrName>style.visibility</p:attrName>
                                        </p:attrNameLst>
                                      </p:cBhvr>
                                      <p:to>
                                        <p:strVal val="visible"/>
                                      </p:to>
                                    </p:set>
                                    <p:animEffect transition="in" filter="wipe(left)">
                                      <p:cBhvr>
                                        <p:cTn id="11" dur="500"/>
                                        <p:tgtEl>
                                          <p:spTgt spid="29"/>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wipe(left)">
                                      <p:cBhvr>
                                        <p:cTn id="15" dur="500"/>
                                        <p:tgtEl>
                                          <p:spTgt spid="22"/>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wipe(left)">
                                      <p:cBhvr>
                                        <p:cTn id="19" dur="500"/>
                                        <p:tgtEl>
                                          <p:spTgt spid="21"/>
                                        </p:tgtEl>
                                      </p:cBhvr>
                                    </p:animEffect>
                                  </p:childTnLst>
                                </p:cTn>
                              </p:par>
                            </p:childTnLst>
                          </p:cTn>
                        </p:par>
                        <p:par>
                          <p:cTn id="20" fill="hold">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wipe(up)">
                                      <p:cBhvr>
                                        <p:cTn id="23" dur="500"/>
                                        <p:tgtEl>
                                          <p:spTgt spid="20"/>
                                        </p:tgtEl>
                                      </p:cBhvr>
                                    </p:animEffect>
                                  </p:childTnLst>
                                </p:cTn>
                              </p:par>
                            </p:childTnLst>
                          </p:cTn>
                        </p:par>
                        <p:par>
                          <p:cTn id="24" fill="hold">
                            <p:stCondLst>
                              <p:cond delay="2500"/>
                            </p:stCondLst>
                            <p:childTnLst>
                              <p:par>
                                <p:cTn id="25" presetID="22" presetClass="entr" presetSubtype="2" fill="hold" grpId="0" nodeType="after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right)">
                                      <p:cBhvr>
                                        <p:cTn id="27" dur="500"/>
                                        <p:tgtEl>
                                          <p:spTgt spid="9"/>
                                        </p:tgtEl>
                                      </p:cBhvr>
                                    </p:animEffect>
                                  </p:childTnLst>
                                </p:cTn>
                              </p:par>
                            </p:childTnLst>
                          </p:cTn>
                        </p:par>
                        <p:par>
                          <p:cTn id="28" fill="hold">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wipe(left)">
                                      <p:cBhvr>
                                        <p:cTn id="31" dur="500"/>
                                        <p:tgtEl>
                                          <p:spTgt spid="25"/>
                                        </p:tgtEl>
                                      </p:cBhvr>
                                    </p:animEffect>
                                  </p:childTnLst>
                                </p:cTn>
                              </p:par>
                            </p:childTnLst>
                          </p:cTn>
                        </p:par>
                        <p:par>
                          <p:cTn id="32" fill="hold">
                            <p:stCondLst>
                              <p:cond delay="3500"/>
                            </p:stCondLst>
                            <p:childTnLst>
                              <p:par>
                                <p:cTn id="33" presetID="22" presetClass="entr" presetSubtype="4" fill="hold" grpId="0" nodeType="after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wipe(down)">
                                      <p:cBhvr>
                                        <p:cTn id="35" dur="500"/>
                                        <p:tgtEl>
                                          <p:spTgt spid="24"/>
                                        </p:tgtEl>
                                      </p:cBhvr>
                                    </p:animEffect>
                                  </p:childTnLst>
                                </p:cTn>
                              </p:par>
                            </p:childTnLst>
                          </p:cTn>
                        </p:par>
                        <p:par>
                          <p:cTn id="36" fill="hold">
                            <p:stCondLst>
                              <p:cond delay="4000"/>
                            </p:stCondLst>
                            <p:childTnLst>
                              <p:par>
                                <p:cTn id="37" presetID="22" presetClass="entr" presetSubtype="2" fill="hold" grpId="0" nodeType="after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wipe(right)">
                                      <p:cBhvr>
                                        <p:cTn id="39" dur="500"/>
                                        <p:tgtEl>
                                          <p:spTgt spid="23"/>
                                        </p:tgtEl>
                                      </p:cBhvr>
                                    </p:animEffect>
                                  </p:childTnLst>
                                </p:cTn>
                              </p:par>
                            </p:childTnLst>
                          </p:cTn>
                        </p:par>
                        <p:par>
                          <p:cTn id="40" fill="hold">
                            <p:stCondLst>
                              <p:cond delay="4500"/>
                            </p:stCondLst>
                            <p:childTnLst>
                              <p:par>
                                <p:cTn id="41" presetID="22" presetClass="entr" presetSubtype="2" fill="hold" grpId="0" nodeType="after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wipe(right)">
                                      <p:cBhvr>
                                        <p:cTn id="43" dur="500"/>
                                        <p:tgtEl>
                                          <p:spTgt spid="19"/>
                                        </p:tgtEl>
                                      </p:cBhvr>
                                    </p:animEffect>
                                  </p:childTnLst>
                                </p:cTn>
                              </p:par>
                            </p:childTnLst>
                          </p:cTn>
                        </p:par>
                        <p:par>
                          <p:cTn id="44" fill="hold">
                            <p:stCondLst>
                              <p:cond delay="5000"/>
                            </p:stCondLst>
                            <p:childTnLst>
                              <p:par>
                                <p:cTn id="45" presetID="10" presetClass="entr" presetSubtype="0" fill="hold" nodeType="afterEffect">
                                  <p:stCondLst>
                                    <p:cond delay="0"/>
                                  </p:stCondLst>
                                  <p:childTnLst>
                                    <p:set>
                                      <p:cBhvr>
                                        <p:cTn id="46" dur="1" fill="hold">
                                          <p:stCondLst>
                                            <p:cond delay="0"/>
                                          </p:stCondLst>
                                        </p:cTn>
                                        <p:tgtEl>
                                          <p:spTgt spid="33"/>
                                        </p:tgtEl>
                                        <p:attrNameLst>
                                          <p:attrName>style.visibility</p:attrName>
                                        </p:attrNameLst>
                                      </p:cBhvr>
                                      <p:to>
                                        <p:strVal val="visible"/>
                                      </p:to>
                                    </p:set>
                                    <p:animEffect transition="in" filter="fade">
                                      <p:cBhvr>
                                        <p:cTn id="47" dur="500"/>
                                        <p:tgtEl>
                                          <p:spTgt spid="33"/>
                                        </p:tgtEl>
                                      </p:cBhvr>
                                    </p:animEffect>
                                  </p:childTnLst>
                                </p:cTn>
                              </p:par>
                            </p:childTnLst>
                          </p:cTn>
                        </p:par>
                        <p:par>
                          <p:cTn id="48" fill="hold">
                            <p:stCondLst>
                              <p:cond delay="5500"/>
                            </p:stCondLst>
                            <p:childTnLst>
                              <p:par>
                                <p:cTn id="49" presetID="22" presetClass="entr" presetSubtype="2" fill="hold" grpId="0" nodeType="afterEffect">
                                  <p:stCondLst>
                                    <p:cond delay="0"/>
                                  </p:stCondLst>
                                  <p:childTnLst>
                                    <p:set>
                                      <p:cBhvr>
                                        <p:cTn id="50" dur="1" fill="hold">
                                          <p:stCondLst>
                                            <p:cond delay="0"/>
                                          </p:stCondLst>
                                        </p:cTn>
                                        <p:tgtEl>
                                          <p:spTgt spid="30"/>
                                        </p:tgtEl>
                                        <p:attrNameLst>
                                          <p:attrName>style.visibility</p:attrName>
                                        </p:attrNameLst>
                                      </p:cBhvr>
                                      <p:to>
                                        <p:strVal val="visible"/>
                                      </p:to>
                                    </p:set>
                                    <p:animEffect transition="in" filter="wipe(right)">
                                      <p:cBhvr>
                                        <p:cTn id="51" dur="500"/>
                                        <p:tgtEl>
                                          <p:spTgt spid="30"/>
                                        </p:tgtEl>
                                      </p:cBhvr>
                                    </p:animEffect>
                                  </p:childTnLst>
                                </p:cTn>
                              </p:par>
                            </p:childTnLst>
                          </p:cTn>
                        </p:par>
                        <p:par>
                          <p:cTn id="52" fill="hold">
                            <p:stCondLst>
                              <p:cond delay="6000"/>
                            </p:stCondLst>
                            <p:childTnLst>
                              <p:par>
                                <p:cTn id="53" presetID="1" presetClass="entr" presetSubtype="0" fill="hold" grpId="0" nodeType="afterEffect">
                                  <p:stCondLst>
                                    <p:cond delay="0"/>
                                  </p:stCondLst>
                                  <p:childTnLst>
                                    <p:set>
                                      <p:cBhvr>
                                        <p:cTn id="54" dur="1" fill="hold">
                                          <p:stCondLst>
                                            <p:cond delay="499"/>
                                          </p:stCondLst>
                                        </p:cTn>
                                        <p:tgtEl>
                                          <p:spTgt spid="2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499"/>
                                          </p:stCondLst>
                                        </p:cTn>
                                        <p:tgtEl>
                                          <p:spTgt spid="27"/>
                                        </p:tgtEl>
                                        <p:attrNameLst>
                                          <p:attrName>style.visibility</p:attrName>
                                        </p:attrNameLst>
                                      </p:cBhvr>
                                      <p:to>
                                        <p:strVal val="visible"/>
                                      </p:to>
                                    </p:set>
                                  </p:childTnLst>
                                </p:cTn>
                              </p:par>
                            </p:childTnLst>
                          </p:cTn>
                        </p:par>
                        <p:par>
                          <p:cTn id="59" fill="hold">
                            <p:stCondLst>
                              <p:cond delay="500"/>
                            </p:stCondLst>
                            <p:childTnLst>
                              <p:par>
                                <p:cTn id="60" presetID="22" presetClass="entr" presetSubtype="4" fill="hold" grpId="0" nodeType="afterEffect">
                                  <p:stCondLst>
                                    <p:cond delay="0"/>
                                  </p:stCondLst>
                                  <p:childTnLst>
                                    <p:set>
                                      <p:cBhvr>
                                        <p:cTn id="61" dur="1" fill="hold">
                                          <p:stCondLst>
                                            <p:cond delay="0"/>
                                          </p:stCondLst>
                                        </p:cTn>
                                        <p:tgtEl>
                                          <p:spTgt spid="32"/>
                                        </p:tgtEl>
                                        <p:attrNameLst>
                                          <p:attrName>style.visibility</p:attrName>
                                        </p:attrNameLst>
                                      </p:cBhvr>
                                      <p:to>
                                        <p:strVal val="visible"/>
                                      </p:to>
                                    </p:set>
                                    <p:animEffect transition="in" filter="wipe(down)">
                                      <p:cBhvr>
                                        <p:cTn id="62" dur="500"/>
                                        <p:tgtEl>
                                          <p:spTgt spid="32"/>
                                        </p:tgtEl>
                                      </p:cBhvr>
                                    </p:animEffect>
                                  </p:childTnLst>
                                </p:cTn>
                              </p:par>
                            </p:childTnLst>
                          </p:cTn>
                        </p:par>
                        <p:par>
                          <p:cTn id="63" fill="hold">
                            <p:stCondLst>
                              <p:cond delay="1000"/>
                            </p:stCondLst>
                            <p:childTnLst>
                              <p:par>
                                <p:cTn id="64" presetID="22" presetClass="entr" presetSubtype="1" fill="hold" grpId="0" nodeType="afterEffect">
                                  <p:stCondLst>
                                    <p:cond delay="0"/>
                                  </p:stCondLst>
                                  <p:childTnLst>
                                    <p:set>
                                      <p:cBhvr>
                                        <p:cTn id="65" dur="1" fill="hold">
                                          <p:stCondLst>
                                            <p:cond delay="0"/>
                                          </p:stCondLst>
                                        </p:cTn>
                                        <p:tgtEl>
                                          <p:spTgt spid="31"/>
                                        </p:tgtEl>
                                        <p:attrNameLst>
                                          <p:attrName>style.visibility</p:attrName>
                                        </p:attrNameLst>
                                      </p:cBhvr>
                                      <p:to>
                                        <p:strVal val="visible"/>
                                      </p:to>
                                    </p:set>
                                    <p:animEffect transition="in" filter="wipe(up)">
                                      <p:cBhvr>
                                        <p:cTn id="66" dur="500"/>
                                        <p:tgtEl>
                                          <p:spTgt spid="31"/>
                                        </p:tgtEl>
                                      </p:cBhvr>
                                    </p:animEffect>
                                  </p:childTnLst>
                                </p:cTn>
                              </p:par>
                            </p:childTnLst>
                          </p:cTn>
                        </p:par>
                        <p:par>
                          <p:cTn id="67" fill="hold">
                            <p:stCondLst>
                              <p:cond delay="1500"/>
                            </p:stCondLst>
                            <p:childTnLst>
                              <p:par>
                                <p:cTn id="68" presetID="1" presetClass="entr" presetSubtype="0" fill="hold" grpId="0" nodeType="afterEffect">
                                  <p:stCondLst>
                                    <p:cond delay="0"/>
                                  </p:stCondLst>
                                  <p:childTnLst>
                                    <p:set>
                                      <p:cBhvr>
                                        <p:cTn id="69" dur="1" fill="hold">
                                          <p:stCondLst>
                                            <p:cond delay="499"/>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autoUpdateAnimBg="0"/>
      <p:bldP spid="9" grpId="0" animBg="1"/>
      <p:bldP spid="19" grpId="0" animBg="1"/>
      <p:bldP spid="20" grpId="0" animBg="1"/>
      <p:bldP spid="21" grpId="0" animBg="1"/>
      <p:bldP spid="22" grpId="0" animBg="1"/>
      <p:bldP spid="23" grpId="0" animBg="1"/>
      <p:bldP spid="24" grpId="0" animBg="1"/>
      <p:bldP spid="25" grpId="0" animBg="1"/>
      <p:bldP spid="26" grpId="0" animBg="1" autoUpdateAnimBg="0"/>
      <p:bldP spid="27" grpId="0" animBg="1" autoUpdateAnimBg="0"/>
      <p:bldP spid="28" grpId="0" animBg="1" autoUpdateAnimBg="0"/>
      <p:bldP spid="29" grpId="0" animBg="1"/>
      <p:bldP spid="30" grpId="0" animBg="1"/>
      <p:bldP spid="31" grpId="0" animBg="1"/>
      <p:bldP spid="32"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a:p>
        </p:txBody>
      </p:sp>
      <p:sp>
        <p:nvSpPr>
          <p:cNvPr id="3" name="Title 2"/>
          <p:cNvSpPr>
            <a:spLocks noGrp="1"/>
          </p:cNvSpPr>
          <p:nvPr>
            <p:ph type="title"/>
          </p:nvPr>
        </p:nvSpPr>
        <p:spPr/>
        <p:txBody>
          <a:bodyPr/>
          <a:lstStyle/>
          <a:p>
            <a:endParaRPr lang="en-US"/>
          </a:p>
        </p:txBody>
      </p:sp>
      <p:pic>
        <p:nvPicPr>
          <p:cNvPr id="4098" name="Picture 2" descr="https://encrypted-tbn2.gstatic.com/images?q=tbn:ANd9GcSQAWQ9ABDLKOY9Y_Sbzfu17IkJFVrvSvav3JC8H923ToZHfyUz0Q"/>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600200"/>
            <a:ext cx="8642813"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141489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vi-VN" sz="2800" smtClean="0"/>
              <a:t>RR  là mẫu  thông  tin dùng để mô  tả các  thông  tin về </a:t>
            </a:r>
            <a:r>
              <a:rPr lang="en-US" sz="2800" smtClean="0"/>
              <a:t>CSDL </a:t>
            </a:r>
            <a:r>
              <a:rPr lang="vi-VN" sz="2800" smtClean="0"/>
              <a:t>DNS, được  lưu trong các file cơ sở dữ liệu DNS \systemroot\system32\dns</a:t>
            </a:r>
            <a:endParaRPr lang="en-US" sz="2800" smtClean="0"/>
          </a:p>
        </p:txBody>
      </p:sp>
      <p:sp>
        <p:nvSpPr>
          <p:cNvPr id="3" name="Title 2"/>
          <p:cNvSpPr>
            <a:spLocks noGrp="1"/>
          </p:cNvSpPr>
          <p:nvPr>
            <p:ph type="title"/>
          </p:nvPr>
        </p:nvSpPr>
        <p:spPr>
          <a:xfrm>
            <a:off x="0" y="76200"/>
            <a:ext cx="9144000" cy="609600"/>
          </a:xfrm>
        </p:spPr>
        <p:txBody>
          <a:bodyPr/>
          <a:lstStyle/>
          <a:p>
            <a:r>
              <a:rPr lang="vi-VN" smtClean="0"/>
              <a:t>VI.   Resource Record (RR). </a:t>
            </a:r>
            <a:endParaRPr lang="en-US" smtClean="0"/>
          </a:p>
        </p:txBody>
      </p:sp>
      <p:pic>
        <p:nvPicPr>
          <p:cNvPr id="23553" name="Picture 1"/>
          <p:cNvPicPr>
            <a:picLocks noChangeAspect="1" noChangeArrowheads="1"/>
          </p:cNvPicPr>
          <p:nvPr/>
        </p:nvPicPr>
        <p:blipFill>
          <a:blip r:embed="rId2"/>
          <a:srcRect/>
          <a:stretch>
            <a:fillRect/>
          </a:stretch>
        </p:blipFill>
        <p:spPr bwMode="auto">
          <a:xfrm>
            <a:off x="609600" y="2209800"/>
            <a:ext cx="8018754" cy="4648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buNone/>
            </a:pPr>
            <a:r>
              <a:rPr lang="vi-VN" sz="2800" smtClean="0"/>
              <a:t>VI.1. SOA(Start of Authority).</a:t>
            </a:r>
            <a:endParaRPr lang="en-US" sz="2800" smtClean="0"/>
          </a:p>
          <a:p>
            <a:pPr>
              <a:buNone/>
            </a:pPr>
            <a:r>
              <a:rPr lang="vi-VN" sz="2800" smtClean="0"/>
              <a:t> VI.2. NS (Name Server).</a:t>
            </a:r>
            <a:r>
              <a:rPr lang="en-US" sz="2800" smtClean="0"/>
              <a:t> </a:t>
            </a:r>
          </a:p>
          <a:p>
            <a:pPr>
              <a:buNone/>
            </a:pPr>
            <a:r>
              <a:rPr lang="vi-VN" sz="2800" smtClean="0"/>
              <a:t>VI.3. A (Address) và CNAME (Canonical Name). </a:t>
            </a:r>
            <a:endParaRPr lang="en-US" sz="2800" smtClean="0"/>
          </a:p>
          <a:p>
            <a:pPr>
              <a:buNone/>
            </a:pPr>
            <a:r>
              <a:rPr lang="vi-VN" sz="2800" smtClean="0"/>
              <a:t>VI.4. AAAA.</a:t>
            </a:r>
            <a:r>
              <a:rPr lang="en-US" sz="2800" smtClean="0"/>
              <a:t> </a:t>
            </a:r>
          </a:p>
          <a:p>
            <a:pPr>
              <a:buNone/>
            </a:pPr>
            <a:r>
              <a:rPr lang="vi-VN" sz="2800" smtClean="0"/>
              <a:t>VI.5. SRV.</a:t>
            </a:r>
            <a:endParaRPr lang="en-US" sz="2800" smtClean="0"/>
          </a:p>
          <a:p>
            <a:pPr>
              <a:buNone/>
            </a:pPr>
            <a:r>
              <a:rPr lang="vi-VN" sz="2800" smtClean="0"/>
              <a:t> VI.6. MX (Mail Exchange).</a:t>
            </a:r>
            <a:endParaRPr lang="en-US" sz="2800" smtClean="0"/>
          </a:p>
          <a:p>
            <a:pPr>
              <a:buNone/>
            </a:pPr>
            <a:r>
              <a:rPr lang="vi-VN" sz="2800" smtClean="0"/>
              <a:t> VI.7. PTR (Pointer).</a:t>
            </a:r>
            <a:endParaRPr lang="en-US" sz="2800" smtClean="0"/>
          </a:p>
        </p:txBody>
      </p:sp>
      <p:sp>
        <p:nvSpPr>
          <p:cNvPr id="3" name="Title 2"/>
          <p:cNvSpPr>
            <a:spLocks noGrp="1"/>
          </p:cNvSpPr>
          <p:nvPr>
            <p:ph type="title"/>
          </p:nvPr>
        </p:nvSpPr>
        <p:spPr>
          <a:xfrm>
            <a:off x="0" y="76200"/>
            <a:ext cx="9144000" cy="609600"/>
          </a:xfrm>
        </p:spPr>
        <p:txBody>
          <a:bodyPr/>
          <a:lstStyle/>
          <a:p>
            <a:r>
              <a:rPr lang="vi-VN" smtClean="0"/>
              <a:t>VI.   Resource Record (RR). </a:t>
            </a:r>
            <a:endParaRPr lang="en-US" smtClean="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a:p>
        </p:txBody>
      </p:sp>
      <p:sp>
        <p:nvSpPr>
          <p:cNvPr id="3" name="Title 2"/>
          <p:cNvSpPr>
            <a:spLocks noGrp="1"/>
          </p:cNvSpPr>
          <p:nvPr>
            <p:ph type="title"/>
          </p:nvPr>
        </p:nvSpPr>
        <p:spPr/>
        <p:txBody>
          <a:bodyPr/>
          <a:lstStyle/>
          <a:p>
            <a:r>
              <a:rPr lang="en-US" sz="2800" smtClean="0"/>
              <a:t>What Are Resource Records and Record Types?</a:t>
            </a:r>
            <a:endParaRPr lang="en-US" sz="2800"/>
          </a:p>
        </p:txBody>
      </p:sp>
      <p:pic>
        <p:nvPicPr>
          <p:cNvPr id="1026" name="Picture 2"/>
          <p:cNvPicPr>
            <a:picLocks noChangeAspect="1" noChangeArrowheads="1"/>
          </p:cNvPicPr>
          <p:nvPr/>
        </p:nvPicPr>
        <p:blipFill>
          <a:blip r:embed="rId2"/>
          <a:srcRect/>
          <a:stretch>
            <a:fillRect/>
          </a:stretch>
        </p:blipFill>
        <p:spPr bwMode="auto">
          <a:xfrm>
            <a:off x="304800" y="838200"/>
            <a:ext cx="8785185" cy="3657600"/>
          </a:xfrm>
          <a:prstGeom prst="rect">
            <a:avLst/>
          </a:prstGeom>
          <a:noFill/>
          <a:ln w="9525">
            <a:noFill/>
            <a:miter lim="800000"/>
            <a:headEnd/>
            <a:tailEnd/>
          </a:ln>
          <a:effectLst/>
        </p:spPr>
      </p:pic>
      <p:graphicFrame>
        <p:nvGraphicFramePr>
          <p:cNvPr id="5" name="Group 47"/>
          <p:cNvGraphicFramePr>
            <a:graphicFrameLocks noGrp="1"/>
          </p:cNvGraphicFramePr>
          <p:nvPr/>
        </p:nvGraphicFramePr>
        <p:xfrm>
          <a:off x="1828800" y="3886200"/>
          <a:ext cx="5943600" cy="2818765"/>
        </p:xfrm>
        <a:graphic>
          <a:graphicData uri="http://schemas.openxmlformats.org/drawingml/2006/table">
            <a:tbl>
              <a:tblPr/>
              <a:tblGrid>
                <a:gridCol w="1055699">
                  <a:extLst>
                    <a:ext uri="{9D8B030D-6E8A-4147-A177-3AD203B41FA5}">
                      <a16:colId xmlns:a16="http://schemas.microsoft.com/office/drawing/2014/main" val="20000"/>
                    </a:ext>
                  </a:extLst>
                </a:gridCol>
                <a:gridCol w="4887901">
                  <a:extLst>
                    <a:ext uri="{9D8B030D-6E8A-4147-A177-3AD203B41FA5}">
                      <a16:colId xmlns:a16="http://schemas.microsoft.com/office/drawing/2014/main" val="20001"/>
                    </a:ext>
                  </a:extLst>
                </a:gridCol>
              </a:tblGrid>
              <a:tr h="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700" b="0" i="0" u="none" strike="noStrike" cap="none" normalizeH="0" baseline="0" dirty="0" smtClean="0">
                          <a:ln>
                            <a:noFill/>
                          </a:ln>
                          <a:solidFill>
                            <a:schemeClr val="tx1"/>
                          </a:solidFill>
                          <a:effectLst/>
                          <a:latin typeface="Arial Narrow" pitchFamily="34" charset="0"/>
                        </a:rPr>
                        <a:t>Type</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BBCDE3"/>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700" b="0" i="0" u="none" strike="noStrike" cap="none" normalizeH="0" baseline="0" smtClean="0">
                          <a:ln>
                            <a:noFill/>
                          </a:ln>
                          <a:solidFill>
                            <a:schemeClr val="tx1"/>
                          </a:solidFill>
                          <a:effectLst/>
                          <a:latin typeface="Arial Narrow" pitchFamily="34" charset="0"/>
                        </a:rPr>
                        <a:t>Description</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BBCDE3"/>
                    </a:solidFill>
                  </a:tcPr>
                </a:tc>
                <a:extLst>
                  <a:ext uri="{0D108BD9-81ED-4DB2-BD59-A6C34878D82A}">
                    <a16:rowId xmlns:a16="http://schemas.microsoft.com/office/drawing/2014/main" val="10000"/>
                  </a:ext>
                </a:extLst>
              </a:tr>
              <a:tr h="2968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700" b="0" i="0" u="none" strike="noStrike" cap="none" normalizeH="0" baseline="0" smtClean="0">
                          <a:ln>
                            <a:noFill/>
                          </a:ln>
                          <a:solidFill>
                            <a:schemeClr val="tx1"/>
                          </a:solidFill>
                          <a:effectLst/>
                          <a:latin typeface="Arial Narrow" pitchFamily="34" charset="0"/>
                        </a:rPr>
                        <a:t>A</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177800" marR="0" lvl="0" indent="-17780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sz="1700" b="1" i="0" u="none" strike="noStrike" cap="none" normalizeH="0" baseline="0" dirty="0" smtClean="0">
                          <a:ln>
                            <a:noFill/>
                          </a:ln>
                          <a:solidFill>
                            <a:schemeClr val="tx1"/>
                          </a:solidFill>
                          <a:effectLst/>
                          <a:latin typeface="Arial Narrow" pitchFamily="34" charset="0"/>
                        </a:rPr>
                        <a:t>Resolves a host name to an IP address</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1"/>
                  </a:ext>
                </a:extLst>
              </a:tr>
              <a:tr h="36512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700" b="0" i="0" u="none" strike="noStrike" cap="none" normalizeH="0" baseline="0" smtClean="0">
                          <a:ln>
                            <a:noFill/>
                          </a:ln>
                          <a:solidFill>
                            <a:schemeClr val="tx1"/>
                          </a:solidFill>
                          <a:effectLst/>
                          <a:latin typeface="Arial Narrow" pitchFamily="34" charset="0"/>
                        </a:rPr>
                        <a:t>PTR</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177800" marR="0" lvl="0" indent="-17780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sz="1700" b="1" i="0" u="none" strike="noStrike" cap="none" normalizeH="0" baseline="0" smtClean="0">
                          <a:ln>
                            <a:noFill/>
                          </a:ln>
                          <a:solidFill>
                            <a:schemeClr val="tx1"/>
                          </a:solidFill>
                          <a:effectLst/>
                          <a:latin typeface="Arial Narrow" pitchFamily="34" charset="0"/>
                        </a:rPr>
                        <a:t>Resolves an IP address to a host name</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2"/>
                  </a:ext>
                </a:extLst>
              </a:tr>
              <a:tr h="2968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700" b="0" i="0" u="none" strike="noStrike" cap="none" normalizeH="0" baseline="0" smtClean="0">
                          <a:ln>
                            <a:noFill/>
                          </a:ln>
                          <a:solidFill>
                            <a:schemeClr val="tx1"/>
                          </a:solidFill>
                          <a:effectLst/>
                          <a:latin typeface="Arial Narrow" pitchFamily="34" charset="0"/>
                        </a:rPr>
                        <a:t>SOA</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177800" marR="0" lvl="0" indent="-17780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sz="1700" b="1" i="0" u="none" strike="noStrike" cap="none" normalizeH="0" baseline="0" smtClean="0">
                          <a:ln>
                            <a:noFill/>
                          </a:ln>
                          <a:solidFill>
                            <a:schemeClr val="tx1"/>
                          </a:solidFill>
                          <a:effectLst/>
                          <a:latin typeface="Arial Narrow" pitchFamily="34" charset="0"/>
                        </a:rPr>
                        <a:t>The first record in any zone file </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3"/>
                  </a:ext>
                </a:extLst>
              </a:tr>
              <a:tr h="2984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700" b="0" i="0" u="none" strike="noStrike" cap="none" normalizeH="0" baseline="0" smtClean="0">
                          <a:ln>
                            <a:noFill/>
                          </a:ln>
                          <a:solidFill>
                            <a:schemeClr val="tx1"/>
                          </a:solidFill>
                          <a:effectLst/>
                          <a:latin typeface="Arial Narrow" pitchFamily="34" charset="0"/>
                        </a:rPr>
                        <a:t>SRV</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177800" marR="0" lvl="0" indent="-17780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sz="1700" b="1" i="0" u="none" strike="noStrike" cap="none" normalizeH="0" baseline="0" smtClean="0">
                          <a:ln>
                            <a:noFill/>
                          </a:ln>
                          <a:solidFill>
                            <a:schemeClr val="tx1"/>
                          </a:solidFill>
                          <a:effectLst/>
                          <a:latin typeface="Arial Narrow" pitchFamily="34" charset="0"/>
                        </a:rPr>
                        <a:t>Resolves names of servers providing services</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4"/>
                  </a:ext>
                </a:extLst>
              </a:tr>
              <a:tr h="2968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700" b="0" i="0" u="none" strike="noStrike" cap="none" normalizeH="0" baseline="0" smtClean="0">
                          <a:ln>
                            <a:noFill/>
                          </a:ln>
                          <a:solidFill>
                            <a:schemeClr val="tx1"/>
                          </a:solidFill>
                          <a:effectLst/>
                          <a:latin typeface="Arial Narrow" pitchFamily="34" charset="0"/>
                        </a:rPr>
                        <a:t>NS</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177800" marR="0" lvl="0" indent="-17780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sz="1700" b="1" i="0" u="none" strike="noStrike" cap="none" normalizeH="0" baseline="0" smtClean="0">
                          <a:ln>
                            <a:noFill/>
                          </a:ln>
                          <a:solidFill>
                            <a:schemeClr val="tx1"/>
                          </a:solidFill>
                          <a:effectLst/>
                          <a:latin typeface="Arial Narrow" pitchFamily="34" charset="0"/>
                        </a:rPr>
                        <a:t>Identifies the DNS server for each zone</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5"/>
                  </a:ext>
                </a:extLst>
              </a:tr>
              <a:tr h="3365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700" b="0" i="0" u="none" strike="noStrike" cap="none" normalizeH="0" baseline="0" smtClean="0">
                          <a:ln>
                            <a:noFill/>
                          </a:ln>
                          <a:solidFill>
                            <a:schemeClr val="tx1"/>
                          </a:solidFill>
                          <a:effectLst/>
                          <a:latin typeface="Arial Narrow" pitchFamily="34" charset="0"/>
                        </a:rPr>
                        <a:t>MX</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177800" marR="0" lvl="0" indent="-177800" algn="l" defTabSz="914400" rtl="0" eaLnBrk="1" fontAlgn="base" latinLnBrk="0" hangingPunct="1">
                        <a:lnSpc>
                          <a:spcPct val="100000"/>
                        </a:lnSpc>
                        <a:spcBef>
                          <a:spcPct val="0"/>
                        </a:spcBef>
                        <a:spcAft>
                          <a:spcPct val="0"/>
                        </a:spcAft>
                        <a:buClrTx/>
                        <a:buSzTx/>
                        <a:buFontTx/>
                        <a:buNone/>
                        <a:tabLst/>
                      </a:pPr>
                      <a:r>
                        <a:rPr kumimoji="0" lang="en-US" sz="1700" b="1" i="0" u="none" strike="noStrike" cap="none" normalizeH="0" baseline="0" smtClean="0">
                          <a:ln>
                            <a:noFill/>
                          </a:ln>
                          <a:solidFill>
                            <a:schemeClr val="tx1"/>
                          </a:solidFill>
                          <a:effectLst/>
                          <a:latin typeface="Arial Narrow" pitchFamily="34" charset="0"/>
                        </a:rPr>
                        <a:t>The mail server</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6"/>
                  </a:ext>
                </a:extLst>
              </a:tr>
              <a:tr h="1809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700" b="0" i="0" u="none" strike="noStrike" cap="none" normalizeH="0" baseline="0" smtClean="0">
                          <a:ln>
                            <a:noFill/>
                          </a:ln>
                          <a:solidFill>
                            <a:schemeClr val="tx1"/>
                          </a:solidFill>
                          <a:effectLst/>
                          <a:latin typeface="Arial Narrow" pitchFamily="34" charset="0"/>
                        </a:rPr>
                        <a:t>CNAME</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177800" marR="0" lvl="0" indent="-17780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sz="1700" b="1" i="0" u="none" strike="noStrike" cap="none" normalizeH="0" baseline="0" dirty="0" smtClean="0">
                          <a:ln>
                            <a:noFill/>
                          </a:ln>
                          <a:solidFill>
                            <a:schemeClr val="tx1"/>
                          </a:solidFill>
                          <a:effectLst/>
                          <a:latin typeface="Arial Narrow" pitchFamily="34" charset="0"/>
                        </a:rPr>
                        <a:t>Resolves an alias to a host name</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7"/>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r>
              <a:rPr lang="vi-VN" smtClean="0"/>
              <a:t>Trong mỗi tập tin CSDL phải có một và chỉ một record SOA (start of authority). </a:t>
            </a:r>
            <a:endParaRPr lang="en-US" smtClean="0"/>
          </a:p>
          <a:p>
            <a:r>
              <a:rPr lang="vi-VN" smtClean="0"/>
              <a:t>Record SOA chỉ ra máy   chủ   Name   Server    là   nơi   cung   cấp    thông    tin    tin   cậy    từ   dữ    liệu   có    trong   zone. </a:t>
            </a:r>
          </a:p>
          <a:p>
            <a:r>
              <a:rPr lang="vi-VN" smtClean="0"/>
              <a:t>Cú pháp của record SOA. </a:t>
            </a:r>
          </a:p>
          <a:p>
            <a:pPr>
              <a:buNone/>
            </a:pPr>
            <a:r>
              <a:rPr lang="vi-VN" smtClean="0"/>
              <a:t>[tên-miền]  IN  SOA  [tên-server-dns]  [địa-chỉ-email] ( </a:t>
            </a:r>
          </a:p>
          <a:p>
            <a:pPr lvl="3">
              <a:buNone/>
            </a:pPr>
            <a:r>
              <a:rPr lang="vi-VN" smtClean="0"/>
              <a:t>serial number; </a:t>
            </a:r>
          </a:p>
          <a:p>
            <a:pPr lvl="3">
              <a:buNone/>
            </a:pPr>
            <a:r>
              <a:rPr lang="vi-VN" smtClean="0"/>
              <a:t>refresh number; </a:t>
            </a:r>
          </a:p>
          <a:p>
            <a:pPr lvl="3">
              <a:buNone/>
            </a:pPr>
            <a:r>
              <a:rPr lang="vi-VN" smtClean="0"/>
              <a:t>retry number; </a:t>
            </a:r>
          </a:p>
          <a:p>
            <a:pPr lvl="3">
              <a:buNone/>
            </a:pPr>
            <a:r>
              <a:rPr lang="vi-VN" smtClean="0"/>
              <a:t>experi number; </a:t>
            </a:r>
          </a:p>
          <a:p>
            <a:pPr lvl="3">
              <a:buNone/>
            </a:pPr>
            <a:r>
              <a:rPr lang="vi-VN" smtClean="0"/>
              <a:t>Time-to-live number) </a:t>
            </a:r>
            <a:endParaRPr lang="en-US"/>
          </a:p>
        </p:txBody>
      </p:sp>
      <p:sp>
        <p:nvSpPr>
          <p:cNvPr id="3" name="Title 2"/>
          <p:cNvSpPr>
            <a:spLocks noGrp="1"/>
          </p:cNvSpPr>
          <p:nvPr>
            <p:ph type="title"/>
          </p:nvPr>
        </p:nvSpPr>
        <p:spPr/>
        <p:txBody>
          <a:bodyPr/>
          <a:lstStyle/>
          <a:p>
            <a:r>
              <a:rPr lang="en-US" smtClean="0"/>
              <a:t>VI.1. </a:t>
            </a:r>
            <a:r>
              <a:rPr lang="vi-VN" smtClean="0"/>
              <a:t>SOA</a:t>
            </a:r>
            <a:endParaRPr lang="en-US"/>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62500" lnSpcReduction="20000"/>
          </a:bodyPr>
          <a:lstStyle/>
          <a:p>
            <a:pPr algn="just">
              <a:lnSpc>
                <a:spcPct val="120000"/>
              </a:lnSpc>
              <a:buNone/>
            </a:pPr>
            <a:r>
              <a:rPr lang="en-US" smtClean="0">
                <a:solidFill>
                  <a:srgbClr val="0033CC"/>
                </a:solidFill>
              </a:rPr>
              <a:t>a) serial number: </a:t>
            </a:r>
            <a:r>
              <a:rPr lang="en-US" smtClean="0"/>
              <a:t>Khi một slave name server kết nối với master server để lấy dữ liệu, trước tiên nó sẽ kiểm tra số serial, nếu số serial của master lớn hơn tức là dữ liệu đã hết hạn sử dụng và nó sẽ load lại dữ liệu mới. vì vậy khi ta cập nhật dữ liệu trên name server ta nên tăng số serial. Thông thường ta định dạng theo thời gian như sau:</a:t>
            </a:r>
          </a:p>
          <a:p>
            <a:pPr algn="ctr">
              <a:lnSpc>
                <a:spcPct val="120000"/>
              </a:lnSpc>
              <a:buNone/>
            </a:pPr>
            <a:r>
              <a:rPr lang="en-US" smtClean="0"/>
              <a:t>	</a:t>
            </a:r>
            <a:r>
              <a:rPr lang="en-US" smtClean="0">
                <a:solidFill>
                  <a:srgbClr val="0033CC"/>
                </a:solidFill>
              </a:rPr>
              <a:t>YYYYMMDDNN  </a:t>
            </a:r>
          </a:p>
          <a:p>
            <a:pPr>
              <a:lnSpc>
                <a:spcPct val="120000"/>
              </a:lnSpc>
              <a:buNone/>
            </a:pPr>
            <a:r>
              <a:rPr lang="en-US" smtClean="0"/>
              <a:t>	</a:t>
            </a:r>
            <a:r>
              <a:rPr lang="en-US" u="sng" smtClean="0"/>
              <a:t>Ví dụ</a:t>
            </a:r>
            <a:r>
              <a:rPr lang="en-US" smtClean="0"/>
              <a:t>:  2012111901</a:t>
            </a:r>
          </a:p>
          <a:p>
            <a:pPr algn="just">
              <a:lnSpc>
                <a:spcPct val="120000"/>
              </a:lnSpc>
              <a:buNone/>
            </a:pPr>
            <a:r>
              <a:rPr lang="en-US" smtClean="0">
                <a:solidFill>
                  <a:srgbClr val="0033CC"/>
                </a:solidFill>
              </a:rPr>
              <a:t>b) refresh number: </a:t>
            </a:r>
            <a:r>
              <a:rPr lang="en-US" smtClean="0"/>
              <a:t>Khoảng Thời gian (giây) mà slave biết phải kiểm tra lại dữ liệu có còn sử dụng được không. </a:t>
            </a:r>
          </a:p>
          <a:p>
            <a:pPr>
              <a:lnSpc>
                <a:spcPct val="120000"/>
              </a:lnSpc>
              <a:buNone/>
            </a:pPr>
            <a:r>
              <a:rPr lang="en-US" smtClean="0"/>
              <a:t>	</a:t>
            </a:r>
            <a:r>
              <a:rPr lang="en-US" u="sng" smtClean="0"/>
              <a:t>Ví dụ</a:t>
            </a:r>
            <a:r>
              <a:rPr lang="en-US" smtClean="0"/>
              <a:t>: 10800 ; Refresh sau 3 giờ.</a:t>
            </a:r>
          </a:p>
          <a:p>
            <a:pPr algn="just">
              <a:lnSpc>
                <a:spcPct val="120000"/>
              </a:lnSpc>
              <a:buNone/>
            </a:pPr>
            <a:r>
              <a:rPr lang="en-US" smtClean="0">
                <a:solidFill>
                  <a:srgbClr val="0033CC"/>
                </a:solidFill>
              </a:rPr>
              <a:t>c) retry number: </a:t>
            </a:r>
            <a:r>
              <a:rPr lang="en-US" smtClean="0"/>
              <a:t>Nếu slave không thể kết nối với master name server sau một khoảng thời gian refresh thì nó sẽ cố gắng kết nối lại sau retry giây. Giá trị này nhỏ hơn giá trị refresh.</a:t>
            </a:r>
          </a:p>
          <a:p>
            <a:pPr>
              <a:lnSpc>
                <a:spcPct val="120000"/>
              </a:lnSpc>
              <a:buNone/>
            </a:pPr>
            <a:r>
              <a:rPr lang="en-US" smtClean="0"/>
              <a:t>	</a:t>
            </a:r>
            <a:r>
              <a:rPr lang="en-US" u="sng" smtClean="0"/>
              <a:t>Ví dụ</a:t>
            </a:r>
            <a:r>
              <a:rPr lang="en-US" smtClean="0"/>
              <a:t>: 3600 ; Retry sau 1 giờ</a:t>
            </a:r>
          </a:p>
          <a:p>
            <a:pPr>
              <a:lnSpc>
                <a:spcPct val="120000"/>
              </a:lnSpc>
            </a:pPr>
            <a:endParaRPr lang="en-US"/>
          </a:p>
        </p:txBody>
      </p:sp>
      <p:sp>
        <p:nvSpPr>
          <p:cNvPr id="3" name="Title 2"/>
          <p:cNvSpPr>
            <a:spLocks noGrp="1"/>
          </p:cNvSpPr>
          <p:nvPr>
            <p:ph type="title"/>
          </p:nvPr>
        </p:nvSpPr>
        <p:spPr/>
        <p:txBody>
          <a:bodyPr/>
          <a:lstStyle/>
          <a:p>
            <a:r>
              <a:rPr lang="en-US" smtClean="0"/>
              <a:t>SOA</a:t>
            </a:r>
            <a:endParaRPr lang="en-US"/>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85000" lnSpcReduction="10000"/>
          </a:bodyPr>
          <a:lstStyle/>
          <a:p>
            <a:pPr algn="just">
              <a:lnSpc>
                <a:spcPct val="110000"/>
              </a:lnSpc>
              <a:buNone/>
            </a:pPr>
            <a:r>
              <a:rPr lang="en-US" smtClean="0">
                <a:solidFill>
                  <a:srgbClr val="0033CC"/>
                </a:solidFill>
              </a:rPr>
              <a:t>d) experi number: </a:t>
            </a:r>
            <a:r>
              <a:rPr lang="en-US" smtClean="0"/>
              <a:t>Nếu slave không thể kết nối với master server sau khoảng thời gian expire (giây) này, thì slave sẽ không trả lời cho vùng dữ liệu đó khi được truy vấn, vì nó cho rằng dữ liệu này đã quá củ. Giá trị này phải lớn hơn giá trị refresh và retry. </a:t>
            </a:r>
          </a:p>
          <a:p>
            <a:pPr>
              <a:lnSpc>
                <a:spcPct val="110000"/>
              </a:lnSpc>
              <a:buNone/>
            </a:pPr>
            <a:r>
              <a:rPr lang="en-US" smtClean="0"/>
              <a:t>	</a:t>
            </a:r>
            <a:r>
              <a:rPr lang="en-US" u="sng" smtClean="0"/>
              <a:t>Ví dụ</a:t>
            </a:r>
            <a:r>
              <a:rPr lang="en-US" smtClean="0"/>
              <a:t>: 604800 ; Expire sau 1 tuần.</a:t>
            </a:r>
            <a:endParaRPr lang="en-US" smtClean="0">
              <a:solidFill>
                <a:srgbClr val="0033CC"/>
              </a:solidFill>
            </a:endParaRPr>
          </a:p>
          <a:p>
            <a:pPr algn="just">
              <a:lnSpc>
                <a:spcPct val="110000"/>
              </a:lnSpc>
              <a:buNone/>
            </a:pPr>
            <a:r>
              <a:rPr lang="en-US" smtClean="0">
                <a:solidFill>
                  <a:srgbClr val="0033CC"/>
                </a:solidFill>
              </a:rPr>
              <a:t>e) time-to-live number: </a:t>
            </a:r>
            <a:r>
              <a:rPr lang="en-US" smtClean="0"/>
              <a:t>Time To Live, giá trị này được dùng cho tất cả các resource record trong file cơ sở dữ liệu. Giá trị này cho phép những server khác cache lại dữ liệu trong 1 khoảng thời gian xác định TTL. </a:t>
            </a:r>
          </a:p>
          <a:p>
            <a:pPr algn="just">
              <a:lnSpc>
                <a:spcPct val="110000"/>
              </a:lnSpc>
              <a:buNone/>
            </a:pPr>
            <a:r>
              <a:rPr lang="en-US" smtClean="0"/>
              <a:t>	</a:t>
            </a:r>
            <a:r>
              <a:rPr lang="en-US" u="sng" smtClean="0"/>
              <a:t>Ví dụ</a:t>
            </a:r>
            <a:r>
              <a:rPr lang="en-US" smtClean="0"/>
              <a:t> :  86400 ; TTL là 1 ngày</a:t>
            </a:r>
          </a:p>
          <a:p>
            <a:pPr>
              <a:lnSpc>
                <a:spcPct val="110000"/>
              </a:lnSpc>
            </a:pPr>
            <a:endParaRPr lang="en-US"/>
          </a:p>
        </p:txBody>
      </p:sp>
      <p:sp>
        <p:nvSpPr>
          <p:cNvPr id="3" name="Title 2"/>
          <p:cNvSpPr>
            <a:spLocks noGrp="1"/>
          </p:cNvSpPr>
          <p:nvPr>
            <p:ph type="title"/>
          </p:nvPr>
        </p:nvSpPr>
        <p:spPr/>
        <p:txBody>
          <a:bodyPr/>
          <a:lstStyle/>
          <a:p>
            <a:r>
              <a:rPr lang="en-US" smtClean="0"/>
              <a:t>SOA</a:t>
            </a:r>
            <a:endParaRPr lang="en-US"/>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smtClean="0"/>
              <a:t>Mỗi Name Server cho zone sẽ có một NS record. </a:t>
            </a:r>
          </a:p>
          <a:p>
            <a:r>
              <a:rPr lang="en-US" smtClean="0"/>
              <a:t>Cú pháp: </a:t>
            </a:r>
          </a:p>
          <a:p>
            <a:pPr>
              <a:buNone/>
            </a:pPr>
            <a:r>
              <a:rPr lang="en-US" smtClean="0"/>
              <a:t>[domain_name]  IN  NS  [DNS-Server_name] </a:t>
            </a:r>
          </a:p>
          <a:p>
            <a:r>
              <a:rPr lang="en-US" smtClean="0"/>
              <a:t>Ví dụ 2: Record NS sau: </a:t>
            </a:r>
          </a:p>
          <a:p>
            <a:pPr>
              <a:buNone/>
            </a:pPr>
            <a:r>
              <a:rPr lang="en-US" smtClean="0"/>
              <a:t>abc.com.  IN NS  server1.abc.com. </a:t>
            </a:r>
          </a:p>
          <a:p>
            <a:pPr>
              <a:buNone/>
            </a:pPr>
            <a:r>
              <a:rPr lang="en-US" smtClean="0"/>
              <a:t>abc.com.  IN NS  server2.abc.com. </a:t>
            </a:r>
          </a:p>
          <a:p>
            <a:r>
              <a:rPr lang="en-US" smtClean="0"/>
              <a:t>chỉ ra 2 name servers cho miền abc.com </a:t>
            </a:r>
            <a:endParaRPr lang="en-US"/>
          </a:p>
        </p:txBody>
      </p:sp>
      <p:sp>
        <p:nvSpPr>
          <p:cNvPr id="3" name="Title 2"/>
          <p:cNvSpPr>
            <a:spLocks noGrp="1"/>
          </p:cNvSpPr>
          <p:nvPr>
            <p:ph type="title"/>
          </p:nvPr>
        </p:nvSpPr>
        <p:spPr/>
        <p:txBody>
          <a:bodyPr/>
          <a:lstStyle/>
          <a:p>
            <a:r>
              <a:rPr lang="en-US" smtClean="0"/>
              <a:t>VI.2.  NS </a:t>
            </a:r>
            <a:endParaRPr lang="en-US"/>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70000" lnSpcReduction="20000"/>
          </a:bodyPr>
          <a:lstStyle/>
          <a:p>
            <a:r>
              <a:rPr lang="vi-VN" smtClean="0"/>
              <a:t>Record A  (Address) ánh xạ  tên máy  (hostname) vào địa chỉ  IP. </a:t>
            </a:r>
            <a:endParaRPr lang="en-US" smtClean="0"/>
          </a:p>
          <a:p>
            <a:r>
              <a:rPr lang="vi-VN" smtClean="0"/>
              <a:t>Record CNAME  (canonical name) </a:t>
            </a:r>
            <a:r>
              <a:rPr lang="en-US" smtClean="0"/>
              <a:t> </a:t>
            </a:r>
            <a:r>
              <a:rPr lang="vi-VN" smtClean="0"/>
              <a:t>tạo tên bí danh alias trỏ vào một tên canonical. </a:t>
            </a:r>
            <a:endParaRPr lang="en-US" smtClean="0"/>
          </a:p>
          <a:p>
            <a:r>
              <a:rPr lang="vi-VN" smtClean="0"/>
              <a:t>Tên canonical là tên host trong record A hoặc lại trỏ vào 1 tên canonical khác. </a:t>
            </a:r>
          </a:p>
          <a:p>
            <a:r>
              <a:rPr lang="vi-VN" smtClean="0"/>
              <a:t> Cú pháp record A</a:t>
            </a:r>
            <a:r>
              <a:rPr lang="en-US" smtClean="0"/>
              <a:t>, CNAME</a:t>
            </a:r>
            <a:r>
              <a:rPr lang="vi-VN" smtClean="0"/>
              <a:t>: </a:t>
            </a:r>
          </a:p>
          <a:p>
            <a:pPr>
              <a:buNone/>
            </a:pPr>
            <a:r>
              <a:rPr lang="en-US" smtClean="0"/>
              <a:t>	</a:t>
            </a:r>
            <a:r>
              <a:rPr lang="vi-VN" smtClean="0"/>
              <a:t>[tên-máy-tính]   IN  A  [địa-chỉ-IP] </a:t>
            </a:r>
            <a:endParaRPr lang="en-US" smtClean="0"/>
          </a:p>
          <a:p>
            <a:pPr>
              <a:buNone/>
            </a:pPr>
            <a:r>
              <a:rPr lang="en-US" smtClean="0"/>
              <a:t>	</a:t>
            </a:r>
            <a:r>
              <a:rPr lang="vi-VN" smtClean="0"/>
              <a:t>[tên-máy-tính]   IN  </a:t>
            </a:r>
            <a:r>
              <a:rPr lang="en-US" smtClean="0"/>
              <a:t>CNAME</a:t>
            </a:r>
            <a:r>
              <a:rPr lang="vi-VN" smtClean="0"/>
              <a:t>  [</a:t>
            </a:r>
            <a:r>
              <a:rPr lang="en-US" smtClean="0"/>
              <a:t>tên máy gốc</a:t>
            </a:r>
            <a:r>
              <a:rPr lang="vi-VN" smtClean="0"/>
              <a:t>] </a:t>
            </a:r>
            <a:endParaRPr lang="en-US" smtClean="0"/>
          </a:p>
          <a:p>
            <a:pPr>
              <a:lnSpc>
                <a:spcPct val="80000"/>
              </a:lnSpc>
            </a:pPr>
            <a:r>
              <a:rPr lang="vi-VN" smtClean="0"/>
              <a:t>Ví dụ 1: record A trong tập tin  </a:t>
            </a:r>
            <a:r>
              <a:rPr lang="en-US" smtClean="0"/>
              <a:t>abc.com</a:t>
            </a:r>
            <a:r>
              <a:rPr lang="vi-VN" smtClean="0"/>
              <a:t> </a:t>
            </a:r>
          </a:p>
          <a:p>
            <a:pPr>
              <a:buNone/>
            </a:pPr>
            <a:r>
              <a:rPr lang="en-US" smtClean="0"/>
              <a:t>	</a:t>
            </a:r>
            <a:r>
              <a:rPr lang="vi-VN" smtClean="0"/>
              <a:t>server.</a:t>
            </a:r>
            <a:r>
              <a:rPr lang="en-US" smtClean="0"/>
              <a:t>abc</a:t>
            </a:r>
            <a:r>
              <a:rPr lang="vi-VN" smtClean="0"/>
              <a:t>.com. IN A  172.29.14.1 </a:t>
            </a:r>
          </a:p>
          <a:p>
            <a:pPr>
              <a:buNone/>
            </a:pPr>
            <a:r>
              <a:rPr lang="en-US" smtClean="0"/>
              <a:t>	game</a:t>
            </a:r>
            <a:r>
              <a:rPr lang="vi-VN" smtClean="0"/>
              <a:t>.</a:t>
            </a:r>
            <a:r>
              <a:rPr lang="en-US" smtClean="0"/>
              <a:t>abc</a:t>
            </a:r>
            <a:r>
              <a:rPr lang="vi-VN" smtClean="0"/>
              <a:t>.com.  IN A  172.29.14.4 </a:t>
            </a:r>
            <a:endParaRPr lang="en-US" smtClean="0"/>
          </a:p>
          <a:p>
            <a:pPr>
              <a:buNone/>
            </a:pPr>
            <a:r>
              <a:rPr lang="en-US" smtClean="0"/>
              <a:t>	server1.abc.com IN CNAME game.abc.com</a:t>
            </a:r>
            <a:endParaRPr lang="vi-VN" smtClean="0"/>
          </a:p>
          <a:p>
            <a:r>
              <a:rPr lang="vi-VN" smtClean="0"/>
              <a:t>// Multi-homed hosts </a:t>
            </a:r>
          </a:p>
          <a:p>
            <a:pPr>
              <a:buNone/>
            </a:pPr>
            <a:r>
              <a:rPr lang="en-US" smtClean="0"/>
              <a:t>	</a:t>
            </a:r>
            <a:r>
              <a:rPr lang="vi-VN" smtClean="0"/>
              <a:t>server.</a:t>
            </a:r>
            <a:r>
              <a:rPr lang="en-US" smtClean="0"/>
              <a:t>abc</a:t>
            </a:r>
            <a:r>
              <a:rPr lang="vi-VN" smtClean="0"/>
              <a:t>.com.   IN A  172.29.14.1 </a:t>
            </a:r>
          </a:p>
          <a:p>
            <a:pPr>
              <a:buNone/>
            </a:pPr>
            <a:r>
              <a:rPr lang="en-US" smtClean="0"/>
              <a:t>	</a:t>
            </a:r>
            <a:r>
              <a:rPr lang="vi-VN" smtClean="0"/>
              <a:t>server.</a:t>
            </a:r>
            <a:r>
              <a:rPr lang="en-US" smtClean="0"/>
              <a:t>abc</a:t>
            </a:r>
            <a:r>
              <a:rPr lang="vi-VN" smtClean="0"/>
              <a:t>.com.   IN A  192.253.253.1 </a:t>
            </a:r>
            <a:endParaRPr lang="en-US"/>
          </a:p>
        </p:txBody>
      </p:sp>
      <p:sp>
        <p:nvSpPr>
          <p:cNvPr id="3" name="Title 2"/>
          <p:cNvSpPr>
            <a:spLocks noGrp="1"/>
          </p:cNvSpPr>
          <p:nvPr>
            <p:ph type="title"/>
          </p:nvPr>
        </p:nvSpPr>
        <p:spPr/>
        <p:txBody>
          <a:bodyPr/>
          <a:lstStyle/>
          <a:p>
            <a:r>
              <a:rPr lang="vi-VN" smtClean="0"/>
              <a:t>VI.3.  A và CNAME</a:t>
            </a:r>
            <a:endParaRPr lang="en-US"/>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vi-VN" smtClean="0"/>
              <a:t>Ánh xạ tên máy (hostname) vào địa chỉ IP version 6 </a:t>
            </a:r>
          </a:p>
          <a:p>
            <a:r>
              <a:rPr lang="vi-VN" smtClean="0"/>
              <a:t>Cú pháp: </a:t>
            </a:r>
          </a:p>
          <a:p>
            <a:pPr>
              <a:buNone/>
            </a:pPr>
            <a:r>
              <a:rPr lang="vi-VN" smtClean="0"/>
              <a:t>[tên-máy-tính]   IN  AAAA  [địa-chỉ-IPv6] </a:t>
            </a:r>
          </a:p>
          <a:p>
            <a:r>
              <a:rPr lang="vi-VN" smtClean="0"/>
              <a:t> </a:t>
            </a:r>
            <a:r>
              <a:rPr lang="en-US" smtClean="0"/>
              <a:t>Ví dụ</a:t>
            </a:r>
          </a:p>
          <a:p>
            <a:pPr>
              <a:buNone/>
            </a:pPr>
            <a:r>
              <a:rPr lang="en-US" sz="2800" smtClean="0"/>
              <a:t>Server  IN AAAA 1243:123:456:789:1:2:3:456ab </a:t>
            </a:r>
            <a:endParaRPr lang="en-US" sz="2800"/>
          </a:p>
        </p:txBody>
      </p:sp>
      <p:sp>
        <p:nvSpPr>
          <p:cNvPr id="3" name="Title 2"/>
          <p:cNvSpPr>
            <a:spLocks noGrp="1"/>
          </p:cNvSpPr>
          <p:nvPr>
            <p:ph type="title"/>
          </p:nvPr>
        </p:nvSpPr>
        <p:spPr/>
        <p:txBody>
          <a:bodyPr/>
          <a:lstStyle/>
          <a:p>
            <a:r>
              <a:rPr lang="vi-VN" smtClean="0"/>
              <a:t>VI.4.  AAAA</a:t>
            </a:r>
            <a:endParaRPr lang="en-US"/>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77500" lnSpcReduction="20000"/>
          </a:bodyPr>
          <a:lstStyle/>
          <a:p>
            <a:r>
              <a:rPr lang="vi-VN" smtClean="0"/>
              <a:t>Cung  cấp  cơ  chế  định  vị  dịch  vụ,  Active  Directory  sử  dụng  Resource  Record  này  để  xác  định domain  controllers,  global  catalog  servers,  Lightweight  Directory  Access  Protocol </a:t>
            </a:r>
            <a:r>
              <a:rPr lang="en-US" smtClean="0"/>
              <a:t>-</a:t>
            </a:r>
            <a:r>
              <a:rPr lang="vi-VN" smtClean="0"/>
              <a:t> LDAPservers. </a:t>
            </a:r>
          </a:p>
          <a:p>
            <a:r>
              <a:rPr lang="vi-VN" smtClean="0"/>
              <a:t>Các field trong SVR: </a:t>
            </a:r>
          </a:p>
          <a:p>
            <a:pPr lvl="1"/>
            <a:r>
              <a:rPr lang="vi-VN" smtClean="0"/>
              <a:t>-  Tên dịch vụ service. </a:t>
            </a:r>
          </a:p>
          <a:p>
            <a:pPr lvl="1"/>
            <a:r>
              <a:rPr lang="vi-VN" smtClean="0"/>
              <a:t>-  Giao thức sử dụng. </a:t>
            </a:r>
          </a:p>
          <a:p>
            <a:pPr lvl="1"/>
            <a:r>
              <a:rPr lang="vi-VN" smtClean="0"/>
              <a:t>-  Tên miền (domain name). </a:t>
            </a:r>
          </a:p>
          <a:p>
            <a:pPr lvl="1"/>
            <a:r>
              <a:rPr lang="vi-VN" smtClean="0"/>
              <a:t>-  TTL và class. </a:t>
            </a:r>
          </a:p>
          <a:p>
            <a:pPr lvl="1"/>
            <a:r>
              <a:rPr lang="vi-VN" smtClean="0"/>
              <a:t>-  Priority. </a:t>
            </a:r>
          </a:p>
          <a:p>
            <a:pPr lvl="1"/>
            <a:r>
              <a:rPr lang="vi-VN" smtClean="0"/>
              <a:t>-  Weight (hỗ trợ load balancing). </a:t>
            </a:r>
          </a:p>
          <a:p>
            <a:pPr lvl="1"/>
            <a:r>
              <a:rPr lang="vi-VN" smtClean="0"/>
              <a:t>-  Port của dịch vụ. </a:t>
            </a:r>
          </a:p>
          <a:p>
            <a:pPr lvl="1"/>
            <a:r>
              <a:rPr lang="vi-VN" smtClean="0"/>
              <a:t>-  Target chỉ định FQDN cho  host hỗ trợ dịch vụ. </a:t>
            </a:r>
          </a:p>
          <a:p>
            <a:r>
              <a:rPr lang="vi-VN" smtClean="0"/>
              <a:t>Ví dụ: </a:t>
            </a:r>
          </a:p>
          <a:p>
            <a:pPr>
              <a:buNone/>
            </a:pPr>
            <a:r>
              <a:rPr lang="vi-VN" smtClean="0"/>
              <a:t>_ftp._tcp.</a:t>
            </a:r>
            <a:r>
              <a:rPr lang="en-US" smtClean="0"/>
              <a:t>abc</a:t>
            </a:r>
            <a:r>
              <a:rPr lang="vi-VN" smtClean="0"/>
              <a:t>.com. IN SRV 0 0 21 ftpsvr1.</a:t>
            </a:r>
            <a:r>
              <a:rPr lang="en-US" smtClean="0"/>
              <a:t>abc</a:t>
            </a:r>
            <a:r>
              <a:rPr lang="vi-VN" smtClean="0"/>
              <a:t>.com. </a:t>
            </a:r>
            <a:endParaRPr lang="en-US" smtClean="0"/>
          </a:p>
          <a:p>
            <a:pPr>
              <a:buNone/>
            </a:pPr>
            <a:r>
              <a:rPr lang="en-US" smtClean="0"/>
              <a:t>_ftp._tcp.abc.com. IN SRV 10 0 21 ftpsvr2.abc.com.</a:t>
            </a:r>
            <a:endParaRPr lang="en-US"/>
          </a:p>
        </p:txBody>
      </p:sp>
      <p:sp>
        <p:nvSpPr>
          <p:cNvPr id="3" name="Title 2"/>
          <p:cNvSpPr>
            <a:spLocks noGrp="1"/>
          </p:cNvSpPr>
          <p:nvPr>
            <p:ph type="title"/>
          </p:nvPr>
        </p:nvSpPr>
        <p:spPr/>
        <p:txBody>
          <a:bodyPr/>
          <a:lstStyle/>
          <a:p>
            <a:r>
              <a:rPr lang="vi-VN" smtClean="0"/>
              <a:t>VI.5.  SRV. </a:t>
            </a:r>
            <a:endParaRPr lang="en-US"/>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vi-VN" smtClean="0"/>
              <a:t>DNS  dùng  record MX  trong  việc  chuyển mail  trên mạng  Internet. </a:t>
            </a:r>
            <a:endParaRPr lang="en-US" smtClean="0"/>
          </a:p>
          <a:p>
            <a:r>
              <a:rPr lang="vi-VN" smtClean="0"/>
              <a:t>Khi nhận được mail,  trình chuyển mail  (mailer) sẽ dựa vào record MX để quyết định đường đi của mail. </a:t>
            </a:r>
            <a:endParaRPr lang="en-US" smtClean="0"/>
          </a:p>
          <a:p>
            <a:pPr lvl="1"/>
            <a:r>
              <a:rPr lang="en-US" sz="2400" smtClean="0"/>
              <a:t>Chuyển đến mailbox cục bộ</a:t>
            </a:r>
          </a:p>
          <a:p>
            <a:pPr lvl="1"/>
            <a:r>
              <a:rPr lang="en-US" sz="2400" smtClean="0"/>
              <a:t>Chuyển tiếp mail đến một mail server khác (SMTP)</a:t>
            </a:r>
          </a:p>
          <a:p>
            <a:pPr lvl="1"/>
            <a:r>
              <a:rPr lang="en-US" sz="2400" smtClean="0"/>
              <a:t>Chuyển sang một giao thức chuyển mail khác (UUCP- </a:t>
            </a:r>
            <a:r>
              <a:rPr lang="en-US" sz="2400" b="1" smtClean="0"/>
              <a:t>Unix-to-Unix Copy</a:t>
            </a:r>
            <a:r>
              <a:rPr lang="en-US" sz="2400" smtClean="0"/>
              <a:t>)</a:t>
            </a:r>
          </a:p>
          <a:p>
            <a:endParaRPr lang="en-US" smtClean="0"/>
          </a:p>
        </p:txBody>
      </p:sp>
      <p:sp>
        <p:nvSpPr>
          <p:cNvPr id="3" name="Title 2"/>
          <p:cNvSpPr>
            <a:spLocks noGrp="1"/>
          </p:cNvSpPr>
          <p:nvPr>
            <p:ph type="title"/>
          </p:nvPr>
        </p:nvSpPr>
        <p:spPr/>
        <p:txBody>
          <a:bodyPr/>
          <a:lstStyle/>
          <a:p>
            <a:r>
              <a:rPr lang="vi-VN" smtClean="0"/>
              <a:t>VI.6.  MX (Mail Exchange). </a:t>
            </a:r>
            <a:endParaRPr lang="en-US"/>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mtClean="0"/>
              <a:t>Cú pháp record MX: </a:t>
            </a:r>
          </a:p>
          <a:p>
            <a:pPr>
              <a:buNone/>
            </a:pPr>
            <a:r>
              <a:rPr lang="en-US" smtClean="0"/>
              <a:t>[domain_name]  IN  MX  [priority]  [mail-host] </a:t>
            </a:r>
          </a:p>
          <a:p>
            <a:pPr>
              <a:buNone/>
            </a:pPr>
            <a:r>
              <a:rPr lang="en-US" smtClean="0"/>
              <a:t>[priority]: thứ tự ưu tiên </a:t>
            </a:r>
            <a:r>
              <a:rPr lang="vi-VN" smtClean="0"/>
              <a:t>16-bit (0-65535) </a:t>
            </a:r>
            <a:endParaRPr lang="en-US" smtClean="0"/>
          </a:p>
          <a:p>
            <a:r>
              <a:rPr lang="en-US" smtClean="0"/>
              <a:t>Ví dụ record MX sau : </a:t>
            </a:r>
          </a:p>
          <a:p>
            <a:pPr>
              <a:buNone/>
            </a:pPr>
            <a:r>
              <a:rPr lang="en-US" smtClean="0"/>
              <a:t>abc.com.  IN  MX  10  mailserver.abc.com. </a:t>
            </a:r>
          </a:p>
          <a:p>
            <a:pPr>
              <a:buNone/>
            </a:pPr>
            <a:r>
              <a:rPr lang="en-US" smtClean="0"/>
              <a:t>abc.com.  IN  MX  15  backup.abc.com</a:t>
            </a:r>
            <a:endParaRPr lang="en-US"/>
          </a:p>
        </p:txBody>
      </p:sp>
      <p:sp>
        <p:nvSpPr>
          <p:cNvPr id="3" name="Title 2"/>
          <p:cNvSpPr>
            <a:spLocks noGrp="1"/>
          </p:cNvSpPr>
          <p:nvPr>
            <p:ph type="title"/>
          </p:nvPr>
        </p:nvSpPr>
        <p:spPr/>
        <p:txBody>
          <a:bodyPr/>
          <a:lstStyle/>
          <a:p>
            <a:r>
              <a:rPr lang="vi-VN" smtClean="0"/>
              <a:t>VI.6.  MX (Mail Exchange). </a:t>
            </a:r>
            <a:endParaRPr lang="en-US"/>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vi-VN" smtClean="0"/>
              <a:t>Record PTR (pointer) dùng để ánh xạ địa chỉ IP thành Hostname. </a:t>
            </a:r>
          </a:p>
          <a:p>
            <a:r>
              <a:rPr lang="vi-VN" smtClean="0"/>
              <a:t>Cú pháp: </a:t>
            </a:r>
          </a:p>
          <a:p>
            <a:pPr>
              <a:buNone/>
            </a:pPr>
            <a:r>
              <a:rPr lang="vi-VN" smtClean="0"/>
              <a:t>[Host-ID.{Reverse_Lookup_Zone}]  IN  PTR  [tên-máy-tính] </a:t>
            </a:r>
          </a:p>
          <a:p>
            <a:r>
              <a:rPr lang="vi-VN" smtClean="0"/>
              <a:t>Ví dụ: </a:t>
            </a:r>
          </a:p>
          <a:p>
            <a:pPr>
              <a:buNone/>
            </a:pPr>
            <a:r>
              <a:rPr lang="vi-VN" sz="2800" smtClean="0"/>
              <a:t>Các record PTR cho các host</a:t>
            </a:r>
            <a:r>
              <a:rPr lang="en-US" sz="2800" smtClean="0"/>
              <a:t> </a:t>
            </a:r>
            <a:r>
              <a:rPr lang="vi-VN" sz="2800" smtClean="0"/>
              <a:t>trong mạng 192.249.249: </a:t>
            </a:r>
          </a:p>
          <a:p>
            <a:pPr>
              <a:buNone/>
            </a:pPr>
            <a:r>
              <a:rPr lang="vi-VN" sz="2800" smtClean="0"/>
              <a:t>1.14.29.172.in-addr.arpa.  IN PTR server.</a:t>
            </a:r>
            <a:r>
              <a:rPr lang="en-US" sz="2800" smtClean="0"/>
              <a:t>abc</a:t>
            </a:r>
            <a:r>
              <a:rPr lang="vi-VN" sz="2800" smtClean="0"/>
              <a:t>.com. </a:t>
            </a:r>
          </a:p>
          <a:p>
            <a:pPr>
              <a:buNone/>
            </a:pPr>
            <a:r>
              <a:rPr lang="vi-VN" smtClean="0"/>
              <a:t> </a:t>
            </a:r>
            <a:endParaRPr lang="en-US"/>
          </a:p>
        </p:txBody>
      </p:sp>
      <p:sp>
        <p:nvSpPr>
          <p:cNvPr id="3" name="Title 2"/>
          <p:cNvSpPr>
            <a:spLocks noGrp="1"/>
          </p:cNvSpPr>
          <p:nvPr>
            <p:ph type="title"/>
          </p:nvPr>
        </p:nvSpPr>
        <p:spPr/>
        <p:txBody>
          <a:bodyPr/>
          <a:lstStyle/>
          <a:p>
            <a:r>
              <a:rPr lang="vi-VN" smtClean="0"/>
              <a:t>VI.7.  PTR (Pointer)</a:t>
            </a:r>
            <a:endParaRPr lang="en-US"/>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sz="2800" smtClean="0"/>
              <a:t>Yêu cầu: có IP tĩnh</a:t>
            </a:r>
          </a:p>
          <a:p>
            <a:r>
              <a:rPr lang="en-US" sz="2800" smtClean="0"/>
              <a:t>Chọn Start | Control Panel | Add/Remove Programs |  Add or Remove Windows Components | Windows components</a:t>
            </a:r>
            <a:r>
              <a:rPr lang="en-US" smtClean="0"/>
              <a:t>.</a:t>
            </a:r>
          </a:p>
        </p:txBody>
      </p:sp>
      <p:sp>
        <p:nvSpPr>
          <p:cNvPr id="3" name="Title 2"/>
          <p:cNvSpPr>
            <a:spLocks noGrp="1"/>
          </p:cNvSpPr>
          <p:nvPr>
            <p:ph type="title"/>
          </p:nvPr>
        </p:nvSpPr>
        <p:spPr>
          <a:xfrm>
            <a:off x="0" y="76200"/>
            <a:ext cx="9144000" cy="609600"/>
          </a:xfrm>
        </p:spPr>
        <p:txBody>
          <a:bodyPr/>
          <a:lstStyle/>
          <a:p>
            <a:r>
              <a:rPr lang="vi-VN" sz="3600" smtClean="0"/>
              <a:t> VII.  Cài đặt dịch vụ DNS. </a:t>
            </a:r>
            <a:endParaRPr lang="en-US" sz="3600" smtClean="0"/>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smtClean="0"/>
              <a:t>Vào Server Manager\Roles</a:t>
            </a:r>
          </a:p>
        </p:txBody>
      </p:sp>
      <p:sp>
        <p:nvSpPr>
          <p:cNvPr id="3" name="Title 2"/>
          <p:cNvSpPr>
            <a:spLocks noGrp="1"/>
          </p:cNvSpPr>
          <p:nvPr>
            <p:ph type="title"/>
          </p:nvPr>
        </p:nvSpPr>
        <p:spPr>
          <a:xfrm>
            <a:off x="0" y="76200"/>
            <a:ext cx="9144000" cy="609600"/>
          </a:xfrm>
        </p:spPr>
        <p:txBody>
          <a:bodyPr/>
          <a:lstStyle/>
          <a:p>
            <a:r>
              <a:rPr lang="vi-VN" sz="3600" smtClean="0"/>
              <a:t> VII.  Cài đặt dịch vụ DNS. </a:t>
            </a:r>
            <a:endParaRPr lang="en-US" sz="3600" smtClean="0"/>
          </a:p>
        </p:txBody>
      </p:sp>
      <p:pic>
        <p:nvPicPr>
          <p:cNvPr id="6" name="Picture 2"/>
          <p:cNvPicPr>
            <a:picLocks noChangeAspect="1" noChangeArrowheads="1"/>
          </p:cNvPicPr>
          <p:nvPr/>
        </p:nvPicPr>
        <p:blipFill>
          <a:blip r:embed="rId2"/>
          <a:srcRect/>
          <a:stretch>
            <a:fillRect/>
          </a:stretch>
        </p:blipFill>
        <p:spPr bwMode="auto">
          <a:xfrm>
            <a:off x="1600200" y="1352783"/>
            <a:ext cx="7086600" cy="533661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52400" y="838200"/>
            <a:ext cx="4038600" cy="5334000"/>
          </a:xfrm>
        </p:spPr>
        <p:txBody>
          <a:bodyPr>
            <a:normAutofit/>
          </a:bodyPr>
          <a:lstStyle/>
          <a:p>
            <a:r>
              <a:rPr lang="en-US" sz="2500" smtClean="0">
                <a:solidFill>
                  <a:srgbClr val="00B050"/>
                </a:solidFill>
              </a:rPr>
              <a:t>Start </a:t>
            </a:r>
            <a:r>
              <a:rPr lang="en-US" sz="2500" smtClean="0">
                <a:solidFill>
                  <a:srgbClr val="00B050"/>
                </a:solidFill>
                <a:sym typeface="Wingdings" pitchFamily="2" charset="2"/>
              </a:rPr>
              <a:t></a:t>
            </a:r>
            <a:r>
              <a:rPr lang="en-US" sz="2500" smtClean="0">
                <a:solidFill>
                  <a:srgbClr val="00B050"/>
                </a:solidFill>
              </a:rPr>
              <a:t> Programs </a:t>
            </a:r>
            <a:r>
              <a:rPr lang="en-US" sz="2500" smtClean="0">
                <a:solidFill>
                  <a:srgbClr val="00B050"/>
                </a:solidFill>
                <a:sym typeface="Wingdings" pitchFamily="2" charset="2"/>
              </a:rPr>
              <a:t></a:t>
            </a:r>
            <a:r>
              <a:rPr lang="en-US" sz="2500" smtClean="0">
                <a:solidFill>
                  <a:srgbClr val="00B050"/>
                </a:solidFill>
              </a:rPr>
              <a:t> Administrative Tools </a:t>
            </a:r>
            <a:r>
              <a:rPr lang="en-US" sz="2500" smtClean="0">
                <a:solidFill>
                  <a:srgbClr val="00B050"/>
                </a:solidFill>
                <a:sym typeface="Wingdings" pitchFamily="2" charset="2"/>
              </a:rPr>
              <a:t></a:t>
            </a:r>
            <a:r>
              <a:rPr lang="en-US" sz="2500" smtClean="0">
                <a:solidFill>
                  <a:srgbClr val="00B050"/>
                </a:solidFill>
              </a:rPr>
              <a:t> DNS</a:t>
            </a:r>
            <a:r>
              <a:rPr lang="en-US" sz="2500" smtClean="0"/>
              <a:t>. </a:t>
            </a:r>
          </a:p>
          <a:p>
            <a:r>
              <a:rPr lang="en-US" sz="2500" smtClean="0"/>
              <a:t>Nếu ta không cài DNS cùng với quá trình cài </a:t>
            </a:r>
            <a:r>
              <a:rPr lang="vi-VN" sz="2500" smtClean="0"/>
              <a:t>đặt Active Directory thì không có zone nào được cấu hình mặc định. Một số thành phần cần tham</a:t>
            </a:r>
            <a:r>
              <a:rPr lang="en-US" sz="2500" smtClean="0"/>
              <a:t> khảo trong DNS Console</a:t>
            </a:r>
          </a:p>
          <a:p>
            <a:endParaRPr lang="en-US" sz="2500" smtClean="0"/>
          </a:p>
        </p:txBody>
      </p:sp>
      <p:sp>
        <p:nvSpPr>
          <p:cNvPr id="3" name="Title 2"/>
          <p:cNvSpPr>
            <a:spLocks noGrp="1"/>
          </p:cNvSpPr>
          <p:nvPr>
            <p:ph type="title"/>
          </p:nvPr>
        </p:nvSpPr>
        <p:spPr>
          <a:xfrm>
            <a:off x="0" y="76200"/>
            <a:ext cx="9144000" cy="609600"/>
          </a:xfrm>
        </p:spPr>
        <p:txBody>
          <a:bodyPr/>
          <a:lstStyle/>
          <a:p>
            <a:r>
              <a:rPr lang="vi-VN" sz="3600" smtClean="0"/>
              <a:t> VII.  Cài đặt dịch vụ DNS. </a:t>
            </a:r>
            <a:endParaRPr lang="en-US" sz="3600" smtClean="0"/>
          </a:p>
        </p:txBody>
      </p:sp>
      <p:pic>
        <p:nvPicPr>
          <p:cNvPr id="5" name="Picture 2"/>
          <p:cNvPicPr>
            <a:picLocks noChangeAspect="1" noChangeArrowheads="1"/>
          </p:cNvPicPr>
          <p:nvPr/>
        </p:nvPicPr>
        <p:blipFill>
          <a:blip r:embed="rId2"/>
          <a:srcRect/>
          <a:stretch>
            <a:fillRect/>
          </a:stretch>
        </p:blipFill>
        <p:spPr bwMode="auto">
          <a:xfrm>
            <a:off x="4038600" y="1066800"/>
            <a:ext cx="7696200" cy="527653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marL="623887" indent="-514350">
              <a:buAutoNum type="arabicPeriod"/>
            </a:pPr>
            <a:r>
              <a:rPr lang="vi-VN" smtClean="0"/>
              <a:t>Tạo </a:t>
            </a:r>
            <a:r>
              <a:rPr lang="en-US" smtClean="0"/>
              <a:t>Forward</a:t>
            </a:r>
            <a:r>
              <a:rPr lang="vi-VN" smtClean="0"/>
              <a:t> Lookup Zone</a:t>
            </a:r>
            <a:r>
              <a:rPr lang="en-US" smtClean="0"/>
              <a:t>:</a:t>
            </a:r>
          </a:p>
          <a:p>
            <a:pPr marL="623887" indent="-514350">
              <a:buAutoNum type="arabicPeriod"/>
            </a:pPr>
            <a:r>
              <a:rPr lang="vi-VN" smtClean="0"/>
              <a:t>Tạo Reverse Lookup Zone. </a:t>
            </a:r>
            <a:endParaRPr lang="en-US" smtClean="0"/>
          </a:p>
          <a:p>
            <a:pPr marL="623887" indent="-514350">
              <a:buAutoNum type="arabicPeriod"/>
            </a:pPr>
            <a:r>
              <a:rPr lang="vi-VN" smtClean="0"/>
              <a:t>Tạo Resource Record(RR)</a:t>
            </a:r>
            <a:endParaRPr lang="en-US" smtClean="0"/>
          </a:p>
          <a:p>
            <a:pPr marL="623887" indent="-514350">
              <a:buAutoNum type="arabicPeriod"/>
            </a:pPr>
            <a:r>
              <a:rPr lang="vi-VN" smtClean="0"/>
              <a:t>Kiểm tra hoạt động dịch vụ DNS.  </a:t>
            </a:r>
          </a:p>
          <a:p>
            <a:pPr marL="623887" indent="-514350">
              <a:buFont typeface="+mj-lt"/>
              <a:buAutoNum type="arabicPeriod"/>
            </a:pPr>
            <a:r>
              <a:rPr lang="vi-VN" smtClean="0"/>
              <a:t>Tạo miền con(Subdomain).  </a:t>
            </a:r>
          </a:p>
          <a:p>
            <a:pPr marL="623887" indent="-514350">
              <a:buFont typeface="+mj-lt"/>
              <a:buAutoNum type="arabicPeriod"/>
            </a:pPr>
            <a:r>
              <a:rPr lang="vi-VN" smtClean="0"/>
              <a:t>Ủy quyền cho miền con. </a:t>
            </a:r>
          </a:p>
          <a:p>
            <a:pPr marL="623887" indent="-514350">
              <a:buFont typeface="+mj-lt"/>
              <a:buAutoNum type="arabicPeriod"/>
            </a:pPr>
            <a:r>
              <a:rPr lang="en-US" smtClean="0"/>
              <a:t>T</a:t>
            </a:r>
            <a:r>
              <a:rPr lang="vi-VN" smtClean="0"/>
              <a:t>ạo Secondary Zone.  </a:t>
            </a:r>
          </a:p>
          <a:p>
            <a:pPr marL="623887" indent="-514350">
              <a:buFont typeface="+mj-lt"/>
              <a:buAutoNum type="arabicPeriod"/>
            </a:pPr>
            <a:r>
              <a:rPr lang="vi-VN" smtClean="0"/>
              <a:t>Tạo zone tích hợp với Active Directory.  </a:t>
            </a:r>
          </a:p>
          <a:p>
            <a:pPr marL="623887" indent="-514350">
              <a:buFont typeface="+mj-lt"/>
              <a:buAutoNum type="arabicPeriod"/>
            </a:pPr>
            <a:r>
              <a:rPr lang="vi-VN" smtClean="0"/>
              <a:t>Thay đổi một số tùy chọn trên Name Server</a:t>
            </a:r>
            <a:endParaRPr lang="en-US" smtClean="0"/>
          </a:p>
          <a:p>
            <a:pPr marL="623887" indent="-514350">
              <a:buFont typeface="+mj-lt"/>
              <a:buAutoNum type="arabicPeriod"/>
            </a:pPr>
            <a:r>
              <a:rPr lang="vi-VN" smtClean="0"/>
              <a:t>Theo dõi sự kiện log trong DNS.</a:t>
            </a:r>
            <a:endParaRPr lang="en-US"/>
          </a:p>
        </p:txBody>
      </p:sp>
      <p:sp>
        <p:nvSpPr>
          <p:cNvPr id="3" name="Title 2"/>
          <p:cNvSpPr>
            <a:spLocks noGrp="1"/>
          </p:cNvSpPr>
          <p:nvPr>
            <p:ph type="title"/>
          </p:nvPr>
        </p:nvSpPr>
        <p:spPr>
          <a:xfrm>
            <a:off x="0" y="76200"/>
            <a:ext cx="9144000" cy="609600"/>
          </a:xfrm>
        </p:spPr>
        <p:txBody>
          <a:bodyPr/>
          <a:lstStyle/>
          <a:p>
            <a:r>
              <a:rPr lang="vi-VN" sz="3600" smtClean="0"/>
              <a:t> VII</a:t>
            </a:r>
            <a:r>
              <a:rPr lang="en-US" sz="3600" smtClean="0"/>
              <a:t>I</a:t>
            </a:r>
            <a:r>
              <a:rPr lang="vi-VN" sz="3600" smtClean="0"/>
              <a:t>.  </a:t>
            </a:r>
            <a:r>
              <a:rPr lang="en-US" sz="3600" smtClean="0"/>
              <a:t>C</a:t>
            </a:r>
            <a:r>
              <a:rPr lang="vi-VN" sz="3600" smtClean="0"/>
              <a:t>ấu hình dịch vụ DNS. </a:t>
            </a:r>
            <a:endParaRPr lang="en-US" sz="3600" smtClean="0"/>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a:p>
        </p:txBody>
      </p:sp>
      <p:sp>
        <p:nvSpPr>
          <p:cNvPr id="4" name="Text Box 3"/>
          <p:cNvSpPr txBox="1">
            <a:spLocks noChangeArrowheads="1"/>
          </p:cNvSpPr>
          <p:nvPr/>
        </p:nvSpPr>
        <p:spPr bwMode="auto">
          <a:xfrm>
            <a:off x="2305050" y="1095375"/>
            <a:ext cx="3510898" cy="323165"/>
          </a:xfrm>
          <a:prstGeom prst="rect">
            <a:avLst/>
          </a:prstGeom>
          <a:noFill/>
          <a:ln w="9525" algn="ctr">
            <a:noFill/>
            <a:miter lim="800000"/>
            <a:headEnd/>
            <a:tailEnd/>
          </a:ln>
        </p:spPr>
        <p:txBody>
          <a:bodyPr wrap="none">
            <a:spAutoFit/>
          </a:bodyPr>
          <a:lstStyle/>
          <a:p>
            <a:r>
              <a:rPr lang="en-US" sz="1500"/>
              <a:t>Namespace: training.nwtraders.msft</a:t>
            </a:r>
          </a:p>
        </p:txBody>
      </p:sp>
      <p:sp>
        <p:nvSpPr>
          <p:cNvPr id="5" name="Oval 4"/>
          <p:cNvSpPr>
            <a:spLocks noChangeArrowheads="1"/>
          </p:cNvSpPr>
          <p:nvPr/>
        </p:nvSpPr>
        <p:spPr bwMode="auto">
          <a:xfrm>
            <a:off x="1457325" y="3294063"/>
            <a:ext cx="4056063" cy="2325687"/>
          </a:xfrm>
          <a:prstGeom prst="ellipse">
            <a:avLst/>
          </a:prstGeom>
          <a:gradFill rotWithShape="1">
            <a:gsLst>
              <a:gs pos="0">
                <a:srgbClr val="FFFFFF"/>
              </a:gs>
              <a:gs pos="100000">
                <a:srgbClr val="EEEFD7"/>
              </a:gs>
            </a:gsLst>
            <a:path path="shape">
              <a:fillToRect l="50000" t="50000" r="50000" b="50000"/>
            </a:path>
          </a:gradFill>
          <a:ln w="9525" algn="ctr">
            <a:solidFill>
              <a:srgbClr val="333333"/>
            </a:solidFill>
            <a:round/>
            <a:headEnd/>
            <a:tailEnd/>
          </a:ln>
          <a:effectLst>
            <a:outerShdw dist="35921" dir="2700000" algn="ctr" rotWithShape="0">
              <a:srgbClr val="ADADAD"/>
            </a:outerShdw>
          </a:effectLst>
        </p:spPr>
        <p:txBody>
          <a:bodyPr wrap="none" anchor="ctr"/>
          <a:lstStyle/>
          <a:p>
            <a:pPr>
              <a:defRPr/>
            </a:pPr>
            <a:endParaRPr lang="en-US" sz="1500" b="0">
              <a:latin typeface="Arial" charset="0"/>
            </a:endParaRPr>
          </a:p>
        </p:txBody>
      </p:sp>
      <p:sp>
        <p:nvSpPr>
          <p:cNvPr id="6" name="AutoShape 5"/>
          <p:cNvSpPr>
            <a:spLocks noChangeArrowheads="1"/>
          </p:cNvSpPr>
          <p:nvPr/>
        </p:nvSpPr>
        <p:spPr bwMode="auto">
          <a:xfrm>
            <a:off x="984250" y="5588000"/>
            <a:ext cx="1511300" cy="311150"/>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anchor="ctr"/>
          <a:lstStyle/>
          <a:p>
            <a:pPr>
              <a:defRPr/>
            </a:pPr>
            <a:r>
              <a:rPr lang="en-US" sz="1500" b="0"/>
              <a:t>DNS Client1</a:t>
            </a:r>
          </a:p>
        </p:txBody>
      </p:sp>
      <p:pic>
        <p:nvPicPr>
          <p:cNvPr id="7" name="Picture 6" descr="Computer_DesktopComputerSansKeyboard01"/>
          <p:cNvPicPr>
            <a:picLocks noChangeAspect="1" noChangeArrowheads="1"/>
          </p:cNvPicPr>
          <p:nvPr/>
        </p:nvPicPr>
        <p:blipFill>
          <a:blip r:embed="rId2" cstate="print"/>
          <a:srcRect/>
          <a:stretch>
            <a:fillRect/>
          </a:stretch>
        </p:blipFill>
        <p:spPr bwMode="auto">
          <a:xfrm>
            <a:off x="3997325" y="4816475"/>
            <a:ext cx="850900" cy="1038225"/>
          </a:xfrm>
          <a:prstGeom prst="rect">
            <a:avLst/>
          </a:prstGeom>
          <a:noFill/>
          <a:ln w="9525">
            <a:noFill/>
            <a:miter lim="800000"/>
            <a:headEnd/>
            <a:tailEnd/>
          </a:ln>
        </p:spPr>
      </p:pic>
      <p:sp>
        <p:nvSpPr>
          <p:cNvPr id="8" name="AutoShape 7"/>
          <p:cNvSpPr>
            <a:spLocks noChangeArrowheads="1"/>
          </p:cNvSpPr>
          <p:nvPr/>
        </p:nvSpPr>
        <p:spPr bwMode="auto">
          <a:xfrm>
            <a:off x="4089400" y="5861050"/>
            <a:ext cx="1511300" cy="311150"/>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anchor="ctr"/>
          <a:lstStyle/>
          <a:p>
            <a:pPr>
              <a:defRPr/>
            </a:pPr>
            <a:r>
              <a:rPr lang="en-US" sz="1500" b="0"/>
              <a:t>DNS Client2</a:t>
            </a:r>
          </a:p>
        </p:txBody>
      </p:sp>
      <p:pic>
        <p:nvPicPr>
          <p:cNvPr id="9" name="Picture 8" descr="Computer_DesktopComputerSansKeyboard01"/>
          <p:cNvPicPr>
            <a:picLocks noChangeAspect="1" noChangeArrowheads="1"/>
          </p:cNvPicPr>
          <p:nvPr/>
        </p:nvPicPr>
        <p:blipFill>
          <a:blip r:embed="rId2" cstate="print"/>
          <a:srcRect/>
          <a:stretch>
            <a:fillRect/>
          </a:stretch>
        </p:blipFill>
        <p:spPr bwMode="auto">
          <a:xfrm>
            <a:off x="5194300" y="4173538"/>
            <a:ext cx="850900" cy="1038225"/>
          </a:xfrm>
          <a:prstGeom prst="rect">
            <a:avLst/>
          </a:prstGeom>
          <a:noFill/>
          <a:ln w="9525">
            <a:noFill/>
            <a:miter lim="800000"/>
            <a:headEnd/>
            <a:tailEnd/>
          </a:ln>
        </p:spPr>
      </p:pic>
      <p:sp>
        <p:nvSpPr>
          <p:cNvPr id="10" name="AutoShape 9"/>
          <p:cNvSpPr>
            <a:spLocks noChangeArrowheads="1"/>
          </p:cNvSpPr>
          <p:nvPr/>
        </p:nvSpPr>
        <p:spPr bwMode="auto">
          <a:xfrm>
            <a:off x="5565775" y="5165725"/>
            <a:ext cx="1539875" cy="311150"/>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anchor="ctr"/>
          <a:lstStyle/>
          <a:p>
            <a:pPr>
              <a:defRPr/>
            </a:pPr>
            <a:r>
              <a:rPr lang="en-US" sz="1500" b="0"/>
              <a:t>DNS Client3</a:t>
            </a:r>
          </a:p>
        </p:txBody>
      </p:sp>
      <p:sp>
        <p:nvSpPr>
          <p:cNvPr id="11" name="AutoShape 10"/>
          <p:cNvSpPr>
            <a:spLocks noChangeArrowheads="1"/>
          </p:cNvSpPr>
          <p:nvPr/>
        </p:nvSpPr>
        <p:spPr bwMode="auto">
          <a:xfrm>
            <a:off x="990600" y="1989138"/>
            <a:ext cx="2197100" cy="595312"/>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nSpc>
                <a:spcPct val="85000"/>
              </a:lnSpc>
              <a:defRPr/>
            </a:pPr>
            <a:r>
              <a:rPr lang="en-US" sz="1500" b="0"/>
              <a:t>DNS Server Authorized</a:t>
            </a:r>
          </a:p>
          <a:p>
            <a:pPr>
              <a:lnSpc>
                <a:spcPct val="85000"/>
              </a:lnSpc>
              <a:defRPr/>
            </a:pPr>
            <a:r>
              <a:rPr lang="en-US" sz="1500" b="0"/>
              <a:t>for training</a:t>
            </a:r>
          </a:p>
        </p:txBody>
      </p:sp>
      <p:sp>
        <p:nvSpPr>
          <p:cNvPr id="12" name="Freeform 11"/>
          <p:cNvSpPr>
            <a:spLocks/>
          </p:cNvSpPr>
          <p:nvPr/>
        </p:nvSpPr>
        <p:spPr bwMode="auto">
          <a:xfrm>
            <a:off x="3108325" y="1814513"/>
            <a:ext cx="792163" cy="1989137"/>
          </a:xfrm>
          <a:custGeom>
            <a:avLst/>
            <a:gdLst>
              <a:gd name="T0" fmla="*/ 0 w 499"/>
              <a:gd name="T1" fmla="*/ 1065 h 1253"/>
              <a:gd name="T2" fmla="*/ 388 w 499"/>
              <a:gd name="T3" fmla="*/ 0 h 1253"/>
              <a:gd name="T4" fmla="*/ 499 w 499"/>
              <a:gd name="T5" fmla="*/ 1253 h 1253"/>
              <a:gd name="T6" fmla="*/ 0 w 499"/>
              <a:gd name="T7" fmla="*/ 1065 h 1253"/>
              <a:gd name="T8" fmla="*/ 0 60000 65536"/>
              <a:gd name="T9" fmla="*/ 0 60000 65536"/>
              <a:gd name="T10" fmla="*/ 0 60000 65536"/>
              <a:gd name="T11" fmla="*/ 0 60000 65536"/>
              <a:gd name="T12" fmla="*/ 0 w 499"/>
              <a:gd name="T13" fmla="*/ 0 h 1253"/>
              <a:gd name="T14" fmla="*/ 499 w 499"/>
              <a:gd name="T15" fmla="*/ 1253 h 1253"/>
            </a:gdLst>
            <a:ahLst/>
            <a:cxnLst>
              <a:cxn ang="T8">
                <a:pos x="T0" y="T1"/>
              </a:cxn>
              <a:cxn ang="T9">
                <a:pos x="T2" y="T3"/>
              </a:cxn>
              <a:cxn ang="T10">
                <a:pos x="T4" y="T5"/>
              </a:cxn>
              <a:cxn ang="T11">
                <a:pos x="T6" y="T7"/>
              </a:cxn>
            </a:cxnLst>
            <a:rect l="T12" t="T13" r="T14" b="T15"/>
            <a:pathLst>
              <a:path w="499" h="1253">
                <a:moveTo>
                  <a:pt x="0" y="1065"/>
                </a:moveTo>
                <a:lnTo>
                  <a:pt x="388" y="0"/>
                </a:lnTo>
                <a:lnTo>
                  <a:pt x="499" y="1253"/>
                </a:lnTo>
                <a:lnTo>
                  <a:pt x="0" y="1065"/>
                </a:lnTo>
                <a:close/>
              </a:path>
            </a:pathLst>
          </a:custGeom>
          <a:solidFill>
            <a:schemeClr val="accent2">
              <a:alpha val="50195"/>
            </a:schemeClr>
          </a:solidFill>
          <a:ln w="9525">
            <a:noFill/>
            <a:round/>
            <a:headEnd/>
            <a:tailEnd/>
          </a:ln>
        </p:spPr>
        <p:txBody>
          <a:bodyPr anchor="ctr"/>
          <a:lstStyle/>
          <a:p>
            <a:endParaRPr lang="en-US" sz="1500" b="0"/>
          </a:p>
        </p:txBody>
      </p:sp>
      <p:graphicFrame>
        <p:nvGraphicFramePr>
          <p:cNvPr id="13" name="Group 62"/>
          <p:cNvGraphicFramePr>
            <a:graphicFrameLocks noGrp="1"/>
          </p:cNvGraphicFramePr>
          <p:nvPr/>
        </p:nvGraphicFramePr>
        <p:xfrm>
          <a:off x="3575050" y="1716088"/>
          <a:ext cx="4903788" cy="2309178"/>
        </p:xfrm>
        <a:graphic>
          <a:graphicData uri="http://schemas.openxmlformats.org/drawingml/2006/table">
            <a:tbl>
              <a:tblPr/>
              <a:tblGrid>
                <a:gridCol w="930275">
                  <a:extLst>
                    <a:ext uri="{9D8B030D-6E8A-4147-A177-3AD203B41FA5}">
                      <a16:colId xmlns:a16="http://schemas.microsoft.com/office/drawing/2014/main" val="20000"/>
                    </a:ext>
                  </a:extLst>
                </a:gridCol>
                <a:gridCol w="1303338">
                  <a:extLst>
                    <a:ext uri="{9D8B030D-6E8A-4147-A177-3AD203B41FA5}">
                      <a16:colId xmlns:a16="http://schemas.microsoft.com/office/drawing/2014/main" val="20001"/>
                    </a:ext>
                  </a:extLst>
                </a:gridCol>
                <a:gridCol w="1341437">
                  <a:extLst>
                    <a:ext uri="{9D8B030D-6E8A-4147-A177-3AD203B41FA5}">
                      <a16:colId xmlns:a16="http://schemas.microsoft.com/office/drawing/2014/main" val="20002"/>
                    </a:ext>
                  </a:extLst>
                </a:gridCol>
                <a:gridCol w="1328738">
                  <a:extLst>
                    <a:ext uri="{9D8B030D-6E8A-4147-A177-3AD203B41FA5}">
                      <a16:colId xmlns:a16="http://schemas.microsoft.com/office/drawing/2014/main" val="20003"/>
                    </a:ext>
                  </a:extLst>
                </a:gridCol>
              </a:tblGrid>
              <a:tr h="303213">
                <a:tc row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Narrow" pitchFamily="34" charset="0"/>
                        </a:rPr>
                        <a:t>Forward zone</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E8F6E4"/>
                    </a:solidFill>
                  </a:tcPr>
                </a:tc>
                <a:tc row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Narrow" pitchFamily="34" charset="0"/>
                        </a:rPr>
                        <a:t>Training</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E8F6E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chemeClr val="tx1"/>
                          </a:solidFill>
                          <a:effectLst/>
                          <a:latin typeface="Arial Narrow" pitchFamily="34" charset="0"/>
                        </a:rPr>
                        <a:t>DNS Client1</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E8F6E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chemeClr val="tx1"/>
                          </a:solidFill>
                          <a:effectLst/>
                          <a:latin typeface="Arial Narrow" pitchFamily="34" charset="0"/>
                        </a:rPr>
                        <a:t>192.168.2.45</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E8F6E4"/>
                    </a:solidFill>
                  </a:tcPr>
                </a:tc>
                <a:extLst>
                  <a:ext uri="{0D108BD9-81ED-4DB2-BD59-A6C34878D82A}">
                    <a16:rowId xmlns:a16="http://schemas.microsoft.com/office/drawing/2014/main" val="10000"/>
                  </a:ext>
                </a:extLst>
              </a:tr>
              <a:tr h="347663">
                <a:tc vMerge="1">
                  <a:txBody>
                    <a:bodyPr/>
                    <a:lstStyle/>
                    <a:p>
                      <a:endParaRPr lang="en-US"/>
                    </a:p>
                  </a:txBody>
                  <a:tcPr/>
                </a:tc>
                <a:tc vMerge="1">
                  <a:txBody>
                    <a:bodyPr/>
                    <a:lstStyle/>
                    <a:p>
                      <a:endParaRPr lang="en-US"/>
                    </a:p>
                  </a:txBody>
                  <a:tcPr/>
                </a:tc>
                <a:tc>
                  <a:txBody>
                    <a:bodyPr/>
                    <a:lstStyle/>
                    <a:p>
                      <a:pPr marL="177800" marR="0" lvl="0" indent="-17780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sz="1800" b="1" i="0" u="none" strike="noStrike" cap="none" normalizeH="0" baseline="0" smtClean="0">
                          <a:ln>
                            <a:noFill/>
                          </a:ln>
                          <a:solidFill>
                            <a:schemeClr val="tx1"/>
                          </a:solidFill>
                          <a:effectLst/>
                          <a:latin typeface="Arial Narrow" pitchFamily="34" charset="0"/>
                        </a:rPr>
                        <a:t>DNS Client2</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E8F6E4"/>
                    </a:solidFill>
                  </a:tcPr>
                </a:tc>
                <a:tc>
                  <a:txBody>
                    <a:bodyPr/>
                    <a:lstStyle/>
                    <a:p>
                      <a:pPr marL="177800" marR="0" lvl="0" indent="-17780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chemeClr val="tx1"/>
                          </a:solidFill>
                          <a:effectLst/>
                          <a:latin typeface="Arial Narrow" pitchFamily="34" charset="0"/>
                        </a:rPr>
                        <a:t>192.168.2.46</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E8F6E4"/>
                    </a:solidFill>
                  </a:tcPr>
                </a:tc>
                <a:extLst>
                  <a:ext uri="{0D108BD9-81ED-4DB2-BD59-A6C34878D82A}">
                    <a16:rowId xmlns:a16="http://schemas.microsoft.com/office/drawing/2014/main" val="10001"/>
                  </a:ext>
                </a:extLst>
              </a:tr>
              <a:tr h="388938">
                <a:tc vMerge="1">
                  <a:txBody>
                    <a:bodyPr/>
                    <a:lstStyle/>
                    <a:p>
                      <a:endParaRPr lang="en-US"/>
                    </a:p>
                  </a:txBody>
                  <a:tcPr/>
                </a:tc>
                <a:tc vMerge="1">
                  <a:txBody>
                    <a:bodyPr/>
                    <a:lstStyle/>
                    <a:p>
                      <a:endParaRPr lang="en-US"/>
                    </a:p>
                  </a:txBody>
                  <a:tcPr/>
                </a:tc>
                <a:tc>
                  <a:txBody>
                    <a:bodyPr/>
                    <a:lstStyle/>
                    <a:p>
                      <a:pPr marL="177800" marR="0" lvl="0" indent="-17780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sz="1800" b="1" i="0" u="none" strike="noStrike" cap="none" normalizeH="0" baseline="0" smtClean="0">
                          <a:ln>
                            <a:noFill/>
                          </a:ln>
                          <a:solidFill>
                            <a:schemeClr val="tx1"/>
                          </a:solidFill>
                          <a:effectLst/>
                          <a:latin typeface="Arial Narrow" pitchFamily="34" charset="0"/>
                        </a:rPr>
                        <a:t>DNS Client3</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E8F6E4"/>
                    </a:solidFill>
                  </a:tcPr>
                </a:tc>
                <a:tc>
                  <a:txBody>
                    <a:bodyPr/>
                    <a:lstStyle/>
                    <a:p>
                      <a:pPr marL="177800" marR="0" lvl="0" indent="-17780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chemeClr val="tx1"/>
                          </a:solidFill>
                          <a:effectLst/>
                          <a:latin typeface="Arial Narrow" pitchFamily="34" charset="0"/>
                        </a:rPr>
                        <a:t>192.168.2.47</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E8F6E4"/>
                    </a:solidFill>
                  </a:tcPr>
                </a:tc>
                <a:extLst>
                  <a:ext uri="{0D108BD9-81ED-4DB2-BD59-A6C34878D82A}">
                    <a16:rowId xmlns:a16="http://schemas.microsoft.com/office/drawing/2014/main" val="10002"/>
                  </a:ext>
                </a:extLst>
              </a:tr>
              <a:tr h="365125">
                <a:tc row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Narrow"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Narrow" pitchFamily="34" charset="0"/>
                        </a:rPr>
                        <a:t>Reverse zone</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Narrow" pitchFamily="34" charset="0"/>
                        </a:rPr>
                        <a:t> </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F6D9D4"/>
                    </a:solidFill>
                  </a:tcPr>
                </a:tc>
                <a:tc row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Narrow" pitchFamily="34" charset="0"/>
                        </a:rPr>
                        <a:t>1.168.192.in-addr.arpa</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F6D9D4"/>
                    </a:solidFill>
                  </a:tcPr>
                </a:tc>
                <a:tc>
                  <a:txBody>
                    <a:bodyPr/>
                    <a:lstStyle/>
                    <a:p>
                      <a:pPr marL="177800" marR="0" lvl="0" indent="-17780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chemeClr val="tx1"/>
                          </a:solidFill>
                          <a:effectLst/>
                          <a:latin typeface="Arial Narrow" pitchFamily="34" charset="0"/>
                        </a:rPr>
                        <a:t>192.168.2.45</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F6D9D4"/>
                    </a:solidFill>
                  </a:tcPr>
                </a:tc>
                <a:tc>
                  <a:txBody>
                    <a:bodyPr/>
                    <a:lstStyle/>
                    <a:p>
                      <a:pPr marL="177800" marR="0" lvl="0" indent="-17780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sz="1800" b="1" i="0" u="none" strike="noStrike" cap="none" normalizeH="0" baseline="0" smtClean="0">
                          <a:ln>
                            <a:noFill/>
                          </a:ln>
                          <a:solidFill>
                            <a:schemeClr val="tx1"/>
                          </a:solidFill>
                          <a:effectLst/>
                          <a:latin typeface="Arial Narrow" pitchFamily="34" charset="0"/>
                        </a:rPr>
                        <a:t>DNS Client1</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F6D9D4"/>
                    </a:solidFill>
                  </a:tcPr>
                </a:tc>
                <a:extLst>
                  <a:ext uri="{0D108BD9-81ED-4DB2-BD59-A6C34878D82A}">
                    <a16:rowId xmlns:a16="http://schemas.microsoft.com/office/drawing/2014/main" val="10003"/>
                  </a:ext>
                </a:extLst>
              </a:tr>
              <a:tr h="365125">
                <a:tc vMerge="1">
                  <a:txBody>
                    <a:bodyPr/>
                    <a:lstStyle/>
                    <a:p>
                      <a:endParaRPr lang="en-US"/>
                    </a:p>
                  </a:txBody>
                  <a:tcPr/>
                </a:tc>
                <a:tc vMerge="1">
                  <a:txBody>
                    <a:bodyPr/>
                    <a:lstStyle/>
                    <a:p>
                      <a:endParaRPr lang="en-US"/>
                    </a:p>
                  </a:txBody>
                  <a:tcPr/>
                </a:tc>
                <a:tc>
                  <a:txBody>
                    <a:bodyPr/>
                    <a:lstStyle/>
                    <a:p>
                      <a:pPr marL="177800" marR="0" lvl="0" indent="-17780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chemeClr val="tx1"/>
                          </a:solidFill>
                          <a:effectLst/>
                          <a:latin typeface="Arial Narrow" pitchFamily="34" charset="0"/>
                        </a:rPr>
                        <a:t>192.168.2.46</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F6D9D4"/>
                    </a:solidFill>
                  </a:tcPr>
                </a:tc>
                <a:tc>
                  <a:txBody>
                    <a:bodyPr/>
                    <a:lstStyle/>
                    <a:p>
                      <a:pPr marL="177800" marR="0" lvl="0" indent="-17780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sz="1800" b="1" i="0" u="none" strike="noStrike" cap="none" normalizeH="0" baseline="0" smtClean="0">
                          <a:ln>
                            <a:noFill/>
                          </a:ln>
                          <a:solidFill>
                            <a:schemeClr val="tx1"/>
                          </a:solidFill>
                          <a:effectLst/>
                          <a:latin typeface="Arial Narrow" pitchFamily="34" charset="0"/>
                        </a:rPr>
                        <a:t>DNS Client2</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F6D9D4"/>
                    </a:solidFill>
                  </a:tcPr>
                </a:tc>
                <a:extLst>
                  <a:ext uri="{0D108BD9-81ED-4DB2-BD59-A6C34878D82A}">
                    <a16:rowId xmlns:a16="http://schemas.microsoft.com/office/drawing/2014/main" val="10004"/>
                  </a:ext>
                </a:extLst>
              </a:tr>
              <a:tr h="330200">
                <a:tc vMerge="1">
                  <a:txBody>
                    <a:bodyPr/>
                    <a:lstStyle/>
                    <a:p>
                      <a:endParaRPr lang="en-US"/>
                    </a:p>
                  </a:txBody>
                  <a:tcPr/>
                </a:tc>
                <a:tc vMerge="1">
                  <a:txBody>
                    <a:bodyPr/>
                    <a:lstStyle/>
                    <a:p>
                      <a:endParaRPr lang="en-US"/>
                    </a:p>
                  </a:txBody>
                  <a:tcPr/>
                </a:tc>
                <a:tc>
                  <a:txBody>
                    <a:bodyPr/>
                    <a:lstStyle/>
                    <a:p>
                      <a:pPr marL="177800" marR="0" lvl="0" indent="-17780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chemeClr val="tx1"/>
                          </a:solidFill>
                          <a:effectLst/>
                          <a:latin typeface="Arial Narrow" pitchFamily="34" charset="0"/>
                        </a:rPr>
                        <a:t>192.168.2.47</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F6D9D4"/>
                    </a:solidFill>
                  </a:tcPr>
                </a:tc>
                <a:tc>
                  <a:txBody>
                    <a:bodyPr/>
                    <a:lstStyle/>
                    <a:p>
                      <a:pPr marL="177800" marR="0" lvl="0" indent="-177800" algn="l"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sz="1800" b="1" i="0" u="none" strike="noStrike" cap="none" normalizeH="0" baseline="0" smtClean="0">
                          <a:ln>
                            <a:noFill/>
                          </a:ln>
                          <a:solidFill>
                            <a:schemeClr val="tx1"/>
                          </a:solidFill>
                          <a:effectLst/>
                          <a:latin typeface="Arial Narrow" pitchFamily="34" charset="0"/>
                        </a:rPr>
                        <a:t>DNS Client3</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F6D9D4"/>
                    </a:solidFill>
                  </a:tcPr>
                </a:tc>
                <a:extLst>
                  <a:ext uri="{0D108BD9-81ED-4DB2-BD59-A6C34878D82A}">
                    <a16:rowId xmlns:a16="http://schemas.microsoft.com/office/drawing/2014/main" val="10005"/>
                  </a:ext>
                </a:extLst>
              </a:tr>
            </a:tbl>
          </a:graphicData>
        </a:graphic>
      </p:graphicFrame>
      <p:grpSp>
        <p:nvGrpSpPr>
          <p:cNvPr id="14" name="Group 44"/>
          <p:cNvGrpSpPr>
            <a:grpSpLocks/>
          </p:cNvGrpSpPr>
          <p:nvPr/>
        </p:nvGrpSpPr>
        <p:grpSpPr bwMode="auto">
          <a:xfrm>
            <a:off x="1885950" y="2528888"/>
            <a:ext cx="1477963" cy="1377950"/>
            <a:chOff x="1205" y="1577"/>
            <a:chExt cx="1088" cy="1014"/>
          </a:xfrm>
        </p:grpSpPr>
        <p:pic>
          <p:nvPicPr>
            <p:cNvPr id="15" name="Picture 45" descr="Server01"/>
            <p:cNvPicPr>
              <a:picLocks noChangeAspect="1" noChangeArrowheads="1"/>
            </p:cNvPicPr>
            <p:nvPr/>
          </p:nvPicPr>
          <p:blipFill>
            <a:blip r:embed="rId3"/>
            <a:srcRect/>
            <a:stretch>
              <a:fillRect/>
            </a:stretch>
          </p:blipFill>
          <p:spPr bwMode="auto">
            <a:xfrm>
              <a:off x="1205" y="1577"/>
              <a:ext cx="815" cy="958"/>
            </a:xfrm>
            <a:prstGeom prst="rect">
              <a:avLst/>
            </a:prstGeom>
            <a:noFill/>
            <a:ln w="9525">
              <a:noFill/>
              <a:miter lim="800000"/>
              <a:headEnd/>
              <a:tailEnd/>
            </a:ln>
          </p:spPr>
        </p:pic>
        <p:pic>
          <p:nvPicPr>
            <p:cNvPr id="16" name="Picture 46" descr="Database01"/>
            <p:cNvPicPr>
              <a:picLocks noChangeAspect="1" noChangeArrowheads="1"/>
            </p:cNvPicPr>
            <p:nvPr/>
          </p:nvPicPr>
          <p:blipFill>
            <a:blip r:embed="rId4"/>
            <a:srcRect/>
            <a:stretch>
              <a:fillRect/>
            </a:stretch>
          </p:blipFill>
          <p:spPr bwMode="auto">
            <a:xfrm>
              <a:off x="1721" y="2128"/>
              <a:ext cx="572" cy="463"/>
            </a:xfrm>
            <a:prstGeom prst="rect">
              <a:avLst/>
            </a:prstGeom>
            <a:noFill/>
            <a:ln w="9525">
              <a:noFill/>
              <a:miter lim="800000"/>
              <a:headEnd/>
              <a:tailEnd/>
            </a:ln>
          </p:spPr>
        </p:pic>
      </p:grpSp>
      <p:sp>
        <p:nvSpPr>
          <p:cNvPr id="17" name="Arc 47"/>
          <p:cNvSpPr>
            <a:spLocks/>
          </p:cNvSpPr>
          <p:nvPr/>
        </p:nvSpPr>
        <p:spPr bwMode="auto">
          <a:xfrm>
            <a:off x="1147763" y="3233738"/>
            <a:ext cx="1752600" cy="1930400"/>
          </a:xfrm>
          <a:custGeom>
            <a:avLst/>
            <a:gdLst>
              <a:gd name="T0" fmla="*/ 1734749 w 43200"/>
              <a:gd name="T1" fmla="*/ 732730 h 41810"/>
              <a:gd name="T2" fmla="*/ 567080 w 43200"/>
              <a:gd name="T3" fmla="*/ 0 h 41810"/>
              <a:gd name="T4" fmla="*/ 876300 w 43200"/>
              <a:gd name="T5" fmla="*/ 933111 h 41810"/>
              <a:gd name="T6" fmla="*/ 0 60000 65536"/>
              <a:gd name="T7" fmla="*/ 0 60000 65536"/>
              <a:gd name="T8" fmla="*/ 0 60000 65536"/>
              <a:gd name="T9" fmla="*/ 0 w 43200"/>
              <a:gd name="T10" fmla="*/ 0 h 41810"/>
              <a:gd name="T11" fmla="*/ 43200 w 43200"/>
              <a:gd name="T12" fmla="*/ 41810 h 41810"/>
            </a:gdLst>
            <a:ahLst/>
            <a:cxnLst>
              <a:cxn ang="T6">
                <a:pos x="T0" y="T1"/>
              </a:cxn>
              <a:cxn ang="T7">
                <a:pos x="T2" y="T3"/>
              </a:cxn>
              <a:cxn ang="T8">
                <a:pos x="T4" y="T5"/>
              </a:cxn>
            </a:cxnLst>
            <a:rect l="T9" t="T10" r="T11" b="T12"/>
            <a:pathLst>
              <a:path w="43200" h="41810" fill="none" extrusionOk="0">
                <a:moveTo>
                  <a:pt x="42759" y="15870"/>
                </a:moveTo>
                <a:cubicBezTo>
                  <a:pt x="43052" y="17298"/>
                  <a:pt x="43200" y="18752"/>
                  <a:pt x="43200" y="20210"/>
                </a:cubicBezTo>
                <a:cubicBezTo>
                  <a:pt x="43200" y="32139"/>
                  <a:pt x="33529" y="41810"/>
                  <a:pt x="21600" y="41810"/>
                </a:cubicBezTo>
                <a:cubicBezTo>
                  <a:pt x="9670" y="41810"/>
                  <a:pt x="0" y="32139"/>
                  <a:pt x="0" y="20210"/>
                </a:cubicBezTo>
                <a:cubicBezTo>
                  <a:pt x="-1" y="11220"/>
                  <a:pt x="5567" y="3171"/>
                  <a:pt x="13977" y="-1"/>
                </a:cubicBezTo>
              </a:path>
              <a:path w="43200" h="41810" stroke="0" extrusionOk="0">
                <a:moveTo>
                  <a:pt x="42759" y="15870"/>
                </a:moveTo>
                <a:cubicBezTo>
                  <a:pt x="43052" y="17298"/>
                  <a:pt x="43200" y="18752"/>
                  <a:pt x="43200" y="20210"/>
                </a:cubicBezTo>
                <a:cubicBezTo>
                  <a:pt x="43200" y="32139"/>
                  <a:pt x="33529" y="41810"/>
                  <a:pt x="21600" y="41810"/>
                </a:cubicBezTo>
                <a:cubicBezTo>
                  <a:pt x="9670" y="41810"/>
                  <a:pt x="0" y="32139"/>
                  <a:pt x="0" y="20210"/>
                </a:cubicBezTo>
                <a:cubicBezTo>
                  <a:pt x="-1" y="11220"/>
                  <a:pt x="5567" y="3171"/>
                  <a:pt x="13977" y="-1"/>
                </a:cubicBezTo>
                <a:lnTo>
                  <a:pt x="21600" y="20210"/>
                </a:lnTo>
                <a:close/>
              </a:path>
            </a:pathLst>
          </a:custGeom>
          <a:noFill/>
          <a:ln w="50800">
            <a:solidFill>
              <a:srgbClr val="CC0000"/>
            </a:solidFill>
            <a:round/>
            <a:headEnd type="triangle" w="med" len="med"/>
            <a:tailEnd type="triangle" w="med" len="med"/>
          </a:ln>
        </p:spPr>
        <p:txBody>
          <a:bodyPr/>
          <a:lstStyle/>
          <a:p>
            <a:endParaRPr lang="en-US" sz="1500" b="0"/>
          </a:p>
        </p:txBody>
      </p:sp>
      <p:pic>
        <p:nvPicPr>
          <p:cNvPr id="18" name="Picture 49" descr="Computer_DesktopComputerSansKeyboard01"/>
          <p:cNvPicPr>
            <a:picLocks noChangeAspect="1" noChangeArrowheads="1"/>
          </p:cNvPicPr>
          <p:nvPr/>
        </p:nvPicPr>
        <p:blipFill>
          <a:blip r:embed="rId2" cstate="print"/>
          <a:srcRect/>
          <a:stretch>
            <a:fillRect/>
          </a:stretch>
        </p:blipFill>
        <p:spPr bwMode="auto">
          <a:xfrm>
            <a:off x="1255713" y="4643438"/>
            <a:ext cx="850900" cy="1038225"/>
          </a:xfrm>
          <a:prstGeom prst="rect">
            <a:avLst/>
          </a:prstGeom>
          <a:noFill/>
          <a:ln w="9525">
            <a:noFill/>
            <a:miter lim="800000"/>
            <a:headEnd/>
            <a:tailEnd/>
          </a:ln>
        </p:spPr>
      </p:pic>
      <p:sp>
        <p:nvSpPr>
          <p:cNvPr id="19" name="AutoShape 50"/>
          <p:cNvSpPr>
            <a:spLocks noChangeArrowheads="1"/>
          </p:cNvSpPr>
          <p:nvPr/>
        </p:nvSpPr>
        <p:spPr bwMode="auto">
          <a:xfrm>
            <a:off x="2089150" y="4545013"/>
            <a:ext cx="1663700" cy="376237"/>
          </a:xfrm>
          <a:prstGeom prst="roundRect">
            <a:avLst>
              <a:gd name="adj" fmla="val 16667"/>
            </a:avLst>
          </a:prstGeom>
          <a:gradFill rotWithShape="1">
            <a:gsLst>
              <a:gs pos="0">
                <a:srgbClr val="ADE2A1"/>
              </a:gs>
              <a:gs pos="100000">
                <a:srgbClr val="E8F6E4"/>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a:lnSpc>
                <a:spcPct val="85000"/>
              </a:lnSpc>
              <a:defRPr/>
            </a:pPr>
            <a:r>
              <a:rPr lang="en-US" sz="1500" b="0"/>
              <a:t>192.168.2.46 = ?</a:t>
            </a:r>
          </a:p>
        </p:txBody>
      </p:sp>
      <p:sp>
        <p:nvSpPr>
          <p:cNvPr id="20" name="Rectangle 2"/>
          <p:cNvSpPr>
            <a:spLocks noGrp="1" noChangeArrowheads="1"/>
          </p:cNvSpPr>
          <p:nvPr>
            <p:ph type="title"/>
          </p:nvPr>
        </p:nvSpPr>
        <p:spPr/>
        <p:txBody>
          <a:bodyPr/>
          <a:lstStyle/>
          <a:p>
            <a:r>
              <a:rPr lang="en-US" sz="3000" smtClean="0"/>
              <a:t>What Are Forward and Reverse Lookup Zones?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63500" indent="44450">
              <a:buNone/>
            </a:pPr>
            <a:r>
              <a:rPr lang="vi-VN" smtClean="0"/>
              <a:t>Zone thuận</a:t>
            </a:r>
            <a:r>
              <a:rPr lang="en-US" smtClean="0"/>
              <a:t>:</a:t>
            </a:r>
            <a:r>
              <a:rPr lang="vi-VN" smtClean="0"/>
              <a:t> để phân giải địa chỉ Tên máy (hostname) thành địa chỉ IP</a:t>
            </a:r>
            <a:endParaRPr lang="en-US" smtClean="0"/>
          </a:p>
          <a:p>
            <a:pPr marL="111125" indent="-1588">
              <a:buNone/>
            </a:pPr>
            <a:r>
              <a:rPr lang="en-US" smtClean="0"/>
              <a:t>Chú ý chọn:</a:t>
            </a:r>
          </a:p>
          <a:p>
            <a:pPr marL="649288" lvl="1" indent="-284163"/>
            <a:r>
              <a:rPr lang="en-US" smtClean="0"/>
              <a:t>Zone Type: Primary, Second, Stub</a:t>
            </a:r>
          </a:p>
          <a:p>
            <a:pPr marL="649288" lvl="1" indent="-284163"/>
            <a:r>
              <a:rPr lang="en-US" smtClean="0"/>
              <a:t>Zone name</a:t>
            </a:r>
          </a:p>
          <a:p>
            <a:pPr marL="649288" lvl="1" indent="-284163"/>
            <a:r>
              <a:rPr lang="en-US" smtClean="0"/>
              <a:t>Zone file</a:t>
            </a:r>
          </a:p>
          <a:p>
            <a:pPr marL="649288" lvl="1" indent="-284163"/>
            <a:r>
              <a:rPr lang="vi-VN" smtClean="0"/>
              <a:t>Dynamic  Update  để  chỉ  định  zone  chấp  nhận  Secure  Update</a:t>
            </a:r>
            <a:endParaRPr lang="en-US" smtClean="0"/>
          </a:p>
          <a:p>
            <a:pPr marL="393700" indent="-284163"/>
            <a:r>
              <a:rPr lang="en-US" smtClean="0"/>
              <a:t>Hoàn thành</a:t>
            </a:r>
          </a:p>
        </p:txBody>
      </p:sp>
      <p:sp>
        <p:nvSpPr>
          <p:cNvPr id="3" name="Title 2"/>
          <p:cNvSpPr>
            <a:spLocks noGrp="1"/>
          </p:cNvSpPr>
          <p:nvPr>
            <p:ph type="title"/>
          </p:nvPr>
        </p:nvSpPr>
        <p:spPr>
          <a:xfrm>
            <a:off x="0" y="76200"/>
            <a:ext cx="9144000" cy="609600"/>
          </a:xfrm>
        </p:spPr>
        <p:txBody>
          <a:bodyPr/>
          <a:lstStyle/>
          <a:p>
            <a:r>
              <a:rPr lang="vi-VN" sz="3600" smtClean="0"/>
              <a:t> VII</a:t>
            </a:r>
            <a:r>
              <a:rPr lang="en-US" sz="3600" smtClean="0"/>
              <a:t>I</a:t>
            </a:r>
            <a:r>
              <a:rPr lang="vi-VN" sz="3600" smtClean="0"/>
              <a:t>.</a:t>
            </a:r>
            <a:r>
              <a:rPr lang="en-US" sz="3600" smtClean="0"/>
              <a:t>1.</a:t>
            </a:r>
            <a:r>
              <a:rPr lang="vi-VN" sz="3600" smtClean="0"/>
              <a:t> Tạo </a:t>
            </a:r>
            <a:r>
              <a:rPr lang="en-US" sz="3600" smtClean="0"/>
              <a:t>Forward</a:t>
            </a:r>
            <a:r>
              <a:rPr lang="vi-VN" sz="3600" smtClean="0"/>
              <a:t> Lookup Zone</a:t>
            </a:r>
            <a:endParaRPr lang="en-US" sz="3600" smtClean="0"/>
          </a:p>
        </p:txBody>
      </p:sp>
      <p:pic>
        <p:nvPicPr>
          <p:cNvPr id="4" name="Picture 3"/>
          <p:cNvPicPr>
            <a:picLocks noChangeAspect="1" noChangeArrowheads="1"/>
          </p:cNvPicPr>
          <p:nvPr/>
        </p:nvPicPr>
        <p:blipFill>
          <a:blip r:embed="rId2"/>
          <a:srcRect/>
          <a:stretch>
            <a:fillRect/>
          </a:stretch>
        </p:blipFill>
        <p:spPr bwMode="auto">
          <a:xfrm>
            <a:off x="685800" y="3195637"/>
            <a:ext cx="7800975" cy="36480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111125" indent="-3175">
              <a:buNone/>
            </a:pPr>
            <a:r>
              <a:rPr lang="vi-VN" smtClean="0"/>
              <a:t>Zone nghịch để hỗ trợ cơ chế phân giải địa chỉ IP thành tên máy(hostname).  </a:t>
            </a:r>
            <a:endParaRPr lang="en-US" smtClean="0"/>
          </a:p>
          <a:p>
            <a:pPr marL="111125" indent="-3175">
              <a:buNone/>
            </a:pPr>
            <a:r>
              <a:rPr lang="vi-VN" smtClean="0"/>
              <a:t>Sau khi  ta  tạo zone  thuận và zone nghịch, mặc định hệ  thống sẽ  tạo  ra hai  resource  record NS và SOA.</a:t>
            </a:r>
            <a:r>
              <a:rPr lang="en-US" smtClean="0"/>
              <a:t> Có thể thay đổi giá trị</a:t>
            </a:r>
          </a:p>
        </p:txBody>
      </p:sp>
      <p:sp>
        <p:nvSpPr>
          <p:cNvPr id="3" name="Title 2"/>
          <p:cNvSpPr>
            <a:spLocks noGrp="1"/>
          </p:cNvSpPr>
          <p:nvPr>
            <p:ph type="title"/>
          </p:nvPr>
        </p:nvSpPr>
        <p:spPr>
          <a:xfrm>
            <a:off x="0" y="76200"/>
            <a:ext cx="9144000" cy="609600"/>
          </a:xfrm>
        </p:spPr>
        <p:txBody>
          <a:bodyPr/>
          <a:lstStyle/>
          <a:p>
            <a:r>
              <a:rPr lang="vi-VN" sz="3600" smtClean="0"/>
              <a:t> VII</a:t>
            </a:r>
            <a:r>
              <a:rPr lang="en-US" sz="3600" smtClean="0"/>
              <a:t>I</a:t>
            </a:r>
            <a:r>
              <a:rPr lang="vi-VN" sz="3600" smtClean="0"/>
              <a:t>.</a:t>
            </a:r>
            <a:r>
              <a:rPr lang="en-US" sz="3600" smtClean="0"/>
              <a:t>2. </a:t>
            </a:r>
            <a:r>
              <a:rPr lang="vi-VN" sz="3600" smtClean="0"/>
              <a:t>Tạo Reverse Lookup Zone</a:t>
            </a:r>
            <a:endParaRPr lang="en-US" sz="3600" smtClean="0"/>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173038" indent="-63500"/>
            <a:r>
              <a:rPr lang="en-US" smtClean="0"/>
              <a:t> A: </a:t>
            </a:r>
            <a:r>
              <a:rPr lang="vi-VN" smtClean="0"/>
              <a:t>để ánh xạ hostname  thành  tên máy, </a:t>
            </a:r>
            <a:endParaRPr lang="en-US" smtClean="0"/>
          </a:p>
          <a:p>
            <a:pPr marL="173038" indent="-63500">
              <a:buNone/>
            </a:pPr>
            <a:r>
              <a:rPr lang="en-US" smtClean="0"/>
              <a:t>Chú ý:</a:t>
            </a:r>
          </a:p>
          <a:p>
            <a:pPr marL="649288" lvl="1" indent="-284163"/>
            <a:r>
              <a:rPr lang="vi-VN" smtClean="0"/>
              <a:t>New Host</a:t>
            </a:r>
            <a:r>
              <a:rPr lang="en-US" smtClean="0"/>
              <a:t>:</a:t>
            </a:r>
            <a:r>
              <a:rPr lang="vi-VN" smtClean="0"/>
              <a:t> Name, Ip address</a:t>
            </a:r>
          </a:p>
          <a:p>
            <a:pPr marL="649288" lvl="1" indent="-284163"/>
            <a:r>
              <a:rPr lang="vi-VN" smtClean="0"/>
              <a:t>Create associated pointer  (PTR)  record để  tạo RR PTR  trong zone nghịch</a:t>
            </a:r>
            <a:endParaRPr lang="en-US" smtClean="0"/>
          </a:p>
          <a:p>
            <a:pPr marL="173038" indent="-63500"/>
            <a:r>
              <a:rPr lang="en-US" smtClean="0"/>
              <a:t> CNAME</a:t>
            </a:r>
          </a:p>
          <a:p>
            <a:pPr marL="173038" indent="-63500"/>
            <a:r>
              <a:rPr lang="en-US" smtClean="0"/>
              <a:t> MX</a:t>
            </a:r>
          </a:p>
          <a:p>
            <a:pPr marL="173038" indent="-63500">
              <a:buNone/>
            </a:pPr>
            <a:endParaRPr lang="en-US" smtClean="0"/>
          </a:p>
        </p:txBody>
      </p:sp>
      <p:sp>
        <p:nvSpPr>
          <p:cNvPr id="3" name="Title 2"/>
          <p:cNvSpPr>
            <a:spLocks noGrp="1"/>
          </p:cNvSpPr>
          <p:nvPr>
            <p:ph type="title"/>
          </p:nvPr>
        </p:nvSpPr>
        <p:spPr>
          <a:xfrm>
            <a:off x="0" y="76200"/>
            <a:ext cx="9144000" cy="609600"/>
          </a:xfrm>
        </p:spPr>
        <p:txBody>
          <a:bodyPr/>
          <a:lstStyle/>
          <a:p>
            <a:r>
              <a:rPr lang="vi-VN" sz="3600" smtClean="0"/>
              <a:t> VII</a:t>
            </a:r>
            <a:r>
              <a:rPr lang="en-US" sz="3600" smtClean="0"/>
              <a:t>I</a:t>
            </a:r>
            <a:r>
              <a:rPr lang="vi-VN" sz="3600" smtClean="0"/>
              <a:t>.</a:t>
            </a:r>
            <a:r>
              <a:rPr lang="en-US" sz="3600" smtClean="0"/>
              <a:t>3. </a:t>
            </a:r>
            <a:r>
              <a:rPr lang="vi-VN" sz="3600" smtClean="0"/>
              <a:t>Tạo Resource Record(RR)</a:t>
            </a:r>
            <a:r>
              <a:rPr lang="en-US" sz="3600" smtClean="0"/>
              <a:t> </a:t>
            </a: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70000" lnSpcReduction="20000"/>
          </a:bodyPr>
          <a:lstStyle/>
          <a:p>
            <a:pPr>
              <a:lnSpc>
                <a:spcPct val="120000"/>
              </a:lnSpc>
              <a:buNone/>
            </a:pPr>
            <a:r>
              <a:rPr lang="vi-VN" smtClean="0"/>
              <a:t>Khai báo Resolver: </a:t>
            </a:r>
            <a:r>
              <a:rPr lang="en-US" smtClean="0"/>
              <a:t>tại máy client</a:t>
            </a:r>
            <a:endParaRPr lang="vi-VN" smtClean="0"/>
          </a:p>
          <a:p>
            <a:pPr>
              <a:lnSpc>
                <a:spcPct val="120000"/>
              </a:lnSpc>
              <a:buNone/>
            </a:pPr>
            <a:r>
              <a:rPr lang="vi-VN" smtClean="0"/>
              <a:t>-  Để chỉ định rõ cho DNS Client biết địa chỉ máy chủ DNS Server hỗ trợ việc phân giải tên miền. </a:t>
            </a:r>
          </a:p>
          <a:p>
            <a:pPr>
              <a:lnSpc>
                <a:spcPct val="120000"/>
              </a:lnSpc>
              <a:buNone/>
            </a:pPr>
            <a:r>
              <a:rPr lang="en-US" smtClean="0"/>
              <a:t>C</a:t>
            </a:r>
            <a:r>
              <a:rPr lang="vi-VN" smtClean="0"/>
              <a:t>hỉ định hai thông số . </a:t>
            </a:r>
          </a:p>
          <a:p>
            <a:pPr>
              <a:lnSpc>
                <a:spcPct val="120000"/>
              </a:lnSpc>
              <a:buNone/>
            </a:pPr>
            <a:r>
              <a:rPr lang="vi-VN" smtClean="0"/>
              <a:t>-  Referenced DNS server:</a:t>
            </a:r>
            <a:r>
              <a:rPr lang="en-US" smtClean="0"/>
              <a:t> PSN</a:t>
            </a:r>
            <a:endParaRPr lang="vi-VN" smtClean="0"/>
          </a:p>
          <a:p>
            <a:pPr>
              <a:lnSpc>
                <a:spcPct val="120000"/>
              </a:lnSpc>
              <a:buNone/>
            </a:pPr>
            <a:r>
              <a:rPr lang="vi-VN" smtClean="0"/>
              <a:t>-  Alternate DNS server:</a:t>
            </a:r>
            <a:r>
              <a:rPr lang="en-US" smtClean="0"/>
              <a:t> SSN</a:t>
            </a:r>
          </a:p>
          <a:p>
            <a:pPr>
              <a:lnSpc>
                <a:spcPct val="120000"/>
              </a:lnSpc>
              <a:buNone/>
            </a:pPr>
            <a:r>
              <a:rPr lang="en-US" smtClean="0"/>
              <a:t>Dùng </a:t>
            </a:r>
            <a:r>
              <a:rPr lang="vi-VN" smtClean="0"/>
              <a:t>tập lệnh của công cụ nslookup. </a:t>
            </a:r>
          </a:p>
          <a:p>
            <a:pPr>
              <a:lnSpc>
                <a:spcPct val="120000"/>
              </a:lnSpc>
              <a:buNone/>
            </a:pPr>
            <a:r>
              <a:rPr lang="vi-VN" smtClean="0"/>
              <a:t> &gt;set type=&lt;RR_Type&gt; </a:t>
            </a:r>
          </a:p>
          <a:p>
            <a:pPr>
              <a:lnSpc>
                <a:spcPct val="120000"/>
              </a:lnSpc>
              <a:buNone/>
            </a:pPr>
            <a:r>
              <a:rPr lang="vi-VN" smtClean="0"/>
              <a:t> Trong đó &lt;RR_Type&gt; là loại RR </a:t>
            </a:r>
            <a:endParaRPr lang="en-US" smtClean="0"/>
          </a:p>
          <a:p>
            <a:pPr>
              <a:lnSpc>
                <a:spcPct val="120000"/>
              </a:lnSpc>
              <a:buNone/>
            </a:pPr>
            <a:r>
              <a:rPr lang="en-US" smtClean="0"/>
              <a:t>Nhập RR cần kiểm tra</a:t>
            </a:r>
          </a:p>
          <a:p>
            <a:pPr>
              <a:lnSpc>
                <a:spcPct val="120000"/>
              </a:lnSpc>
              <a:buNone/>
            </a:pPr>
            <a:r>
              <a:rPr lang="vi-VN" smtClean="0"/>
              <a:t>&gt;set type=any: Để xem mọi thông tin về RR trong miền, </a:t>
            </a:r>
            <a:endParaRPr lang="en-US" smtClean="0"/>
          </a:p>
          <a:p>
            <a:pPr>
              <a:lnSpc>
                <a:spcPct val="120000"/>
              </a:lnSpc>
              <a:buNone/>
            </a:pPr>
            <a:r>
              <a:rPr lang="en-US" smtClean="0"/>
              <a:t>Nhập </a:t>
            </a:r>
            <a:r>
              <a:rPr lang="vi-VN" smtClean="0"/>
              <a:t> &lt;domain name&gt; </a:t>
            </a:r>
            <a:endParaRPr lang="en-US" smtClean="0"/>
          </a:p>
          <a:p>
            <a:pPr>
              <a:lnSpc>
                <a:spcPct val="120000"/>
              </a:lnSpc>
              <a:buNone/>
            </a:pPr>
            <a:r>
              <a:rPr lang="vi-VN" smtClean="0"/>
              <a:t>để xem thông tin về các RR như A, NS, SOA, MX của miền này.</a:t>
            </a:r>
            <a:endParaRPr lang="en-US" smtClean="0"/>
          </a:p>
        </p:txBody>
      </p:sp>
      <p:sp>
        <p:nvSpPr>
          <p:cNvPr id="3" name="Title 2"/>
          <p:cNvSpPr>
            <a:spLocks noGrp="1"/>
          </p:cNvSpPr>
          <p:nvPr>
            <p:ph type="title"/>
          </p:nvPr>
        </p:nvSpPr>
        <p:spPr>
          <a:xfrm>
            <a:off x="0" y="76200"/>
            <a:ext cx="9144000" cy="609600"/>
          </a:xfrm>
        </p:spPr>
        <p:txBody>
          <a:bodyPr/>
          <a:lstStyle/>
          <a:p>
            <a:r>
              <a:rPr lang="vi-VN" sz="3600" smtClean="0"/>
              <a:t> VII</a:t>
            </a:r>
            <a:r>
              <a:rPr lang="en-US" sz="3600" smtClean="0"/>
              <a:t>I</a:t>
            </a:r>
            <a:r>
              <a:rPr lang="vi-VN" sz="3600" smtClean="0"/>
              <a:t>.</a:t>
            </a:r>
            <a:r>
              <a:rPr lang="en-US" sz="3600" smtClean="0"/>
              <a:t>4.</a:t>
            </a:r>
            <a:r>
              <a:rPr lang="vi-VN" sz="3600" smtClean="0"/>
              <a:t> Kiểm tra hoạt động dịch vụ DNS.</a:t>
            </a:r>
            <a:r>
              <a:rPr lang="en-US" sz="3600" smtClean="0"/>
              <a:t> </a:t>
            </a: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200" y="228600"/>
            <a:ext cx="8229600" cy="487362"/>
          </a:xfrm>
        </p:spPr>
        <p:txBody>
          <a:bodyPr/>
          <a:lstStyle/>
          <a:p>
            <a:pPr marL="460375" indent="-460375"/>
            <a:r>
              <a:rPr lang="en-US" sz="2800" smtClean="0">
                <a:solidFill>
                  <a:schemeClr val="bg1"/>
                </a:solidFill>
              </a:rPr>
              <a:t>How Preferred and Alternate DNS Servers Work</a:t>
            </a:r>
          </a:p>
        </p:txBody>
      </p:sp>
      <p:pic>
        <p:nvPicPr>
          <p:cNvPr id="16387" name="Picture 3"/>
          <p:cNvPicPr>
            <a:picLocks noChangeAspect="1" noChangeArrowheads="1"/>
          </p:cNvPicPr>
          <p:nvPr/>
        </p:nvPicPr>
        <p:blipFill>
          <a:blip r:embed="rId3"/>
          <a:srcRect/>
          <a:stretch>
            <a:fillRect/>
          </a:stretch>
        </p:blipFill>
        <p:spPr bwMode="auto">
          <a:xfrm>
            <a:off x="552450" y="785813"/>
            <a:ext cx="4022725" cy="4459287"/>
          </a:xfrm>
          <a:prstGeom prst="rect">
            <a:avLst/>
          </a:prstGeom>
          <a:noFill/>
          <a:ln w="9525">
            <a:noFill/>
            <a:miter lim="800000"/>
            <a:headEnd/>
            <a:tailEnd/>
          </a:ln>
        </p:spPr>
      </p:pic>
      <p:sp>
        <p:nvSpPr>
          <p:cNvPr id="551940" name="Freeform 4"/>
          <p:cNvSpPr>
            <a:spLocks/>
          </p:cNvSpPr>
          <p:nvPr/>
        </p:nvSpPr>
        <p:spPr bwMode="auto">
          <a:xfrm>
            <a:off x="4087813" y="2081213"/>
            <a:ext cx="1157287" cy="3697287"/>
          </a:xfrm>
          <a:custGeom>
            <a:avLst/>
            <a:gdLst>
              <a:gd name="T0" fmla="*/ 0 w 729"/>
              <a:gd name="T1" fmla="*/ 1609 h 2329"/>
              <a:gd name="T2" fmla="*/ 491 w 729"/>
              <a:gd name="T3" fmla="*/ 0 h 2329"/>
              <a:gd name="T4" fmla="*/ 729 w 729"/>
              <a:gd name="T5" fmla="*/ 93 h 2329"/>
              <a:gd name="T6" fmla="*/ 534 w 729"/>
              <a:gd name="T7" fmla="*/ 2329 h 2329"/>
              <a:gd name="T8" fmla="*/ 0 w 729"/>
              <a:gd name="T9" fmla="*/ 1609 h 2329"/>
              <a:gd name="T10" fmla="*/ 0 60000 65536"/>
              <a:gd name="T11" fmla="*/ 0 60000 65536"/>
              <a:gd name="T12" fmla="*/ 0 60000 65536"/>
              <a:gd name="T13" fmla="*/ 0 60000 65536"/>
              <a:gd name="T14" fmla="*/ 0 60000 65536"/>
              <a:gd name="T15" fmla="*/ 0 w 729"/>
              <a:gd name="T16" fmla="*/ 0 h 2329"/>
              <a:gd name="T17" fmla="*/ 729 w 729"/>
              <a:gd name="T18" fmla="*/ 2329 h 2329"/>
            </a:gdLst>
            <a:ahLst/>
            <a:cxnLst>
              <a:cxn ang="T10">
                <a:pos x="T0" y="T1"/>
              </a:cxn>
              <a:cxn ang="T11">
                <a:pos x="T2" y="T3"/>
              </a:cxn>
              <a:cxn ang="T12">
                <a:pos x="T4" y="T5"/>
              </a:cxn>
              <a:cxn ang="T13">
                <a:pos x="T6" y="T7"/>
              </a:cxn>
              <a:cxn ang="T14">
                <a:pos x="T8" y="T9"/>
              </a:cxn>
            </a:cxnLst>
            <a:rect l="T15" t="T16" r="T17" b="T18"/>
            <a:pathLst>
              <a:path w="729" h="2329">
                <a:moveTo>
                  <a:pt x="0" y="1609"/>
                </a:moveTo>
                <a:lnTo>
                  <a:pt x="491" y="0"/>
                </a:lnTo>
                <a:lnTo>
                  <a:pt x="729" y="93"/>
                </a:lnTo>
                <a:lnTo>
                  <a:pt x="534" y="2329"/>
                </a:lnTo>
                <a:lnTo>
                  <a:pt x="0" y="1609"/>
                </a:lnTo>
                <a:close/>
              </a:path>
            </a:pathLst>
          </a:custGeom>
          <a:solidFill>
            <a:srgbClr val="FF0000">
              <a:alpha val="50195"/>
            </a:srgbClr>
          </a:solidFill>
          <a:ln w="9525">
            <a:noFill/>
            <a:round/>
            <a:headEnd/>
            <a:tailEnd/>
          </a:ln>
        </p:spPr>
        <p:txBody>
          <a:bodyPr/>
          <a:lstStyle/>
          <a:p>
            <a:endParaRPr lang="en-US" sz="1600"/>
          </a:p>
        </p:txBody>
      </p:sp>
      <p:pic>
        <p:nvPicPr>
          <p:cNvPr id="551941" name="Picture 5"/>
          <p:cNvPicPr>
            <a:picLocks noChangeAspect="1" noChangeArrowheads="1"/>
          </p:cNvPicPr>
          <p:nvPr/>
        </p:nvPicPr>
        <p:blipFill>
          <a:blip r:embed="rId4"/>
          <a:srcRect/>
          <a:stretch>
            <a:fillRect/>
          </a:stretch>
        </p:blipFill>
        <p:spPr bwMode="auto">
          <a:xfrm>
            <a:off x="4718050" y="1298575"/>
            <a:ext cx="4030663" cy="4797425"/>
          </a:xfrm>
          <a:prstGeom prst="rect">
            <a:avLst/>
          </a:prstGeom>
          <a:noFill/>
          <a:ln w="9525">
            <a:noFill/>
            <a:miter lim="800000"/>
            <a:headEnd/>
            <a:tailEnd/>
          </a:ln>
        </p:spPr>
      </p:pic>
      <p:grpSp>
        <p:nvGrpSpPr>
          <p:cNvPr id="2" name="Group 6"/>
          <p:cNvGrpSpPr>
            <a:grpSpLocks/>
          </p:cNvGrpSpPr>
          <p:nvPr/>
        </p:nvGrpSpPr>
        <p:grpSpPr bwMode="auto">
          <a:xfrm>
            <a:off x="650875" y="2182813"/>
            <a:ext cx="3306763" cy="1803400"/>
            <a:chOff x="410" y="1665"/>
            <a:chExt cx="2083" cy="1136"/>
          </a:xfrm>
        </p:grpSpPr>
        <p:sp>
          <p:nvSpPr>
            <p:cNvPr id="16407" name="Rectangle 7"/>
            <p:cNvSpPr>
              <a:spLocks noChangeArrowheads="1"/>
            </p:cNvSpPr>
            <p:nvPr/>
          </p:nvSpPr>
          <p:spPr bwMode="auto">
            <a:xfrm>
              <a:off x="503" y="2634"/>
              <a:ext cx="1990" cy="167"/>
            </a:xfrm>
            <a:prstGeom prst="rect">
              <a:avLst/>
            </a:prstGeom>
            <a:noFill/>
            <a:ln w="38100" algn="ctr">
              <a:solidFill>
                <a:srgbClr val="CC0000"/>
              </a:solidFill>
              <a:miter lim="800000"/>
              <a:headEnd/>
              <a:tailEnd/>
            </a:ln>
          </p:spPr>
          <p:txBody>
            <a:bodyPr wrap="none" anchor="ctr"/>
            <a:lstStyle/>
            <a:p>
              <a:endParaRPr lang="en-US" sz="1600"/>
            </a:p>
          </p:txBody>
        </p:sp>
        <p:sp>
          <p:nvSpPr>
            <p:cNvPr id="16408" name="Line 8"/>
            <p:cNvSpPr>
              <a:spLocks noChangeShapeType="1"/>
            </p:cNvSpPr>
            <p:nvPr/>
          </p:nvSpPr>
          <p:spPr bwMode="auto">
            <a:xfrm flipV="1">
              <a:off x="661" y="2287"/>
              <a:ext cx="0" cy="339"/>
            </a:xfrm>
            <a:prstGeom prst="line">
              <a:avLst/>
            </a:prstGeom>
            <a:noFill/>
            <a:ln w="38100">
              <a:solidFill>
                <a:srgbClr val="CC0000"/>
              </a:solidFill>
              <a:round/>
              <a:headEnd/>
              <a:tailEnd/>
            </a:ln>
          </p:spPr>
          <p:txBody>
            <a:bodyPr wrap="none" anchor="ctr"/>
            <a:lstStyle/>
            <a:p>
              <a:endParaRPr lang="en-US" sz="1600"/>
            </a:p>
          </p:txBody>
        </p:sp>
        <p:sp>
          <p:nvSpPr>
            <p:cNvPr id="551945" name="AutoShape 9"/>
            <p:cNvSpPr>
              <a:spLocks noChangeArrowheads="1"/>
            </p:cNvSpPr>
            <p:nvPr/>
          </p:nvSpPr>
          <p:spPr bwMode="auto">
            <a:xfrm>
              <a:off x="410" y="1665"/>
              <a:ext cx="1200" cy="680"/>
            </a:xfrm>
            <a:prstGeom prst="roundRect">
              <a:avLst>
                <a:gd name="adj" fmla="val 10296"/>
              </a:avLst>
            </a:prstGeom>
            <a:gradFill rotWithShape="1">
              <a:gsLst>
                <a:gs pos="0">
                  <a:srgbClr val="ADE2A1"/>
                </a:gs>
                <a:gs pos="100000">
                  <a:srgbClr val="E8F6E4"/>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marL="228600" indent="-228600" algn="l">
                <a:lnSpc>
                  <a:spcPct val="85000"/>
                </a:lnSpc>
                <a:defRPr/>
              </a:pPr>
              <a:r>
                <a:rPr lang="en-US" sz="1600">
                  <a:cs typeface="Arial" charset="0"/>
                </a:rPr>
                <a:t>1. 	The client tries the preferred DNS server first.</a:t>
              </a:r>
              <a:endParaRPr lang="en-US" sz="1600"/>
            </a:p>
          </p:txBody>
        </p:sp>
      </p:grpSp>
      <p:grpSp>
        <p:nvGrpSpPr>
          <p:cNvPr id="3" name="Group 10"/>
          <p:cNvGrpSpPr>
            <a:grpSpLocks/>
          </p:cNvGrpSpPr>
          <p:nvPr/>
        </p:nvGrpSpPr>
        <p:grpSpPr bwMode="auto">
          <a:xfrm>
            <a:off x="650875" y="3990975"/>
            <a:ext cx="3306763" cy="1484313"/>
            <a:chOff x="410" y="2804"/>
            <a:chExt cx="2083" cy="935"/>
          </a:xfrm>
        </p:grpSpPr>
        <p:sp>
          <p:nvSpPr>
            <p:cNvPr id="16404" name="Rectangle 11"/>
            <p:cNvSpPr>
              <a:spLocks noChangeArrowheads="1"/>
            </p:cNvSpPr>
            <p:nvPr/>
          </p:nvSpPr>
          <p:spPr bwMode="auto">
            <a:xfrm>
              <a:off x="503" y="2804"/>
              <a:ext cx="1990" cy="167"/>
            </a:xfrm>
            <a:prstGeom prst="rect">
              <a:avLst/>
            </a:prstGeom>
            <a:noFill/>
            <a:ln w="38100" algn="ctr">
              <a:solidFill>
                <a:srgbClr val="CC0000"/>
              </a:solidFill>
              <a:miter lim="800000"/>
              <a:headEnd/>
              <a:tailEnd/>
            </a:ln>
          </p:spPr>
          <p:txBody>
            <a:bodyPr wrap="none" anchor="ctr"/>
            <a:lstStyle/>
            <a:p>
              <a:endParaRPr lang="en-US" sz="1600"/>
            </a:p>
          </p:txBody>
        </p:sp>
        <p:sp>
          <p:nvSpPr>
            <p:cNvPr id="16405" name="Line 12"/>
            <p:cNvSpPr>
              <a:spLocks noChangeShapeType="1"/>
            </p:cNvSpPr>
            <p:nvPr/>
          </p:nvSpPr>
          <p:spPr bwMode="auto">
            <a:xfrm flipV="1">
              <a:off x="661" y="2965"/>
              <a:ext cx="0" cy="339"/>
            </a:xfrm>
            <a:prstGeom prst="line">
              <a:avLst/>
            </a:prstGeom>
            <a:noFill/>
            <a:ln w="38100">
              <a:solidFill>
                <a:srgbClr val="CC0000"/>
              </a:solidFill>
              <a:round/>
              <a:headEnd/>
              <a:tailEnd/>
            </a:ln>
          </p:spPr>
          <p:txBody>
            <a:bodyPr wrap="none" anchor="ctr"/>
            <a:lstStyle/>
            <a:p>
              <a:endParaRPr lang="en-US" sz="1600"/>
            </a:p>
          </p:txBody>
        </p:sp>
        <p:sp>
          <p:nvSpPr>
            <p:cNvPr id="551949" name="AutoShape 13"/>
            <p:cNvSpPr>
              <a:spLocks noChangeArrowheads="1"/>
            </p:cNvSpPr>
            <p:nvPr/>
          </p:nvSpPr>
          <p:spPr bwMode="auto">
            <a:xfrm>
              <a:off x="410" y="3153"/>
              <a:ext cx="1641" cy="586"/>
            </a:xfrm>
            <a:prstGeom prst="roundRect">
              <a:avLst>
                <a:gd name="adj" fmla="val 10296"/>
              </a:avLst>
            </a:prstGeom>
            <a:gradFill rotWithShape="1">
              <a:gsLst>
                <a:gs pos="0">
                  <a:srgbClr val="ADE2A1"/>
                </a:gs>
                <a:gs pos="100000">
                  <a:srgbClr val="E8F6E4"/>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marL="228600" indent="-228600" algn="l">
                <a:lnSpc>
                  <a:spcPct val="85000"/>
                </a:lnSpc>
                <a:defRPr/>
              </a:pPr>
              <a:r>
                <a:rPr lang="en-US" sz="1600">
                  <a:cs typeface="Arial" charset="0"/>
                </a:rPr>
                <a:t>2. </a:t>
              </a:r>
              <a:r>
                <a:rPr lang="en-US" sz="1600"/>
                <a:t>If the preferred server fails, the client tries the alternate DNS server.</a:t>
              </a:r>
            </a:p>
          </p:txBody>
        </p:sp>
      </p:grpSp>
      <p:sp>
        <p:nvSpPr>
          <p:cNvPr id="551950" name="Rectangle 14"/>
          <p:cNvSpPr>
            <a:spLocks noChangeArrowheads="1"/>
          </p:cNvSpPr>
          <p:nvPr/>
        </p:nvSpPr>
        <p:spPr bwMode="auto">
          <a:xfrm>
            <a:off x="4886325" y="1871663"/>
            <a:ext cx="3300413" cy="842962"/>
          </a:xfrm>
          <a:prstGeom prst="rect">
            <a:avLst/>
          </a:prstGeom>
          <a:noFill/>
          <a:ln w="38100" algn="ctr">
            <a:solidFill>
              <a:srgbClr val="CC0000"/>
            </a:solidFill>
            <a:miter lim="800000"/>
            <a:headEnd/>
            <a:tailEnd/>
          </a:ln>
        </p:spPr>
        <p:txBody>
          <a:bodyPr wrap="none" anchor="ctr"/>
          <a:lstStyle/>
          <a:p>
            <a:endParaRPr lang="en-US" sz="1600"/>
          </a:p>
        </p:txBody>
      </p:sp>
      <p:grpSp>
        <p:nvGrpSpPr>
          <p:cNvPr id="4" name="Group 15"/>
          <p:cNvGrpSpPr>
            <a:grpSpLocks/>
          </p:cNvGrpSpPr>
          <p:nvPr/>
        </p:nvGrpSpPr>
        <p:grpSpPr bwMode="auto">
          <a:xfrm>
            <a:off x="5075238" y="2720975"/>
            <a:ext cx="3671887" cy="1903413"/>
            <a:chOff x="3197" y="2076"/>
            <a:chExt cx="2022" cy="1273"/>
          </a:xfrm>
        </p:grpSpPr>
        <p:sp>
          <p:nvSpPr>
            <p:cNvPr id="16402" name="Line 16"/>
            <p:cNvSpPr>
              <a:spLocks noChangeShapeType="1"/>
            </p:cNvSpPr>
            <p:nvPr/>
          </p:nvSpPr>
          <p:spPr bwMode="auto">
            <a:xfrm flipV="1">
              <a:off x="3490" y="2076"/>
              <a:ext cx="0" cy="542"/>
            </a:xfrm>
            <a:prstGeom prst="line">
              <a:avLst/>
            </a:prstGeom>
            <a:noFill/>
            <a:ln w="38100">
              <a:solidFill>
                <a:srgbClr val="CC0000"/>
              </a:solidFill>
              <a:round/>
              <a:headEnd/>
              <a:tailEnd/>
            </a:ln>
          </p:spPr>
          <p:txBody>
            <a:bodyPr wrap="none" anchor="ctr"/>
            <a:lstStyle/>
            <a:p>
              <a:endParaRPr lang="en-US" sz="1600"/>
            </a:p>
          </p:txBody>
        </p:sp>
        <p:sp>
          <p:nvSpPr>
            <p:cNvPr id="551953" name="AutoShape 17"/>
            <p:cNvSpPr>
              <a:spLocks noChangeArrowheads="1"/>
            </p:cNvSpPr>
            <p:nvPr/>
          </p:nvSpPr>
          <p:spPr bwMode="auto">
            <a:xfrm>
              <a:off x="3197" y="2382"/>
              <a:ext cx="2022" cy="967"/>
            </a:xfrm>
            <a:prstGeom prst="roundRect">
              <a:avLst>
                <a:gd name="adj" fmla="val 10296"/>
              </a:avLst>
            </a:prstGeom>
            <a:gradFill rotWithShape="1">
              <a:gsLst>
                <a:gs pos="0">
                  <a:srgbClr val="ADE2A1"/>
                </a:gs>
                <a:gs pos="100000">
                  <a:srgbClr val="E8F6E4"/>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marL="228600" indent="-228600" algn="l">
                <a:lnSpc>
                  <a:spcPct val="85000"/>
                </a:lnSpc>
                <a:defRPr/>
              </a:pPr>
              <a:r>
                <a:rPr lang="en-US" sz="1600">
                  <a:cs typeface="Arial" charset="0"/>
                </a:rPr>
                <a:t>3. </a:t>
              </a:r>
              <a:r>
                <a:rPr lang="en-US" sz="1600"/>
                <a:t>Optionally, you can enter a whole list of alternate DNS servers.</a:t>
              </a:r>
              <a:r>
                <a:rPr lang="en-US" sz="1600" b="0"/>
                <a:t> </a:t>
              </a:r>
              <a:r>
                <a:rPr lang="en-US" sz="1600"/>
                <a:t>The preferred and alternate DNS servers automatically appear at the top of this list.</a:t>
              </a:r>
            </a:p>
          </p:txBody>
        </p:sp>
      </p:grpSp>
    </p:spTree>
    <p:extLst>
      <p:ext uri="{BB962C8B-B14F-4D97-AF65-F5344CB8AC3E}">
        <p14:creationId xmlns:p14="http://schemas.microsoft.com/office/powerpoint/2010/main" val="2945473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2"/>
                                        </p:tgtEl>
                                      </p:cBhvr>
                                    </p:animEffect>
                                    <p:set>
                                      <p:cBhvr>
                                        <p:cTn id="12" dur="1" fill="hold">
                                          <p:stCondLst>
                                            <p:cond delay="499"/>
                                          </p:stCondLst>
                                        </p:cTn>
                                        <p:tgtEl>
                                          <p:spTgt spid="2"/>
                                        </p:tgtEl>
                                        <p:attrNameLst>
                                          <p:attrName>style.visibility</p:attrName>
                                        </p:attrNameLst>
                                      </p:cBhvr>
                                      <p:to>
                                        <p:strVal val="hidden"/>
                                      </p:to>
                                    </p:set>
                                  </p:childTnLst>
                                </p:cTn>
                              </p:par>
                              <p:par>
                                <p:cTn id="13" presetID="10"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551940"/>
                                        </p:tgtEl>
                                        <p:attrNameLst>
                                          <p:attrName>style.visibility</p:attrName>
                                        </p:attrNameLst>
                                      </p:cBhvr>
                                      <p:to>
                                        <p:strVal val="visible"/>
                                      </p:to>
                                    </p:set>
                                    <p:animEffect transition="in" filter="fade">
                                      <p:cBhvr>
                                        <p:cTn id="20" dur="500"/>
                                        <p:tgtEl>
                                          <p:spTgt spid="551940"/>
                                        </p:tgtEl>
                                      </p:cBhvr>
                                    </p:animEffect>
                                  </p:childTnLst>
                                </p:cTn>
                              </p:par>
                              <p:par>
                                <p:cTn id="21" presetID="10" presetClass="entr" presetSubtype="0" fill="hold" nodeType="withEffect">
                                  <p:stCondLst>
                                    <p:cond delay="0"/>
                                  </p:stCondLst>
                                  <p:childTnLst>
                                    <p:set>
                                      <p:cBhvr>
                                        <p:cTn id="22" dur="1" fill="hold">
                                          <p:stCondLst>
                                            <p:cond delay="0"/>
                                          </p:stCondLst>
                                        </p:cTn>
                                        <p:tgtEl>
                                          <p:spTgt spid="551941"/>
                                        </p:tgtEl>
                                        <p:attrNameLst>
                                          <p:attrName>style.visibility</p:attrName>
                                        </p:attrNameLst>
                                      </p:cBhvr>
                                      <p:to>
                                        <p:strVal val="visible"/>
                                      </p:to>
                                    </p:set>
                                    <p:animEffect transition="in" filter="fade">
                                      <p:cBhvr>
                                        <p:cTn id="23" dur="500"/>
                                        <p:tgtEl>
                                          <p:spTgt spid="551941"/>
                                        </p:tgtEl>
                                      </p:cBhvr>
                                    </p:animEffect>
                                  </p:childTnLst>
                                </p:cTn>
                              </p:par>
                              <p:par>
                                <p:cTn id="24" presetID="10" presetClass="exit" presetSubtype="0" fill="hold" nodeType="withEffect">
                                  <p:stCondLst>
                                    <p:cond delay="0"/>
                                  </p:stCondLst>
                                  <p:childTnLst>
                                    <p:animEffect transition="out" filter="fade">
                                      <p:cBhvr>
                                        <p:cTn id="25" dur="500"/>
                                        <p:tgtEl>
                                          <p:spTgt spid="3"/>
                                        </p:tgtEl>
                                      </p:cBhvr>
                                    </p:animEffect>
                                    <p:set>
                                      <p:cBhvr>
                                        <p:cTn id="26" dur="1" fill="hold">
                                          <p:stCondLst>
                                            <p:cond delay="499"/>
                                          </p:stCondLst>
                                        </p:cTn>
                                        <p:tgtEl>
                                          <p:spTgt spid="3"/>
                                        </p:tgtEl>
                                        <p:attrNameLst>
                                          <p:attrName>style.visibility</p:attrName>
                                        </p:attrNameLst>
                                      </p:cBhvr>
                                      <p:to>
                                        <p:strVal val="hidden"/>
                                      </p:to>
                                    </p:set>
                                  </p:childTnLst>
                                </p:cTn>
                              </p:par>
                            </p:childTnLst>
                          </p:cTn>
                        </p:par>
                        <p:par>
                          <p:cTn id="27" fill="hold">
                            <p:stCondLst>
                              <p:cond delay="500"/>
                            </p:stCondLst>
                            <p:childTnLst>
                              <p:par>
                                <p:cTn id="28" presetID="10" presetClass="entr" presetSubtype="0" fill="hold" grpId="0" nodeType="afterEffect">
                                  <p:stCondLst>
                                    <p:cond delay="0"/>
                                  </p:stCondLst>
                                  <p:childTnLst>
                                    <p:set>
                                      <p:cBhvr>
                                        <p:cTn id="29" dur="1" fill="hold">
                                          <p:stCondLst>
                                            <p:cond delay="0"/>
                                          </p:stCondLst>
                                        </p:cTn>
                                        <p:tgtEl>
                                          <p:spTgt spid="551950"/>
                                        </p:tgtEl>
                                        <p:attrNameLst>
                                          <p:attrName>style.visibility</p:attrName>
                                        </p:attrNameLst>
                                      </p:cBhvr>
                                      <p:to>
                                        <p:strVal val="visible"/>
                                      </p:to>
                                    </p:set>
                                    <p:animEffect transition="in" filter="fade">
                                      <p:cBhvr>
                                        <p:cTn id="30" dur="500"/>
                                        <p:tgtEl>
                                          <p:spTgt spid="551950"/>
                                        </p:tgtEl>
                                      </p:cBhvr>
                                    </p:animEffect>
                                  </p:childTnLst>
                                </p:cTn>
                              </p:par>
                              <p:par>
                                <p:cTn id="31" presetID="10" presetClass="entr" presetSubtype="0" fill="hold" nodeType="with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fade">
                                      <p:cBhvr>
                                        <p:cTn id="3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1940" grpId="0" animBg="1"/>
      <p:bldP spid="551950"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endParaRPr lang="en-US"/>
          </a:p>
        </p:txBody>
      </p:sp>
      <p:sp>
        <p:nvSpPr>
          <p:cNvPr id="3" name="Title 2"/>
          <p:cNvSpPr>
            <a:spLocks noGrp="1"/>
          </p:cNvSpPr>
          <p:nvPr>
            <p:ph type="title"/>
          </p:nvPr>
        </p:nvSpPr>
        <p:spPr/>
        <p:txBody>
          <a:bodyPr/>
          <a:lstStyle/>
          <a:p>
            <a:r>
              <a:rPr lang="en-US" smtClean="0"/>
              <a:t>Ex: A</a:t>
            </a:r>
            <a:endParaRPr lang="en-US"/>
          </a:p>
        </p:txBody>
      </p:sp>
      <p:grpSp>
        <p:nvGrpSpPr>
          <p:cNvPr id="14" name="Group 13"/>
          <p:cNvGrpSpPr/>
          <p:nvPr/>
        </p:nvGrpSpPr>
        <p:grpSpPr>
          <a:xfrm>
            <a:off x="381000" y="838200"/>
            <a:ext cx="8610600" cy="4114800"/>
            <a:chOff x="381000" y="838200"/>
            <a:chExt cx="8610600" cy="4114800"/>
          </a:xfrm>
        </p:grpSpPr>
        <p:pic>
          <p:nvPicPr>
            <p:cNvPr id="2050" name="Picture 2"/>
            <p:cNvPicPr>
              <a:picLocks noChangeAspect="1" noChangeArrowheads="1"/>
            </p:cNvPicPr>
            <p:nvPr/>
          </p:nvPicPr>
          <p:blipFill>
            <a:blip r:embed="rId2"/>
            <a:srcRect/>
            <a:stretch>
              <a:fillRect/>
            </a:stretch>
          </p:blipFill>
          <p:spPr bwMode="auto">
            <a:xfrm>
              <a:off x="381000" y="838200"/>
              <a:ext cx="8610600" cy="4114800"/>
            </a:xfrm>
            <a:prstGeom prst="rect">
              <a:avLst/>
            </a:prstGeom>
            <a:noFill/>
            <a:ln w="9525">
              <a:noFill/>
              <a:miter lim="800000"/>
              <a:headEnd/>
              <a:tailEnd/>
            </a:ln>
            <a:effectLst/>
          </p:spPr>
        </p:pic>
        <p:sp>
          <p:nvSpPr>
            <p:cNvPr id="9" name="Rectangle 8"/>
            <p:cNvSpPr/>
            <p:nvPr/>
          </p:nvSpPr>
          <p:spPr>
            <a:xfrm>
              <a:off x="2819400" y="3657600"/>
              <a:ext cx="4953000" cy="457200"/>
            </a:xfrm>
            <a:prstGeom prst="rect">
              <a:avLst/>
            </a:prstGeom>
            <a:noFill/>
            <a:ln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2819400" y="3200400"/>
              <a:ext cx="4953000" cy="228600"/>
            </a:xfrm>
            <a:prstGeom prst="rect">
              <a:avLst/>
            </a:prstGeom>
            <a:noFill/>
            <a:ln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p:cNvGrpSpPr/>
          <p:nvPr/>
        </p:nvGrpSpPr>
        <p:grpSpPr>
          <a:xfrm>
            <a:off x="1" y="1219200"/>
            <a:ext cx="7315200" cy="3581400"/>
            <a:chOff x="457200" y="2133600"/>
            <a:chExt cx="8236111" cy="3581400"/>
          </a:xfrm>
        </p:grpSpPr>
        <p:pic>
          <p:nvPicPr>
            <p:cNvPr id="2054" name="Picture 6"/>
            <p:cNvPicPr>
              <a:picLocks noChangeAspect="1" noChangeArrowheads="1"/>
            </p:cNvPicPr>
            <p:nvPr/>
          </p:nvPicPr>
          <p:blipFill>
            <a:blip r:embed="rId3"/>
            <a:srcRect/>
            <a:stretch>
              <a:fillRect/>
            </a:stretch>
          </p:blipFill>
          <p:spPr bwMode="auto">
            <a:xfrm>
              <a:off x="457200" y="2133600"/>
              <a:ext cx="8236111" cy="3581400"/>
            </a:xfrm>
            <a:prstGeom prst="rect">
              <a:avLst/>
            </a:prstGeom>
            <a:noFill/>
            <a:ln w="9525">
              <a:noFill/>
              <a:miter lim="800000"/>
              <a:headEnd/>
              <a:tailEnd/>
            </a:ln>
            <a:effectLst/>
          </p:spPr>
        </p:pic>
        <p:sp>
          <p:nvSpPr>
            <p:cNvPr id="12" name="Rectangle 11"/>
            <p:cNvSpPr/>
            <p:nvPr/>
          </p:nvSpPr>
          <p:spPr>
            <a:xfrm>
              <a:off x="2743200" y="3810000"/>
              <a:ext cx="4953000" cy="609600"/>
            </a:xfrm>
            <a:prstGeom prst="rect">
              <a:avLst/>
            </a:prstGeom>
            <a:noFill/>
            <a:ln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052" name="Picture 4"/>
          <p:cNvPicPr>
            <a:picLocks noChangeAspect="1" noChangeArrowheads="1"/>
          </p:cNvPicPr>
          <p:nvPr/>
        </p:nvPicPr>
        <p:blipFill>
          <a:blip r:embed="rId4"/>
          <a:srcRect/>
          <a:stretch>
            <a:fillRect/>
          </a:stretch>
        </p:blipFill>
        <p:spPr bwMode="auto">
          <a:xfrm>
            <a:off x="5105400" y="666750"/>
            <a:ext cx="4038600" cy="6191250"/>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052"/>
                                        </p:tgtEl>
                                        <p:attrNameLst>
                                          <p:attrName>style.visibility</p:attrName>
                                        </p:attrNameLst>
                                      </p:cBhvr>
                                      <p:to>
                                        <p:strVal val="visible"/>
                                      </p:to>
                                    </p:set>
                                    <p:anim calcmode="lin" valueType="num">
                                      <p:cBhvr additive="base">
                                        <p:cTn id="13" dur="500" fill="hold"/>
                                        <p:tgtEl>
                                          <p:spTgt spid="2052"/>
                                        </p:tgtEl>
                                        <p:attrNameLst>
                                          <p:attrName>ppt_x</p:attrName>
                                        </p:attrNameLst>
                                      </p:cBhvr>
                                      <p:tavLst>
                                        <p:tav tm="0">
                                          <p:val>
                                            <p:strVal val="#ppt_x"/>
                                          </p:val>
                                        </p:tav>
                                        <p:tav tm="100000">
                                          <p:val>
                                            <p:strVal val="#ppt_x"/>
                                          </p:val>
                                        </p:tav>
                                      </p:tavLst>
                                    </p:anim>
                                    <p:anim calcmode="lin" valueType="num">
                                      <p:cBhvr additive="base">
                                        <p:cTn id="14" dur="500" fill="hold"/>
                                        <p:tgtEl>
                                          <p:spTgt spid="20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Ex: CNAME</a:t>
            </a:r>
            <a:endParaRPr lang="en-US"/>
          </a:p>
        </p:txBody>
      </p:sp>
      <p:pic>
        <p:nvPicPr>
          <p:cNvPr id="5124" name="Picture 4"/>
          <p:cNvPicPr>
            <a:picLocks noChangeAspect="1" noChangeArrowheads="1"/>
          </p:cNvPicPr>
          <p:nvPr/>
        </p:nvPicPr>
        <p:blipFill>
          <a:blip r:embed="rId2"/>
          <a:srcRect/>
          <a:stretch>
            <a:fillRect/>
          </a:stretch>
        </p:blipFill>
        <p:spPr bwMode="auto">
          <a:xfrm>
            <a:off x="304800" y="838200"/>
            <a:ext cx="8077200" cy="3733800"/>
          </a:xfrm>
          <a:prstGeom prst="rect">
            <a:avLst/>
          </a:prstGeom>
          <a:noFill/>
          <a:ln w="9525">
            <a:noFill/>
            <a:miter lim="800000"/>
            <a:headEnd/>
            <a:tailEnd/>
          </a:ln>
          <a:effectLst/>
        </p:spPr>
      </p:pic>
      <p:pic>
        <p:nvPicPr>
          <p:cNvPr id="5123" name="Picture 3"/>
          <p:cNvPicPr>
            <a:picLocks noChangeAspect="1" noChangeArrowheads="1"/>
          </p:cNvPicPr>
          <p:nvPr/>
        </p:nvPicPr>
        <p:blipFill>
          <a:blip r:embed="rId3"/>
          <a:srcRect/>
          <a:stretch>
            <a:fillRect/>
          </a:stretch>
        </p:blipFill>
        <p:spPr bwMode="auto">
          <a:xfrm>
            <a:off x="838200" y="1143000"/>
            <a:ext cx="7991475" cy="4648200"/>
          </a:xfrm>
          <a:prstGeom prst="rect">
            <a:avLst/>
          </a:prstGeom>
          <a:noFill/>
          <a:ln w="9525">
            <a:noFill/>
            <a:miter lim="800000"/>
            <a:headEnd/>
            <a:tailEnd/>
          </a:ln>
          <a:effectLst/>
        </p:spPr>
      </p:pic>
      <p:pic>
        <p:nvPicPr>
          <p:cNvPr id="1026" name="Picture 2"/>
          <p:cNvPicPr>
            <a:picLocks noChangeAspect="1" noChangeArrowheads="1"/>
          </p:cNvPicPr>
          <p:nvPr/>
        </p:nvPicPr>
        <p:blipFill>
          <a:blip r:embed="rId4"/>
          <a:srcRect/>
          <a:stretch>
            <a:fillRect/>
          </a:stretch>
        </p:blipFill>
        <p:spPr bwMode="auto">
          <a:xfrm>
            <a:off x="838200" y="4495800"/>
            <a:ext cx="8001000" cy="2362200"/>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124"/>
                                        </p:tgtEl>
                                        <p:attrNameLst>
                                          <p:attrName>style.visibility</p:attrName>
                                        </p:attrNameLst>
                                      </p:cBhvr>
                                      <p:to>
                                        <p:strVal val="visible"/>
                                      </p:to>
                                    </p:set>
                                    <p:anim calcmode="lin" valueType="num">
                                      <p:cBhvr additive="base">
                                        <p:cTn id="7" dur="500" fill="hold"/>
                                        <p:tgtEl>
                                          <p:spTgt spid="5124"/>
                                        </p:tgtEl>
                                        <p:attrNameLst>
                                          <p:attrName>ppt_x</p:attrName>
                                        </p:attrNameLst>
                                      </p:cBhvr>
                                      <p:tavLst>
                                        <p:tav tm="0">
                                          <p:val>
                                            <p:strVal val="#ppt_x"/>
                                          </p:val>
                                        </p:tav>
                                        <p:tav tm="100000">
                                          <p:val>
                                            <p:strVal val="#ppt_x"/>
                                          </p:val>
                                        </p:tav>
                                      </p:tavLst>
                                    </p:anim>
                                    <p:anim calcmode="lin" valueType="num">
                                      <p:cBhvr additive="base">
                                        <p:cTn id="8" dur="500" fill="hold"/>
                                        <p:tgtEl>
                                          <p:spTgt spid="512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123"/>
                                        </p:tgtEl>
                                        <p:attrNameLst>
                                          <p:attrName>style.visibility</p:attrName>
                                        </p:attrNameLst>
                                      </p:cBhvr>
                                      <p:to>
                                        <p:strVal val="visible"/>
                                      </p:to>
                                    </p:set>
                                    <p:anim calcmode="lin" valueType="num">
                                      <p:cBhvr additive="base">
                                        <p:cTn id="13" dur="500" fill="hold"/>
                                        <p:tgtEl>
                                          <p:spTgt spid="5123"/>
                                        </p:tgtEl>
                                        <p:attrNameLst>
                                          <p:attrName>ppt_x</p:attrName>
                                        </p:attrNameLst>
                                      </p:cBhvr>
                                      <p:tavLst>
                                        <p:tav tm="0">
                                          <p:val>
                                            <p:strVal val="#ppt_x"/>
                                          </p:val>
                                        </p:tav>
                                        <p:tav tm="100000">
                                          <p:val>
                                            <p:strVal val="#ppt_x"/>
                                          </p:val>
                                        </p:tav>
                                      </p:tavLst>
                                    </p:anim>
                                    <p:anim calcmode="lin" valueType="num">
                                      <p:cBhvr additive="base">
                                        <p:cTn id="14" dur="500" fill="hold"/>
                                        <p:tgtEl>
                                          <p:spTgt spid="512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26"/>
                                        </p:tgtEl>
                                        <p:attrNameLst>
                                          <p:attrName>style.visibility</p:attrName>
                                        </p:attrNameLst>
                                      </p:cBhvr>
                                      <p:to>
                                        <p:strVal val="visible"/>
                                      </p:to>
                                    </p:set>
                                    <p:anim calcmode="lin" valueType="num">
                                      <p:cBhvr additive="base">
                                        <p:cTn id="19" dur="500" fill="hold"/>
                                        <p:tgtEl>
                                          <p:spTgt spid="1026"/>
                                        </p:tgtEl>
                                        <p:attrNameLst>
                                          <p:attrName>ppt_x</p:attrName>
                                        </p:attrNameLst>
                                      </p:cBhvr>
                                      <p:tavLst>
                                        <p:tav tm="0">
                                          <p:val>
                                            <p:strVal val="#ppt_x"/>
                                          </p:val>
                                        </p:tav>
                                        <p:tav tm="100000">
                                          <p:val>
                                            <p:strVal val="#ppt_x"/>
                                          </p:val>
                                        </p:tav>
                                      </p:tavLst>
                                    </p:anim>
                                    <p:anim calcmode="lin" valueType="num">
                                      <p:cBhvr additive="base">
                                        <p:cTn id="20"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173038" indent="-109538">
              <a:buNone/>
            </a:pPr>
            <a:r>
              <a:rPr lang="en-US" smtClean="0"/>
              <a:t>C</a:t>
            </a:r>
            <a:r>
              <a:rPr lang="vi-VN" smtClean="0"/>
              <a:t>ung cấp tên miền cho các  tổ chức, các bộ phận con  trong miền</a:t>
            </a:r>
            <a:endParaRPr lang="en-US" smtClean="0"/>
          </a:p>
          <a:p>
            <a:pPr marL="173038" indent="-109538">
              <a:buNone/>
            </a:pPr>
            <a:r>
              <a:rPr lang="en-US" smtClean="0"/>
              <a:t>C</a:t>
            </a:r>
            <a:r>
              <a:rPr lang="vi-VN" smtClean="0"/>
              <a:t>ó  thể phân loại và tổ chức hệ thống dễ dàng hơn. </a:t>
            </a:r>
            <a:endParaRPr lang="en-US" smtClean="0"/>
          </a:p>
          <a:p>
            <a:pPr marL="173038" indent="-109538">
              <a:buNone/>
            </a:pPr>
            <a:r>
              <a:rPr lang="en-US" smtClean="0"/>
              <a:t>C</a:t>
            </a:r>
            <a:r>
              <a:rPr lang="vi-VN" smtClean="0"/>
              <a:t>họn Forward Lookup Zone</a:t>
            </a:r>
            <a:r>
              <a:rPr lang="en-US" smtClean="0"/>
              <a:t>\ </a:t>
            </a:r>
            <a:r>
              <a:rPr lang="vi-VN" smtClean="0"/>
              <a:t>tên Zone</a:t>
            </a:r>
            <a:r>
              <a:rPr lang="en-US" smtClean="0"/>
              <a:t>\</a:t>
            </a:r>
            <a:r>
              <a:rPr lang="vi-VN" smtClean="0"/>
              <a:t> New Domain…</a:t>
            </a:r>
          </a:p>
        </p:txBody>
      </p:sp>
      <p:sp>
        <p:nvSpPr>
          <p:cNvPr id="3" name="Title 2"/>
          <p:cNvSpPr>
            <a:spLocks noGrp="1"/>
          </p:cNvSpPr>
          <p:nvPr>
            <p:ph type="title"/>
          </p:nvPr>
        </p:nvSpPr>
        <p:spPr>
          <a:xfrm>
            <a:off x="0" y="76200"/>
            <a:ext cx="9144000" cy="609600"/>
          </a:xfrm>
        </p:spPr>
        <p:txBody>
          <a:bodyPr/>
          <a:lstStyle/>
          <a:p>
            <a:r>
              <a:rPr lang="vi-VN" sz="3600" smtClean="0"/>
              <a:t> VII</a:t>
            </a:r>
            <a:r>
              <a:rPr lang="en-US" sz="3600" smtClean="0"/>
              <a:t>I</a:t>
            </a:r>
            <a:r>
              <a:rPr lang="vi-VN" sz="3600" smtClean="0"/>
              <a:t>.</a:t>
            </a:r>
            <a:r>
              <a:rPr lang="en-US" sz="3600" smtClean="0"/>
              <a:t>5. </a:t>
            </a:r>
            <a:r>
              <a:rPr lang="vi-VN" sz="3600" smtClean="0"/>
              <a:t>Tạo miền con</a:t>
            </a:r>
            <a:r>
              <a:rPr lang="en-US" sz="3600" smtClean="0"/>
              <a:t> </a:t>
            </a:r>
            <a:r>
              <a:rPr lang="vi-VN" sz="3600" smtClean="0"/>
              <a:t>(Subdomain). </a:t>
            </a:r>
            <a:endParaRPr lang="en-US" sz="3600" smtClean="0"/>
          </a:p>
        </p:txBody>
      </p:sp>
      <p:pic>
        <p:nvPicPr>
          <p:cNvPr id="3074" name="Picture 2"/>
          <p:cNvPicPr>
            <a:picLocks noChangeAspect="1" noChangeArrowheads="1"/>
          </p:cNvPicPr>
          <p:nvPr/>
        </p:nvPicPr>
        <p:blipFill>
          <a:blip r:embed="rId2"/>
          <a:srcRect/>
          <a:stretch>
            <a:fillRect/>
          </a:stretch>
        </p:blipFill>
        <p:spPr bwMode="auto">
          <a:xfrm>
            <a:off x="304800" y="2895600"/>
            <a:ext cx="7696200" cy="3962400"/>
          </a:xfrm>
          <a:prstGeom prst="rect">
            <a:avLst/>
          </a:prstGeom>
          <a:noFill/>
          <a:ln w="9525">
            <a:noFill/>
            <a:miter lim="800000"/>
            <a:headEnd/>
            <a:tailEnd/>
          </a:ln>
          <a:effectLst/>
        </p:spPr>
      </p:pic>
      <p:pic>
        <p:nvPicPr>
          <p:cNvPr id="3075" name="Picture 3"/>
          <p:cNvPicPr>
            <a:picLocks noChangeAspect="1" noChangeArrowheads="1"/>
          </p:cNvPicPr>
          <p:nvPr/>
        </p:nvPicPr>
        <p:blipFill>
          <a:blip r:embed="rId3"/>
          <a:srcRect/>
          <a:stretch>
            <a:fillRect/>
          </a:stretch>
        </p:blipFill>
        <p:spPr bwMode="auto">
          <a:xfrm>
            <a:off x="1371600" y="2895600"/>
            <a:ext cx="7303965" cy="3962400"/>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 calcmode="lin" valueType="num">
                                      <p:cBhvr additive="base">
                                        <p:cTn id="7" dur="500" fill="hold"/>
                                        <p:tgtEl>
                                          <p:spTgt spid="3074"/>
                                        </p:tgtEl>
                                        <p:attrNameLst>
                                          <p:attrName>ppt_x</p:attrName>
                                        </p:attrNameLst>
                                      </p:cBhvr>
                                      <p:tavLst>
                                        <p:tav tm="0">
                                          <p:val>
                                            <p:strVal val="#ppt_x"/>
                                          </p:val>
                                        </p:tav>
                                        <p:tav tm="100000">
                                          <p:val>
                                            <p:strVal val="#ppt_x"/>
                                          </p:val>
                                        </p:tav>
                                      </p:tavLst>
                                    </p:anim>
                                    <p:anim calcmode="lin" valueType="num">
                                      <p:cBhvr additive="base">
                                        <p:cTn id="8" dur="500" fill="hold"/>
                                        <p:tgtEl>
                                          <p:spTgt spid="307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075"/>
                                        </p:tgtEl>
                                        <p:attrNameLst>
                                          <p:attrName>style.visibility</p:attrName>
                                        </p:attrNameLst>
                                      </p:cBhvr>
                                      <p:to>
                                        <p:strVal val="visible"/>
                                      </p:to>
                                    </p:set>
                                    <p:anim calcmode="lin" valueType="num">
                                      <p:cBhvr additive="base">
                                        <p:cTn id="13" dur="500" fill="hold"/>
                                        <p:tgtEl>
                                          <p:spTgt spid="3075"/>
                                        </p:tgtEl>
                                        <p:attrNameLst>
                                          <p:attrName>ppt_x</p:attrName>
                                        </p:attrNameLst>
                                      </p:cBhvr>
                                      <p:tavLst>
                                        <p:tav tm="0">
                                          <p:val>
                                            <p:strVal val="#ppt_x"/>
                                          </p:val>
                                        </p:tav>
                                        <p:tav tm="100000">
                                          <p:val>
                                            <p:strVal val="#ppt_x"/>
                                          </p:val>
                                        </p:tav>
                                      </p:tavLst>
                                    </p:anim>
                                    <p:anim calcmode="lin" valueType="num">
                                      <p:cBhvr additive="base">
                                        <p:cTn id="14" dur="500" fill="hold"/>
                                        <p:tgtEl>
                                          <p:spTgt spid="307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a:p>
        </p:txBody>
      </p:sp>
      <p:sp>
        <p:nvSpPr>
          <p:cNvPr id="3" name="Title 2"/>
          <p:cNvSpPr>
            <a:spLocks noGrp="1"/>
          </p:cNvSpPr>
          <p:nvPr>
            <p:ph type="title"/>
          </p:nvPr>
        </p:nvSpPr>
        <p:spPr/>
        <p:txBody>
          <a:bodyPr/>
          <a:lstStyle/>
          <a:p>
            <a:r>
              <a:rPr lang="en-US" smtClean="0"/>
              <a:t>Ex: subdomain</a:t>
            </a:r>
            <a:endParaRPr lang="en-US"/>
          </a:p>
        </p:txBody>
      </p:sp>
      <p:grpSp>
        <p:nvGrpSpPr>
          <p:cNvPr id="8" name="Group 7"/>
          <p:cNvGrpSpPr/>
          <p:nvPr/>
        </p:nvGrpSpPr>
        <p:grpSpPr>
          <a:xfrm>
            <a:off x="304800" y="1295400"/>
            <a:ext cx="8534400" cy="5334000"/>
            <a:chOff x="304800" y="1295400"/>
            <a:chExt cx="8534400" cy="5334000"/>
          </a:xfrm>
        </p:grpSpPr>
        <p:pic>
          <p:nvPicPr>
            <p:cNvPr id="4099" name="Picture 3"/>
            <p:cNvPicPr>
              <a:picLocks noChangeAspect="1" noChangeArrowheads="1"/>
            </p:cNvPicPr>
            <p:nvPr/>
          </p:nvPicPr>
          <p:blipFill>
            <a:blip r:embed="rId2"/>
            <a:srcRect/>
            <a:stretch>
              <a:fillRect/>
            </a:stretch>
          </p:blipFill>
          <p:spPr bwMode="auto">
            <a:xfrm>
              <a:off x="304800" y="1295400"/>
              <a:ext cx="8534400" cy="5334000"/>
            </a:xfrm>
            <a:prstGeom prst="rect">
              <a:avLst/>
            </a:prstGeom>
            <a:noFill/>
            <a:ln w="9525">
              <a:noFill/>
              <a:miter lim="800000"/>
              <a:headEnd/>
              <a:tailEnd/>
            </a:ln>
            <a:effectLst/>
          </p:spPr>
        </p:pic>
        <p:sp>
          <p:nvSpPr>
            <p:cNvPr id="6" name="Rectangle 5"/>
            <p:cNvSpPr/>
            <p:nvPr/>
          </p:nvSpPr>
          <p:spPr>
            <a:xfrm>
              <a:off x="304800" y="3962400"/>
              <a:ext cx="3352800" cy="1143000"/>
            </a:xfrm>
            <a:prstGeom prst="rect">
              <a:avLst/>
            </a:prstGeom>
            <a:noFill/>
            <a:ln w="53975"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4495800" y="5334000"/>
              <a:ext cx="3352800" cy="381000"/>
            </a:xfrm>
            <a:prstGeom prst="rect">
              <a:avLst/>
            </a:prstGeom>
            <a:noFill/>
            <a:ln w="53975"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marL="623887" indent="-514350">
              <a:buNone/>
            </a:pPr>
            <a:r>
              <a:rPr lang="vi-VN" smtClean="0"/>
              <a:t> Giả   sử   ta  </a:t>
            </a:r>
            <a:r>
              <a:rPr lang="en-US" smtClean="0"/>
              <a:t>có miền spkt.net, </a:t>
            </a:r>
            <a:r>
              <a:rPr lang="vi-VN" smtClean="0"/>
              <a:t> ủy   quyền   </a:t>
            </a:r>
            <a:r>
              <a:rPr lang="en-US" smtClean="0"/>
              <a:t>quản lý</a:t>
            </a:r>
            <a:r>
              <a:rPr lang="vi-VN" smtClean="0"/>
              <a:t>   miền   subdomain   </a:t>
            </a:r>
            <a:r>
              <a:rPr lang="en-US" smtClean="0"/>
              <a:t>cntt.spkt.net </a:t>
            </a:r>
            <a:r>
              <a:rPr lang="vi-VN" smtClean="0"/>
              <a:t>cho   server   </a:t>
            </a:r>
            <a:r>
              <a:rPr lang="en-US" smtClean="0"/>
              <a:t>cntt</a:t>
            </a:r>
            <a:r>
              <a:rPr lang="vi-VN" smtClean="0"/>
              <a:t>   có   địa   c</a:t>
            </a:r>
            <a:r>
              <a:rPr lang="en-US" smtClean="0"/>
              <a:t>hỉ IP x.x.x.x</a:t>
            </a:r>
            <a:r>
              <a:rPr lang="vi-VN" smtClean="0"/>
              <a:t> quản lý</a:t>
            </a:r>
          </a:p>
          <a:p>
            <a:pPr marL="623887" indent="-514350">
              <a:buNone/>
            </a:pPr>
            <a:r>
              <a:rPr lang="vi-VN" smtClean="0"/>
              <a:t>-  Tạo resource record A cho </a:t>
            </a:r>
            <a:r>
              <a:rPr lang="en-US" smtClean="0"/>
              <a:t>cntt </a:t>
            </a:r>
            <a:r>
              <a:rPr lang="vi-VN" smtClean="0"/>
              <a:t>trong miền </a:t>
            </a:r>
            <a:r>
              <a:rPr lang="en-US" smtClean="0"/>
              <a:t>spkt.net</a:t>
            </a:r>
            <a:endParaRPr lang="vi-VN" smtClean="0"/>
          </a:p>
          <a:p>
            <a:pPr marL="623887" indent="-514350">
              <a:buFontTx/>
              <a:buChar char="-"/>
            </a:pPr>
            <a:r>
              <a:rPr lang="vi-VN" smtClean="0"/>
              <a:t>Chọn  Forward  Lookup  Zone, tên  Zone   </a:t>
            </a:r>
            <a:r>
              <a:rPr lang="en-US" smtClean="0"/>
              <a:t>\ </a:t>
            </a:r>
            <a:r>
              <a:rPr lang="vi-VN" smtClean="0"/>
              <a:t>chọn  </a:t>
            </a:r>
            <a:r>
              <a:rPr lang="vi-VN" b="1" smtClean="0">
                <a:solidFill>
                  <a:srgbClr val="FF0000"/>
                </a:solidFill>
              </a:rPr>
              <a:t>New  delegation</a:t>
            </a:r>
            <a:r>
              <a:rPr lang="vi-VN" smtClean="0"/>
              <a:t>…</a:t>
            </a:r>
            <a:endParaRPr lang="en-US" smtClean="0"/>
          </a:p>
          <a:p>
            <a:pPr marL="623887" indent="-514350">
              <a:buFontTx/>
              <a:buChar char="-"/>
            </a:pPr>
            <a:r>
              <a:rPr lang="vi-VN" smtClean="0"/>
              <a:t>Add  Name  Server  quản  lý  </a:t>
            </a:r>
            <a:r>
              <a:rPr lang="en-US" smtClean="0"/>
              <a:t>CSDL</a:t>
            </a:r>
            <a:r>
              <a:rPr lang="vi-VN" smtClean="0"/>
              <a:t>cho  miền  con  </a:t>
            </a:r>
            <a:r>
              <a:rPr lang="en-US" smtClean="0"/>
              <a:t>cntt.spkt.net </a:t>
            </a:r>
            <a:r>
              <a:rPr lang="vi-VN" smtClean="0"/>
              <a:t>trong  hộp  thoại  Name Server</a:t>
            </a:r>
          </a:p>
        </p:txBody>
      </p:sp>
      <p:sp>
        <p:nvSpPr>
          <p:cNvPr id="3" name="Title 2"/>
          <p:cNvSpPr>
            <a:spLocks noGrp="1"/>
          </p:cNvSpPr>
          <p:nvPr>
            <p:ph type="title"/>
          </p:nvPr>
        </p:nvSpPr>
        <p:spPr>
          <a:xfrm>
            <a:off x="0" y="76200"/>
            <a:ext cx="9144000" cy="609600"/>
          </a:xfrm>
        </p:spPr>
        <p:txBody>
          <a:bodyPr/>
          <a:lstStyle/>
          <a:p>
            <a:r>
              <a:rPr lang="vi-VN" sz="3600" smtClean="0"/>
              <a:t> VII</a:t>
            </a:r>
            <a:r>
              <a:rPr lang="en-US" sz="3600" smtClean="0"/>
              <a:t>I</a:t>
            </a:r>
            <a:r>
              <a:rPr lang="vi-VN" sz="3600" smtClean="0"/>
              <a:t>.</a:t>
            </a:r>
            <a:r>
              <a:rPr lang="en-US" sz="3600" smtClean="0"/>
              <a:t> 6. </a:t>
            </a:r>
            <a:r>
              <a:rPr lang="vi-VN" sz="3600" smtClean="0"/>
              <a:t>Ủy quyền cho miền con.</a:t>
            </a:r>
            <a:endParaRPr lang="en-US" sz="3600" smtClean="0"/>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112713" indent="-4763">
              <a:buNone/>
            </a:pPr>
            <a:r>
              <a:rPr lang="en-US" sz="2400" u="sng" dirty="0" err="1" smtClean="0">
                <a:latin typeface="Calibri" pitchFamily="34" charset="0"/>
                <a:cs typeface="Calibri" pitchFamily="34" charset="0"/>
              </a:rPr>
              <a:t>Dùng</a:t>
            </a:r>
            <a:r>
              <a:rPr lang="en-US" sz="2400" u="sng" dirty="0" smtClean="0">
                <a:latin typeface="Calibri" pitchFamily="34" charset="0"/>
                <a:cs typeface="Calibri" pitchFamily="34" charset="0"/>
              </a:rPr>
              <a:t> server </a:t>
            </a:r>
            <a:r>
              <a:rPr lang="en-US" sz="2400" u="sng" dirty="0" err="1" smtClean="0">
                <a:latin typeface="Calibri" pitchFamily="34" charset="0"/>
                <a:cs typeface="Calibri" pitchFamily="34" charset="0"/>
              </a:rPr>
              <a:t>khác</a:t>
            </a:r>
            <a:r>
              <a:rPr lang="en-US" sz="2400" u="sng" dirty="0" smtClean="0">
                <a:latin typeface="Calibri" pitchFamily="34" charset="0"/>
                <a:cs typeface="Calibri" pitchFamily="34" charset="0"/>
              </a:rPr>
              <a:t> </a:t>
            </a:r>
            <a:r>
              <a:rPr lang="en-US" sz="2400" dirty="0" err="1" smtClean="0">
                <a:latin typeface="Calibri" pitchFamily="34" charset="0"/>
                <a:cs typeface="Calibri" pitchFamily="34" charset="0"/>
              </a:rPr>
              <a:t>kết</a:t>
            </a:r>
            <a:r>
              <a:rPr lang="en-US" sz="2400" dirty="0" smtClean="0">
                <a:latin typeface="Calibri" pitchFamily="34" charset="0"/>
                <a:cs typeface="Calibri" pitchFamily="34" charset="0"/>
              </a:rPr>
              <a:t> </a:t>
            </a:r>
            <a:r>
              <a:rPr lang="en-US" sz="2400" dirty="0" err="1" smtClean="0">
                <a:latin typeface="Calibri" pitchFamily="34" charset="0"/>
                <a:cs typeface="Calibri" pitchFamily="34" charset="0"/>
              </a:rPr>
              <a:t>nối</a:t>
            </a:r>
            <a:r>
              <a:rPr lang="en-US" sz="2400" dirty="0" smtClean="0">
                <a:latin typeface="Calibri" pitchFamily="34" charset="0"/>
                <a:cs typeface="Calibri" pitchFamily="34" charset="0"/>
              </a:rPr>
              <a:t> </a:t>
            </a:r>
            <a:r>
              <a:rPr lang="en-US" sz="2400" dirty="0" err="1" smtClean="0">
                <a:latin typeface="Calibri" pitchFamily="34" charset="0"/>
                <a:cs typeface="Calibri" pitchFamily="34" charset="0"/>
              </a:rPr>
              <a:t>mạng</a:t>
            </a:r>
            <a:r>
              <a:rPr lang="en-US" sz="2400" dirty="0" smtClean="0">
                <a:latin typeface="Calibri" pitchFamily="34" charset="0"/>
                <a:cs typeface="Calibri" pitchFamily="34" charset="0"/>
              </a:rPr>
              <a:t> </a:t>
            </a:r>
            <a:r>
              <a:rPr lang="en-US" sz="2400" dirty="0" err="1" smtClean="0">
                <a:latin typeface="Calibri" pitchFamily="34" charset="0"/>
                <a:cs typeface="Calibri" pitchFamily="34" charset="0"/>
              </a:rPr>
              <a:t>với</a:t>
            </a:r>
            <a:r>
              <a:rPr lang="en-US" sz="2400" dirty="0" smtClean="0">
                <a:latin typeface="Calibri" pitchFamily="34" charset="0"/>
                <a:cs typeface="Calibri" pitchFamily="34" charset="0"/>
              </a:rPr>
              <a:t> server DNS Master, </a:t>
            </a:r>
          </a:p>
          <a:p>
            <a:pPr marL="565150" indent="-457200">
              <a:buFontTx/>
              <a:buChar char="-"/>
            </a:pPr>
            <a:r>
              <a:rPr lang="en-US" sz="2400" dirty="0" err="1" smtClean="0">
                <a:latin typeface="Calibri" pitchFamily="34" charset="0"/>
                <a:cs typeface="Calibri" pitchFamily="34" charset="0"/>
              </a:rPr>
              <a:t>Đặt</a:t>
            </a:r>
            <a:r>
              <a:rPr lang="en-US" sz="2400" dirty="0" smtClean="0">
                <a:latin typeface="Calibri" pitchFamily="34" charset="0"/>
                <a:cs typeface="Calibri" pitchFamily="34" charset="0"/>
              </a:rPr>
              <a:t> </a:t>
            </a:r>
            <a:r>
              <a:rPr lang="en-US" sz="2400" dirty="0">
                <a:latin typeface="Calibri" pitchFamily="34" charset="0"/>
                <a:cs typeface="Calibri" pitchFamily="34" charset="0"/>
              </a:rPr>
              <a:t>IP </a:t>
            </a:r>
            <a:r>
              <a:rPr lang="en-US" sz="2400" dirty="0" err="1">
                <a:latin typeface="Calibri" pitchFamily="34" charset="0"/>
                <a:cs typeface="Calibri" pitchFamily="34" charset="0"/>
              </a:rPr>
              <a:t>và</a:t>
            </a:r>
            <a:r>
              <a:rPr lang="en-US" sz="2400" dirty="0">
                <a:latin typeface="Calibri" pitchFamily="34" charset="0"/>
                <a:cs typeface="Calibri" pitchFamily="34" charset="0"/>
              </a:rPr>
              <a:t> </a:t>
            </a:r>
            <a:r>
              <a:rPr lang="en-US" sz="2400" dirty="0" err="1">
                <a:latin typeface="Calibri" pitchFamily="34" charset="0"/>
                <a:cs typeface="Calibri" pitchFamily="34" charset="0"/>
              </a:rPr>
              <a:t>cài</a:t>
            </a:r>
            <a:r>
              <a:rPr lang="en-US" sz="2400" dirty="0">
                <a:latin typeface="Calibri" pitchFamily="34" charset="0"/>
                <a:cs typeface="Calibri" pitchFamily="34" charset="0"/>
              </a:rPr>
              <a:t> DNS </a:t>
            </a:r>
            <a:r>
              <a:rPr lang="en-US" sz="2400" dirty="0" err="1">
                <a:latin typeface="Calibri" pitchFamily="34" charset="0"/>
                <a:cs typeface="Calibri" pitchFamily="34" charset="0"/>
              </a:rPr>
              <a:t>như</a:t>
            </a:r>
            <a:r>
              <a:rPr lang="en-US" sz="2400" dirty="0">
                <a:latin typeface="Calibri" pitchFamily="34" charset="0"/>
                <a:cs typeface="Calibri" pitchFamily="34" charset="0"/>
              </a:rPr>
              <a:t> </a:t>
            </a:r>
            <a:r>
              <a:rPr lang="en-US" sz="2400" dirty="0" smtClean="0">
                <a:latin typeface="Calibri" pitchFamily="34" charset="0"/>
                <a:cs typeface="Calibri" pitchFamily="34" charset="0"/>
              </a:rPr>
              <a:t>server DNS master. </a:t>
            </a:r>
          </a:p>
          <a:p>
            <a:pPr marL="565150" indent="-457200">
              <a:buFontTx/>
              <a:buChar char="-"/>
            </a:pPr>
            <a:r>
              <a:rPr lang="en-US" sz="2400" dirty="0" err="1" smtClean="0">
                <a:latin typeface="Calibri" pitchFamily="34" charset="0"/>
                <a:cs typeface="Calibri" pitchFamily="34" charset="0"/>
              </a:rPr>
              <a:t>Tạo</a:t>
            </a:r>
            <a:r>
              <a:rPr lang="en-US" sz="2400" dirty="0" smtClean="0">
                <a:latin typeface="Calibri" pitchFamily="34" charset="0"/>
                <a:cs typeface="Calibri" pitchFamily="34" charset="0"/>
              </a:rPr>
              <a:t> </a:t>
            </a:r>
            <a:r>
              <a:rPr lang="en-US" sz="2400" dirty="0" smtClean="0">
                <a:solidFill>
                  <a:srgbClr val="FF0000"/>
                </a:solidFill>
                <a:latin typeface="Calibri" pitchFamily="34" charset="0"/>
                <a:cs typeface="Calibri" pitchFamily="34" charset="0"/>
              </a:rPr>
              <a:t>primary zone </a:t>
            </a:r>
            <a:r>
              <a:rPr lang="en-US" sz="2400" dirty="0" smtClean="0">
                <a:latin typeface="Calibri" pitchFamily="34" charset="0"/>
                <a:cs typeface="Calibri" pitchFamily="34" charset="0"/>
              </a:rPr>
              <a:t>(</a:t>
            </a:r>
            <a:r>
              <a:rPr lang="en-US" sz="2400" dirty="0" err="1" smtClean="0">
                <a:latin typeface="Calibri" pitchFamily="34" charset="0"/>
                <a:cs typeface="Calibri" pitchFamily="34" charset="0"/>
              </a:rPr>
              <a:t>có</a:t>
            </a:r>
            <a:r>
              <a:rPr lang="en-US" sz="2400" dirty="0" smtClean="0">
                <a:latin typeface="Calibri" pitchFamily="34" charset="0"/>
                <a:cs typeface="Calibri" pitchFamily="34" charset="0"/>
              </a:rPr>
              <a:t> </a:t>
            </a:r>
            <a:r>
              <a:rPr lang="en-US" sz="2400" dirty="0" err="1" smtClean="0">
                <a:latin typeface="Calibri" pitchFamily="34" charset="0"/>
                <a:cs typeface="Calibri" pitchFamily="34" charset="0"/>
              </a:rPr>
              <a:t>tên</a:t>
            </a:r>
            <a:r>
              <a:rPr lang="en-US" sz="2400" dirty="0" smtClean="0">
                <a:latin typeface="Calibri" pitchFamily="34" charset="0"/>
                <a:cs typeface="Calibri" pitchFamily="34" charset="0"/>
              </a:rPr>
              <a:t> </a:t>
            </a:r>
            <a:r>
              <a:rPr lang="en-US" sz="2400" dirty="0" err="1" smtClean="0">
                <a:latin typeface="Calibri" pitchFamily="34" charset="0"/>
                <a:cs typeface="Calibri" pitchFamily="34" charset="0"/>
              </a:rPr>
              <a:t>miền</a:t>
            </a:r>
            <a:r>
              <a:rPr lang="en-US" sz="2400" dirty="0" smtClean="0">
                <a:latin typeface="Calibri" pitchFamily="34" charset="0"/>
                <a:cs typeface="Calibri" pitchFamily="34" charset="0"/>
              </a:rPr>
              <a:t> </a:t>
            </a:r>
            <a:r>
              <a:rPr lang="en-US" sz="2400" dirty="0" err="1" smtClean="0">
                <a:latin typeface="Calibri" pitchFamily="34" charset="0"/>
                <a:cs typeface="Calibri" pitchFamily="34" charset="0"/>
              </a:rPr>
              <a:t>là</a:t>
            </a:r>
            <a:r>
              <a:rPr lang="en-US" sz="2400" dirty="0" smtClean="0">
                <a:latin typeface="Calibri" pitchFamily="34" charset="0"/>
                <a:cs typeface="Calibri" pitchFamily="34" charset="0"/>
              </a:rPr>
              <a:t> sub </a:t>
            </a:r>
            <a:r>
              <a:rPr lang="en-US" sz="2400" dirty="0" err="1" smtClean="0">
                <a:latin typeface="Calibri" pitchFamily="34" charset="0"/>
                <a:cs typeface="Calibri" pitchFamily="34" charset="0"/>
              </a:rPr>
              <a:t>của</a:t>
            </a:r>
            <a:r>
              <a:rPr lang="en-US" sz="2400" dirty="0" smtClean="0">
                <a:latin typeface="Calibri" pitchFamily="34" charset="0"/>
                <a:cs typeface="Calibri" pitchFamily="34" charset="0"/>
              </a:rPr>
              <a:t> master, ex)</a:t>
            </a:r>
          </a:p>
          <a:p>
            <a:pPr marL="565150" indent="-457200">
              <a:buFontTx/>
              <a:buChar char="-"/>
            </a:pPr>
            <a:r>
              <a:rPr lang="en-US" sz="2400" dirty="0" err="1" smtClean="0">
                <a:latin typeface="Calibri" pitchFamily="34" charset="0"/>
              </a:rPr>
              <a:t>Các</a:t>
            </a:r>
            <a:r>
              <a:rPr lang="en-US" sz="2400" dirty="0" smtClean="0">
                <a:latin typeface="Calibri" pitchFamily="34" charset="0"/>
              </a:rPr>
              <a:t> </a:t>
            </a:r>
            <a:r>
              <a:rPr lang="en-US" sz="2400" dirty="0" err="1" smtClean="0">
                <a:latin typeface="Calibri" pitchFamily="34" charset="0"/>
              </a:rPr>
              <a:t>bản</a:t>
            </a:r>
            <a:r>
              <a:rPr lang="en-US" sz="2400" dirty="0" smtClean="0">
                <a:latin typeface="Calibri" pitchFamily="34" charset="0"/>
              </a:rPr>
              <a:t> </a:t>
            </a:r>
            <a:r>
              <a:rPr lang="en-US" sz="2400" dirty="0" err="1" smtClean="0">
                <a:latin typeface="Calibri" pitchFamily="34" charset="0"/>
              </a:rPr>
              <a:t>ghi</a:t>
            </a:r>
            <a:r>
              <a:rPr lang="en-US" sz="2400" dirty="0" smtClean="0">
                <a:latin typeface="Calibri" pitchFamily="34" charset="0"/>
              </a:rPr>
              <a:t> A, PTR</a:t>
            </a:r>
          </a:p>
          <a:p>
            <a:pPr marL="565150" indent="-457200">
              <a:buFontTx/>
              <a:buChar char="-"/>
            </a:pPr>
            <a:r>
              <a:rPr lang="en-US" sz="2400" dirty="0" err="1" smtClean="0">
                <a:solidFill>
                  <a:srgbClr val="FF0000"/>
                </a:solidFill>
                <a:latin typeface="Calibri" pitchFamily="34" charset="0"/>
              </a:rPr>
              <a:t>Forwader</a:t>
            </a:r>
            <a:r>
              <a:rPr lang="en-US" sz="2400" dirty="0" smtClean="0">
                <a:latin typeface="Calibri" pitchFamily="34" charset="0"/>
              </a:rPr>
              <a:t> </a:t>
            </a:r>
            <a:r>
              <a:rPr lang="en-US" sz="2400" dirty="0" err="1" smtClean="0">
                <a:latin typeface="Calibri" pitchFamily="34" charset="0"/>
              </a:rPr>
              <a:t>tới</a:t>
            </a:r>
            <a:r>
              <a:rPr lang="en-US" sz="2400" dirty="0" smtClean="0">
                <a:latin typeface="Calibri" pitchFamily="34" charset="0"/>
              </a:rPr>
              <a:t> Master</a:t>
            </a:r>
          </a:p>
          <a:p>
            <a:pPr marL="107950" indent="0">
              <a:buNone/>
            </a:pPr>
            <a:r>
              <a:rPr lang="en-US" sz="2400" dirty="0" smtClean="0">
                <a:latin typeface="Calibri" pitchFamily="34" charset="0"/>
              </a:rPr>
              <a:t>(Right Server\Property)</a:t>
            </a:r>
            <a:endParaRPr lang="vi-VN" sz="2400" dirty="0" smtClean="0"/>
          </a:p>
        </p:txBody>
      </p:sp>
      <p:sp>
        <p:nvSpPr>
          <p:cNvPr id="3" name="Title 2"/>
          <p:cNvSpPr>
            <a:spLocks noGrp="1"/>
          </p:cNvSpPr>
          <p:nvPr>
            <p:ph type="title"/>
          </p:nvPr>
        </p:nvSpPr>
        <p:spPr>
          <a:xfrm>
            <a:off x="0" y="76200"/>
            <a:ext cx="9144000" cy="609600"/>
          </a:xfrm>
        </p:spPr>
        <p:txBody>
          <a:bodyPr/>
          <a:lstStyle/>
          <a:p>
            <a:r>
              <a:rPr lang="vi-VN" sz="3600" smtClean="0"/>
              <a:t> VII</a:t>
            </a:r>
            <a:r>
              <a:rPr lang="en-US" sz="3600" smtClean="0"/>
              <a:t>I</a:t>
            </a:r>
            <a:r>
              <a:rPr lang="vi-VN" sz="3600" smtClean="0"/>
              <a:t>.</a:t>
            </a:r>
            <a:r>
              <a:rPr lang="en-US" sz="3600" smtClean="0"/>
              <a:t> 6. </a:t>
            </a:r>
            <a:r>
              <a:rPr lang="vi-VN" sz="3600" smtClean="0"/>
              <a:t>Ủy quyền cho miền con.</a:t>
            </a:r>
            <a:endParaRPr lang="en-US" sz="3600" smtClean="0"/>
          </a:p>
        </p:txBody>
      </p:sp>
      <p:pic>
        <p:nvPicPr>
          <p:cNvPr id="5" name="Picture 2"/>
          <p:cNvPicPr>
            <a:picLocks noChangeAspect="1" noChangeArrowheads="1"/>
          </p:cNvPicPr>
          <p:nvPr/>
        </p:nvPicPr>
        <p:blipFill>
          <a:blip r:embed="rId3"/>
          <a:srcRect/>
          <a:stretch>
            <a:fillRect/>
          </a:stretch>
        </p:blipFill>
        <p:spPr bwMode="auto">
          <a:xfrm>
            <a:off x="3657600" y="2286000"/>
            <a:ext cx="7315200" cy="4822127"/>
          </a:xfrm>
          <a:prstGeom prst="rect">
            <a:avLst/>
          </a:prstGeom>
          <a:noFill/>
          <a:ln w="9525">
            <a:noFill/>
            <a:miter lim="800000"/>
            <a:headEnd/>
            <a:tailEnd/>
          </a:ln>
          <a:effectLst/>
        </p:spPr>
      </p:pic>
    </p:spTree>
    <p:extLst>
      <p:ext uri="{BB962C8B-B14F-4D97-AF65-F5344CB8AC3E}">
        <p14:creationId xmlns:p14="http://schemas.microsoft.com/office/powerpoint/2010/main" val="2944271641"/>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623887" indent="-514350">
              <a:buNone/>
            </a:pPr>
            <a:r>
              <a:rPr lang="en-US" smtClean="0">
                <a:latin typeface="Calibri" pitchFamily="34" charset="0"/>
                <a:cs typeface="Calibri" pitchFamily="34" charset="0"/>
              </a:rPr>
              <a:t>Tại server DNS master</a:t>
            </a:r>
            <a:endParaRPr lang="vi-VN" smtClean="0"/>
          </a:p>
        </p:txBody>
      </p:sp>
      <p:sp>
        <p:nvSpPr>
          <p:cNvPr id="3" name="Title 2"/>
          <p:cNvSpPr>
            <a:spLocks noGrp="1"/>
          </p:cNvSpPr>
          <p:nvPr>
            <p:ph type="title"/>
          </p:nvPr>
        </p:nvSpPr>
        <p:spPr>
          <a:xfrm>
            <a:off x="0" y="76200"/>
            <a:ext cx="9144000" cy="609600"/>
          </a:xfrm>
        </p:spPr>
        <p:txBody>
          <a:bodyPr/>
          <a:lstStyle/>
          <a:p>
            <a:r>
              <a:rPr lang="vi-VN" sz="3600" smtClean="0"/>
              <a:t> VII</a:t>
            </a:r>
            <a:r>
              <a:rPr lang="en-US" sz="3600" smtClean="0"/>
              <a:t>I</a:t>
            </a:r>
            <a:r>
              <a:rPr lang="vi-VN" sz="3600" smtClean="0"/>
              <a:t>.</a:t>
            </a:r>
            <a:r>
              <a:rPr lang="en-US" sz="3600" smtClean="0"/>
              <a:t> 6. </a:t>
            </a:r>
            <a:r>
              <a:rPr lang="vi-VN" sz="3600" smtClean="0"/>
              <a:t>Ủy quyền cho miền con.</a:t>
            </a:r>
            <a:endParaRPr lang="en-US" sz="3600" smtClean="0"/>
          </a:p>
        </p:txBody>
      </p:sp>
      <p:pic>
        <p:nvPicPr>
          <p:cNvPr id="4" name="Picture 2"/>
          <p:cNvPicPr>
            <a:picLocks noChangeAspect="1" noChangeArrowheads="1"/>
          </p:cNvPicPr>
          <p:nvPr/>
        </p:nvPicPr>
        <p:blipFill>
          <a:blip r:embed="rId3"/>
          <a:srcRect/>
          <a:stretch>
            <a:fillRect/>
          </a:stretch>
        </p:blipFill>
        <p:spPr bwMode="auto">
          <a:xfrm>
            <a:off x="25400" y="1600200"/>
            <a:ext cx="6705600" cy="4419600"/>
          </a:xfrm>
          <a:prstGeom prst="rect">
            <a:avLst/>
          </a:prstGeom>
          <a:noFill/>
          <a:ln w="9525">
            <a:noFill/>
            <a:miter lim="800000"/>
            <a:headEnd/>
            <a:tailEnd/>
          </a:ln>
          <a:effectLst/>
        </p:spPr>
      </p:pic>
      <p:pic>
        <p:nvPicPr>
          <p:cNvPr id="6" name="Picture 2"/>
          <p:cNvPicPr>
            <a:picLocks noChangeAspect="1" noChangeArrowheads="1"/>
          </p:cNvPicPr>
          <p:nvPr/>
        </p:nvPicPr>
        <p:blipFill>
          <a:blip r:embed="rId4"/>
          <a:srcRect/>
          <a:stretch>
            <a:fillRect/>
          </a:stretch>
        </p:blipFill>
        <p:spPr bwMode="auto">
          <a:xfrm>
            <a:off x="1676400" y="1625600"/>
            <a:ext cx="5791200" cy="4420502"/>
          </a:xfrm>
          <a:prstGeom prst="rect">
            <a:avLst/>
          </a:prstGeom>
          <a:noFill/>
          <a:ln w="9525">
            <a:noFill/>
            <a:miter lim="800000"/>
            <a:headEnd/>
            <a:tailEnd/>
          </a:ln>
          <a:effectLst/>
        </p:spPr>
      </p:pic>
      <p:pic>
        <p:nvPicPr>
          <p:cNvPr id="7" name="Picture 2"/>
          <p:cNvPicPr>
            <a:picLocks noChangeAspect="1" noChangeArrowheads="1"/>
          </p:cNvPicPr>
          <p:nvPr/>
        </p:nvPicPr>
        <p:blipFill>
          <a:blip r:embed="rId5"/>
          <a:srcRect/>
          <a:stretch>
            <a:fillRect/>
          </a:stretch>
        </p:blipFill>
        <p:spPr bwMode="auto">
          <a:xfrm>
            <a:off x="2895600" y="1968049"/>
            <a:ext cx="7331220" cy="4114800"/>
          </a:xfrm>
          <a:prstGeom prst="rect">
            <a:avLst/>
          </a:prstGeom>
          <a:noFill/>
          <a:ln w="9525">
            <a:noFill/>
            <a:miter lim="800000"/>
            <a:headEnd/>
            <a:tailEnd/>
          </a:ln>
          <a:effectLst/>
        </p:spPr>
      </p:pic>
      <p:pic>
        <p:nvPicPr>
          <p:cNvPr id="8" name="Picture 2"/>
          <p:cNvPicPr>
            <a:picLocks noChangeAspect="1" noChangeArrowheads="1"/>
          </p:cNvPicPr>
          <p:nvPr/>
        </p:nvPicPr>
        <p:blipFill>
          <a:blip r:embed="rId6"/>
          <a:srcRect/>
          <a:stretch>
            <a:fillRect/>
          </a:stretch>
        </p:blipFill>
        <p:spPr bwMode="auto">
          <a:xfrm>
            <a:off x="4658237" y="2743200"/>
            <a:ext cx="7467600" cy="4953000"/>
          </a:xfrm>
          <a:prstGeom prst="rect">
            <a:avLst/>
          </a:prstGeom>
          <a:noFill/>
          <a:ln w="9525">
            <a:noFill/>
            <a:miter lim="800000"/>
            <a:headEnd/>
            <a:tailEnd/>
          </a:ln>
          <a:effectLst/>
        </p:spPr>
      </p:pic>
    </p:spTree>
    <p:extLst>
      <p:ext uri="{BB962C8B-B14F-4D97-AF65-F5344CB8AC3E}">
        <p14:creationId xmlns:p14="http://schemas.microsoft.com/office/powerpoint/2010/main" val="3666299736"/>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109537" indent="0">
              <a:buNone/>
            </a:pPr>
            <a:r>
              <a:rPr lang="en-US" dirty="0" err="1" smtClean="0"/>
              <a:t>Phân</a:t>
            </a:r>
            <a:r>
              <a:rPr lang="en-US" dirty="0" smtClean="0"/>
              <a:t> </a:t>
            </a:r>
            <a:r>
              <a:rPr lang="en-US" dirty="0" err="1" smtClean="0"/>
              <a:t>giải</a:t>
            </a:r>
            <a:r>
              <a:rPr lang="en-US" dirty="0" smtClean="0"/>
              <a:t> </a:t>
            </a:r>
            <a:r>
              <a:rPr lang="en-US" dirty="0" err="1" smtClean="0"/>
              <a:t>miền</a:t>
            </a:r>
            <a:r>
              <a:rPr lang="en-US" dirty="0" smtClean="0"/>
              <a:t> cha, </a:t>
            </a:r>
            <a:r>
              <a:rPr lang="en-US" dirty="0" err="1" smtClean="0"/>
              <a:t>miền</a:t>
            </a:r>
            <a:r>
              <a:rPr lang="en-US" dirty="0" smtClean="0"/>
              <a:t> con:</a:t>
            </a:r>
          </a:p>
          <a:p>
            <a:pPr marL="109537" indent="0">
              <a:buNone/>
            </a:pPr>
            <a:r>
              <a:rPr lang="en-US" dirty="0" err="1" smtClean="0"/>
              <a:t>Tại</a:t>
            </a:r>
            <a:r>
              <a:rPr lang="en-US" dirty="0" smtClean="0"/>
              <a:t> client:</a:t>
            </a:r>
          </a:p>
          <a:p>
            <a:r>
              <a:rPr lang="en-US" dirty="0" smtClean="0"/>
              <a:t>DNS Server </a:t>
            </a:r>
            <a:r>
              <a:rPr lang="en-US" dirty="0" err="1" smtClean="0"/>
              <a:t>miền</a:t>
            </a:r>
            <a:r>
              <a:rPr lang="en-US" dirty="0" smtClean="0"/>
              <a:t> cha:</a:t>
            </a:r>
          </a:p>
          <a:p>
            <a:pPr lvl="1"/>
            <a:r>
              <a:rPr lang="en-US" dirty="0" err="1" smtClean="0"/>
              <a:t>Phân</a:t>
            </a:r>
            <a:r>
              <a:rPr lang="en-US" dirty="0" smtClean="0"/>
              <a:t> </a:t>
            </a:r>
            <a:r>
              <a:rPr lang="en-US" dirty="0" err="1" smtClean="0"/>
              <a:t>giải</a:t>
            </a:r>
            <a:r>
              <a:rPr lang="en-US" dirty="0" smtClean="0"/>
              <a:t> </a:t>
            </a:r>
            <a:r>
              <a:rPr lang="en-US" dirty="0" err="1" smtClean="0"/>
              <a:t>miền</a:t>
            </a:r>
            <a:r>
              <a:rPr lang="en-US" dirty="0" smtClean="0"/>
              <a:t> cha: </a:t>
            </a:r>
            <a:r>
              <a:rPr lang="en-US" dirty="0" err="1" smtClean="0"/>
              <a:t>kết</a:t>
            </a:r>
            <a:r>
              <a:rPr lang="en-US" dirty="0" smtClean="0"/>
              <a:t> </a:t>
            </a:r>
            <a:r>
              <a:rPr lang="en-US" dirty="0" err="1" smtClean="0"/>
              <a:t>quả</a:t>
            </a:r>
            <a:r>
              <a:rPr lang="en-US" dirty="0" smtClean="0"/>
              <a:t> </a:t>
            </a:r>
            <a:r>
              <a:rPr lang="en-US" dirty="0" err="1" smtClean="0"/>
              <a:t>bình</a:t>
            </a:r>
            <a:r>
              <a:rPr lang="en-US" dirty="0" smtClean="0"/>
              <a:t> </a:t>
            </a:r>
            <a:r>
              <a:rPr lang="en-US" dirty="0" err="1" smtClean="0"/>
              <a:t>thường</a:t>
            </a:r>
            <a:endParaRPr lang="en-US" dirty="0" smtClean="0"/>
          </a:p>
          <a:p>
            <a:pPr lvl="1"/>
            <a:r>
              <a:rPr lang="en-US" dirty="0" err="1" smtClean="0"/>
              <a:t>phân</a:t>
            </a:r>
            <a:r>
              <a:rPr lang="en-US" dirty="0" smtClean="0"/>
              <a:t> </a:t>
            </a:r>
            <a:r>
              <a:rPr lang="en-US" dirty="0" err="1" smtClean="0"/>
              <a:t>giải</a:t>
            </a:r>
            <a:r>
              <a:rPr lang="en-US" dirty="0" smtClean="0"/>
              <a:t> </a:t>
            </a:r>
            <a:r>
              <a:rPr lang="en-US" dirty="0" err="1" smtClean="0"/>
              <a:t>miền</a:t>
            </a:r>
            <a:r>
              <a:rPr lang="en-US" dirty="0" smtClean="0"/>
              <a:t> con, </a:t>
            </a:r>
            <a:r>
              <a:rPr lang="en-US" dirty="0" err="1" smtClean="0"/>
              <a:t>kết</a:t>
            </a:r>
            <a:r>
              <a:rPr lang="en-US" dirty="0" smtClean="0"/>
              <a:t> </a:t>
            </a:r>
            <a:r>
              <a:rPr lang="en-US" dirty="0" err="1" smtClean="0"/>
              <a:t>quả</a:t>
            </a:r>
            <a:r>
              <a:rPr lang="en-US" dirty="0" smtClean="0"/>
              <a:t> </a:t>
            </a:r>
            <a:r>
              <a:rPr lang="en-US" dirty="0" err="1" smtClean="0"/>
              <a:t>là</a:t>
            </a:r>
            <a:r>
              <a:rPr lang="en-US" dirty="0" smtClean="0"/>
              <a:t> </a:t>
            </a:r>
            <a:r>
              <a:rPr lang="en-US" dirty="0" smtClean="0">
                <a:solidFill>
                  <a:srgbClr val="FF0000"/>
                </a:solidFill>
              </a:rPr>
              <a:t>non-authoritative</a:t>
            </a:r>
            <a:r>
              <a:rPr lang="en-US" dirty="0" smtClean="0"/>
              <a:t> </a:t>
            </a:r>
            <a:r>
              <a:rPr lang="en-US" dirty="0" smtClean="0">
                <a:solidFill>
                  <a:srgbClr val="FF0000"/>
                </a:solidFill>
              </a:rPr>
              <a:t>answer </a:t>
            </a:r>
            <a:r>
              <a:rPr lang="en-US" dirty="0" smtClean="0"/>
              <a:t>(</a:t>
            </a:r>
            <a:r>
              <a:rPr lang="en-US" dirty="0" err="1" smtClean="0"/>
              <a:t>kết</a:t>
            </a:r>
            <a:r>
              <a:rPr lang="en-US" dirty="0" smtClean="0"/>
              <a:t> </a:t>
            </a:r>
            <a:r>
              <a:rPr lang="en-US" dirty="0" err="1" smtClean="0"/>
              <a:t>quả</a:t>
            </a:r>
            <a:r>
              <a:rPr lang="en-US" dirty="0" smtClean="0"/>
              <a:t> </a:t>
            </a:r>
            <a:r>
              <a:rPr lang="en-US" dirty="0" err="1" smtClean="0"/>
              <a:t>truy</a:t>
            </a:r>
            <a:r>
              <a:rPr lang="en-US" dirty="0" smtClean="0"/>
              <a:t> </a:t>
            </a:r>
            <a:r>
              <a:rPr lang="en-US" dirty="0" err="1" smtClean="0"/>
              <a:t>vấn</a:t>
            </a:r>
            <a:r>
              <a:rPr lang="en-US" dirty="0" smtClean="0"/>
              <a:t> </a:t>
            </a:r>
            <a:r>
              <a:rPr lang="en-US" dirty="0" err="1" smtClean="0"/>
              <a:t>lấy</a:t>
            </a:r>
            <a:r>
              <a:rPr lang="en-US" dirty="0" smtClean="0"/>
              <a:t> </a:t>
            </a:r>
            <a:r>
              <a:rPr lang="en-US" dirty="0" err="1" smtClean="0"/>
              <a:t>được</a:t>
            </a:r>
            <a:r>
              <a:rPr lang="en-US" dirty="0" smtClean="0"/>
              <a:t> </a:t>
            </a:r>
            <a:r>
              <a:rPr lang="en-US" dirty="0" err="1" smtClean="0"/>
              <a:t>từ</a:t>
            </a:r>
            <a:r>
              <a:rPr lang="en-US" dirty="0" smtClean="0"/>
              <a:t>) </a:t>
            </a:r>
            <a:r>
              <a:rPr lang="en-US" dirty="0" err="1" smtClean="0"/>
              <a:t>miền</a:t>
            </a:r>
            <a:r>
              <a:rPr lang="en-US" dirty="0" smtClean="0"/>
              <a:t> con</a:t>
            </a:r>
          </a:p>
          <a:p>
            <a:r>
              <a:rPr lang="en-US" dirty="0" smtClean="0"/>
              <a:t>DNS Server </a:t>
            </a:r>
            <a:r>
              <a:rPr lang="en-US" dirty="0" err="1" smtClean="0"/>
              <a:t>miền</a:t>
            </a:r>
            <a:r>
              <a:rPr lang="en-US" dirty="0" smtClean="0"/>
              <a:t> con:</a:t>
            </a:r>
          </a:p>
          <a:p>
            <a:pPr lvl="1"/>
            <a:r>
              <a:rPr lang="en-US" dirty="0" err="1" smtClean="0"/>
              <a:t>Phân</a:t>
            </a:r>
            <a:r>
              <a:rPr lang="en-US" dirty="0" smtClean="0"/>
              <a:t> </a:t>
            </a:r>
            <a:r>
              <a:rPr lang="en-US" dirty="0" err="1" smtClean="0"/>
              <a:t>giải</a:t>
            </a:r>
            <a:r>
              <a:rPr lang="en-US" dirty="0" smtClean="0"/>
              <a:t> </a:t>
            </a:r>
            <a:r>
              <a:rPr lang="en-US" dirty="0" err="1" smtClean="0"/>
              <a:t>miền</a:t>
            </a:r>
            <a:r>
              <a:rPr lang="en-US" dirty="0" smtClean="0"/>
              <a:t> con: </a:t>
            </a:r>
            <a:r>
              <a:rPr lang="en-US" dirty="0" err="1" smtClean="0"/>
              <a:t>kq</a:t>
            </a:r>
            <a:r>
              <a:rPr lang="en-US" dirty="0" smtClean="0"/>
              <a:t> </a:t>
            </a:r>
            <a:r>
              <a:rPr lang="en-US" dirty="0" err="1" smtClean="0"/>
              <a:t>bt.</a:t>
            </a:r>
            <a:r>
              <a:rPr lang="en-US" dirty="0" smtClean="0"/>
              <a:t> </a:t>
            </a:r>
          </a:p>
          <a:p>
            <a:pPr lvl="1"/>
            <a:r>
              <a:rPr lang="en-US" dirty="0" err="1" smtClean="0"/>
              <a:t>Không</a:t>
            </a:r>
            <a:r>
              <a:rPr lang="en-US" dirty="0" smtClean="0"/>
              <a:t> </a:t>
            </a:r>
            <a:r>
              <a:rPr lang="en-US" dirty="0" err="1" smtClean="0"/>
              <a:t>phân</a:t>
            </a:r>
            <a:r>
              <a:rPr lang="en-US" dirty="0" smtClean="0"/>
              <a:t> </a:t>
            </a:r>
            <a:r>
              <a:rPr lang="en-US" dirty="0" err="1" smtClean="0"/>
              <a:t>giải</a:t>
            </a:r>
            <a:r>
              <a:rPr lang="en-US" dirty="0" smtClean="0"/>
              <a:t> </a:t>
            </a:r>
            <a:r>
              <a:rPr lang="en-US" dirty="0" err="1" smtClean="0"/>
              <a:t>được</a:t>
            </a:r>
            <a:r>
              <a:rPr lang="en-US" dirty="0" smtClean="0"/>
              <a:t> </a:t>
            </a:r>
            <a:r>
              <a:rPr lang="en-US" dirty="0" err="1" smtClean="0"/>
              <a:t>miền</a:t>
            </a:r>
            <a:r>
              <a:rPr lang="en-US" dirty="0" smtClean="0"/>
              <a:t> cha.</a:t>
            </a:r>
          </a:p>
          <a:p>
            <a:endParaRPr lang="en-US" dirty="0"/>
          </a:p>
        </p:txBody>
      </p:sp>
      <p:sp>
        <p:nvSpPr>
          <p:cNvPr id="3" name="Title 2"/>
          <p:cNvSpPr>
            <a:spLocks noGrp="1"/>
          </p:cNvSpPr>
          <p:nvPr>
            <p:ph type="title"/>
          </p:nvPr>
        </p:nvSpPr>
        <p:spPr/>
        <p:txBody>
          <a:bodyPr/>
          <a:lstStyle/>
          <a:p>
            <a:r>
              <a:rPr lang="en-US" smtClean="0"/>
              <a:t>Test</a:t>
            </a:r>
            <a:endParaRPr lang="en-US"/>
          </a:p>
        </p:txBody>
      </p:sp>
    </p:spTree>
    <p:extLst>
      <p:ext uri="{BB962C8B-B14F-4D97-AF65-F5344CB8AC3E}">
        <p14:creationId xmlns:p14="http://schemas.microsoft.com/office/powerpoint/2010/main" val="1102044102"/>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52400" y="838200"/>
            <a:ext cx="8763000" cy="5638800"/>
          </a:xfrm>
        </p:spPr>
        <p:txBody>
          <a:bodyPr>
            <a:normAutofit fontScale="70000" lnSpcReduction="20000"/>
          </a:bodyPr>
          <a:lstStyle/>
          <a:p>
            <a:pPr marL="111125" indent="-3175">
              <a:lnSpc>
                <a:spcPct val="120000"/>
              </a:lnSpc>
              <a:buNone/>
            </a:pPr>
            <a:r>
              <a:rPr lang="vi-VN" dirty="0" smtClean="0"/>
              <a:t>S</a:t>
            </a:r>
            <a:r>
              <a:rPr lang="en-US" dirty="0" err="1" smtClean="0"/>
              <a:t>econdary</a:t>
            </a:r>
            <a:r>
              <a:rPr lang="en-US" dirty="0" smtClean="0"/>
              <a:t> </a:t>
            </a:r>
            <a:r>
              <a:rPr lang="vi-VN" dirty="0" smtClean="0"/>
              <a:t>N</a:t>
            </a:r>
            <a:r>
              <a:rPr lang="en-US" dirty="0" err="1" smtClean="0"/>
              <a:t>ame</a:t>
            </a:r>
            <a:r>
              <a:rPr lang="en-US" dirty="0" smtClean="0"/>
              <a:t> </a:t>
            </a:r>
            <a:r>
              <a:rPr lang="vi-VN" dirty="0" smtClean="0"/>
              <a:t>S</a:t>
            </a:r>
            <a:r>
              <a:rPr lang="en-US" dirty="0" err="1" smtClean="0"/>
              <a:t>erver</a:t>
            </a:r>
            <a:r>
              <a:rPr lang="en-US" dirty="0" smtClean="0"/>
              <a:t>:</a:t>
            </a:r>
            <a:r>
              <a:rPr lang="vi-VN" dirty="0" smtClean="0"/>
              <a:t> là máy dự phòng, nó  lưu  trữ bảng sao dữ  liệu  từ máy PNS</a:t>
            </a:r>
            <a:r>
              <a:rPr lang="en-US" dirty="0" smtClean="0"/>
              <a:t> ( CSDL </a:t>
            </a:r>
            <a:r>
              <a:rPr lang="en-US" dirty="0" err="1" smtClean="0"/>
              <a:t>sẽ</a:t>
            </a:r>
            <a:r>
              <a:rPr lang="en-US" dirty="0" smtClean="0"/>
              <a:t> </a:t>
            </a:r>
            <a:r>
              <a:rPr lang="en-US" dirty="0" err="1" smtClean="0"/>
              <a:t>tự</a:t>
            </a:r>
            <a:r>
              <a:rPr lang="en-US" dirty="0" smtClean="0"/>
              <a:t> </a:t>
            </a:r>
            <a:r>
              <a:rPr lang="en-US" dirty="0" err="1" smtClean="0"/>
              <a:t>động</a:t>
            </a:r>
            <a:r>
              <a:rPr lang="en-US" dirty="0" smtClean="0"/>
              <a:t> </a:t>
            </a:r>
            <a:r>
              <a:rPr lang="en-US" dirty="0" err="1" smtClean="0"/>
              <a:t>cập</a:t>
            </a:r>
            <a:r>
              <a:rPr lang="en-US" dirty="0" smtClean="0"/>
              <a:t> </a:t>
            </a:r>
            <a:r>
              <a:rPr lang="en-US" dirty="0" err="1" smtClean="0"/>
              <a:t>nhập</a:t>
            </a:r>
            <a:r>
              <a:rPr lang="en-US" dirty="0" smtClean="0"/>
              <a:t> sang SNS)</a:t>
            </a:r>
          </a:p>
          <a:p>
            <a:pPr marL="565150" indent="-457200">
              <a:lnSpc>
                <a:spcPct val="120000"/>
              </a:lnSpc>
              <a:buFont typeface="Wingdings" pitchFamily="2" charset="2"/>
              <a:buChar char="v"/>
            </a:pPr>
            <a:r>
              <a:rPr lang="en-US" dirty="0" err="1"/>
              <a:t>Tại</a:t>
            </a:r>
            <a:r>
              <a:rPr lang="en-US" dirty="0"/>
              <a:t> </a:t>
            </a:r>
            <a:r>
              <a:rPr lang="en-US" dirty="0" err="1"/>
              <a:t>máy</a:t>
            </a:r>
            <a:r>
              <a:rPr lang="en-US" dirty="0"/>
              <a:t> </a:t>
            </a:r>
            <a:r>
              <a:rPr lang="vi-VN" dirty="0"/>
              <a:t>Master</a:t>
            </a:r>
            <a:r>
              <a:rPr lang="en-US" dirty="0"/>
              <a:t>, </a:t>
            </a:r>
          </a:p>
          <a:p>
            <a:pPr marL="820738" lvl="1" indent="-457200">
              <a:lnSpc>
                <a:spcPct val="120000"/>
              </a:lnSpc>
              <a:buFontTx/>
              <a:buChar char="-"/>
            </a:pPr>
            <a:r>
              <a:rPr lang="en-US" dirty="0" err="1" smtClean="0"/>
              <a:t>Cài</a:t>
            </a:r>
            <a:r>
              <a:rPr lang="en-US" dirty="0" smtClean="0"/>
              <a:t> </a:t>
            </a:r>
            <a:r>
              <a:rPr lang="en-US" dirty="0" err="1" smtClean="0"/>
              <a:t>đặt</a:t>
            </a:r>
            <a:r>
              <a:rPr lang="en-US" dirty="0" smtClean="0"/>
              <a:t> DNS</a:t>
            </a:r>
          </a:p>
          <a:p>
            <a:pPr marL="820738" lvl="1" indent="-457200">
              <a:lnSpc>
                <a:spcPct val="120000"/>
              </a:lnSpc>
              <a:buFontTx/>
              <a:buChar char="-"/>
            </a:pPr>
            <a:r>
              <a:rPr lang="en-US" dirty="0" err="1" smtClean="0"/>
              <a:t>Tạo</a:t>
            </a:r>
            <a:r>
              <a:rPr lang="en-US" dirty="0" smtClean="0"/>
              <a:t> Primary zone, </a:t>
            </a:r>
            <a:r>
              <a:rPr lang="en-US" dirty="0" err="1" smtClean="0"/>
              <a:t>các</a:t>
            </a:r>
            <a:r>
              <a:rPr lang="en-US" dirty="0" smtClean="0"/>
              <a:t> </a:t>
            </a:r>
            <a:r>
              <a:rPr lang="en-US" dirty="0"/>
              <a:t>RR</a:t>
            </a:r>
          </a:p>
          <a:p>
            <a:pPr marL="565150" indent="-457200">
              <a:lnSpc>
                <a:spcPct val="120000"/>
              </a:lnSpc>
              <a:buFont typeface="Wingdings" pitchFamily="2" charset="2"/>
              <a:buChar char="v"/>
            </a:pPr>
            <a:r>
              <a:rPr lang="en-US" dirty="0" err="1" smtClean="0"/>
              <a:t>Tại</a:t>
            </a:r>
            <a:r>
              <a:rPr lang="en-US" dirty="0" smtClean="0"/>
              <a:t> </a:t>
            </a:r>
            <a:r>
              <a:rPr lang="en-US" dirty="0" err="1" smtClean="0"/>
              <a:t>Máy</a:t>
            </a:r>
            <a:r>
              <a:rPr lang="en-US" dirty="0" smtClean="0"/>
              <a:t> Server DNS Secondary: </a:t>
            </a:r>
            <a:r>
              <a:rPr lang="en-US" dirty="0" err="1" smtClean="0"/>
              <a:t>đặt</a:t>
            </a:r>
            <a:r>
              <a:rPr lang="en-US" dirty="0" smtClean="0"/>
              <a:t> IP, </a:t>
            </a:r>
            <a:r>
              <a:rPr lang="en-US" dirty="0" err="1" smtClean="0"/>
              <a:t>cài</a:t>
            </a:r>
            <a:r>
              <a:rPr lang="en-US" dirty="0" smtClean="0"/>
              <a:t> DNS</a:t>
            </a:r>
          </a:p>
          <a:p>
            <a:pPr marL="625475" indent="-3175">
              <a:lnSpc>
                <a:spcPct val="120000"/>
              </a:lnSpc>
              <a:buNone/>
              <a:tabLst>
                <a:tab pos="577850" algn="l"/>
              </a:tabLst>
            </a:pPr>
            <a:r>
              <a:rPr lang="en-US" dirty="0" smtClean="0"/>
              <a:t> </a:t>
            </a:r>
            <a:r>
              <a:rPr lang="en-US" sz="2800" dirty="0" smtClean="0"/>
              <a:t>- </a:t>
            </a:r>
            <a:r>
              <a:rPr lang="en-US" sz="2800" dirty="0" err="1" smtClean="0"/>
              <a:t>Chọn</a:t>
            </a:r>
            <a:r>
              <a:rPr lang="en-US" sz="2800" dirty="0" smtClean="0"/>
              <a:t>: </a:t>
            </a:r>
            <a:r>
              <a:rPr lang="vi-VN" sz="2800" dirty="0" smtClean="0">
                <a:solidFill>
                  <a:srgbClr val="FF0000"/>
                </a:solidFill>
              </a:rPr>
              <a:t>Secondary Zone</a:t>
            </a:r>
            <a:endParaRPr lang="en-US" sz="2800" dirty="0" smtClean="0">
              <a:solidFill>
                <a:srgbClr val="FF0000"/>
              </a:solidFill>
            </a:endParaRPr>
          </a:p>
          <a:p>
            <a:pPr marL="625475" indent="-3175">
              <a:lnSpc>
                <a:spcPct val="120000"/>
              </a:lnSpc>
              <a:buNone/>
              <a:tabLst>
                <a:tab pos="577850" algn="l"/>
              </a:tabLst>
            </a:pPr>
            <a:r>
              <a:rPr lang="en-US" sz="2400" dirty="0" smtClean="0"/>
              <a:t> - </a:t>
            </a:r>
            <a:r>
              <a:rPr lang="vi-VN" sz="2800" dirty="0"/>
              <a:t>Chỉ định Zone Name muốn sao </a:t>
            </a:r>
            <a:r>
              <a:rPr lang="vi-VN" sz="2800" dirty="0" smtClean="0"/>
              <a:t>chép</a:t>
            </a:r>
            <a:r>
              <a:rPr lang="en-US" sz="2800" dirty="0" smtClean="0"/>
              <a:t> (ở master)</a:t>
            </a:r>
            <a:endParaRPr lang="en-US" sz="2800" dirty="0"/>
          </a:p>
          <a:p>
            <a:pPr marL="625475" indent="-3175">
              <a:lnSpc>
                <a:spcPct val="120000"/>
              </a:lnSpc>
              <a:buNone/>
              <a:tabLst>
                <a:tab pos="577850" algn="l"/>
              </a:tabLst>
            </a:pPr>
            <a:r>
              <a:rPr lang="en-US" sz="2800" dirty="0" smtClean="0"/>
              <a:t> -  </a:t>
            </a:r>
            <a:r>
              <a:rPr lang="vi-VN" sz="2800" dirty="0"/>
              <a:t>Chỉ  định  địa  chỉ  của  máy  </a:t>
            </a:r>
            <a:r>
              <a:rPr lang="vi-VN" sz="2800" dirty="0" smtClean="0"/>
              <a:t>Master </a:t>
            </a:r>
            <a:endParaRPr lang="en-US" sz="2800" dirty="0" smtClean="0"/>
          </a:p>
          <a:p>
            <a:pPr marL="625475" indent="-3175">
              <a:lnSpc>
                <a:spcPct val="120000"/>
              </a:lnSpc>
              <a:buNone/>
              <a:tabLst>
                <a:tab pos="577850" algn="l"/>
              </a:tabLst>
            </a:pPr>
            <a:r>
              <a:rPr lang="en-US" sz="2800" dirty="0" smtClean="0"/>
              <a:t>  - </a:t>
            </a:r>
            <a:r>
              <a:rPr lang="en-US" sz="2800" dirty="0" err="1" smtClean="0"/>
              <a:t>Tạo</a:t>
            </a:r>
            <a:r>
              <a:rPr lang="en-US" sz="2800" dirty="0" smtClean="0"/>
              <a:t> zone </a:t>
            </a:r>
            <a:r>
              <a:rPr lang="en-US" sz="2800" dirty="0" err="1" smtClean="0"/>
              <a:t>thuận</a:t>
            </a:r>
            <a:r>
              <a:rPr lang="en-US" sz="2800" dirty="0" smtClean="0"/>
              <a:t> </a:t>
            </a:r>
            <a:r>
              <a:rPr lang="en-US" sz="2800" dirty="0" err="1" smtClean="0"/>
              <a:t>ngịch</a:t>
            </a:r>
            <a:r>
              <a:rPr lang="en-US" sz="2800" dirty="0" smtClean="0"/>
              <a:t> (</a:t>
            </a:r>
            <a:r>
              <a:rPr lang="en-US" sz="2800" dirty="0" err="1" smtClean="0"/>
              <a:t>giống</a:t>
            </a:r>
            <a:r>
              <a:rPr lang="en-US" sz="2800" dirty="0" smtClean="0"/>
              <a:t> ở Master)</a:t>
            </a:r>
          </a:p>
          <a:p>
            <a:pPr marL="565150" indent="-457200">
              <a:lnSpc>
                <a:spcPct val="120000"/>
              </a:lnSpc>
              <a:buFont typeface="Wingdings" pitchFamily="2" charset="2"/>
              <a:buChar char="v"/>
            </a:pPr>
            <a:r>
              <a:rPr lang="vi-VN" dirty="0" smtClean="0"/>
              <a:t>Zone </a:t>
            </a:r>
            <a:r>
              <a:rPr lang="vi-VN" dirty="0"/>
              <a:t>Transfer Reload</a:t>
            </a:r>
            <a:r>
              <a:rPr lang="en-US" dirty="0"/>
              <a:t>: </a:t>
            </a:r>
            <a:r>
              <a:rPr lang="vi-VN" dirty="0"/>
              <a:t> </a:t>
            </a:r>
            <a:r>
              <a:rPr lang="en-US" dirty="0" err="1" smtClean="0"/>
              <a:t>tại</a:t>
            </a:r>
            <a:r>
              <a:rPr lang="en-US" dirty="0" smtClean="0"/>
              <a:t> </a:t>
            </a:r>
            <a:r>
              <a:rPr lang="en-US" dirty="0" err="1" smtClean="0"/>
              <a:t>máy</a:t>
            </a:r>
            <a:r>
              <a:rPr lang="en-US" dirty="0" smtClean="0"/>
              <a:t> Master:</a:t>
            </a:r>
          </a:p>
          <a:p>
            <a:pPr marL="363538" lvl="1" indent="0">
              <a:lnSpc>
                <a:spcPct val="120000"/>
              </a:lnSpc>
              <a:buNone/>
            </a:pPr>
            <a:r>
              <a:rPr lang="en-US" dirty="0" smtClean="0"/>
              <a:t>- </a:t>
            </a:r>
            <a:r>
              <a:rPr lang="en-US" dirty="0" err="1"/>
              <a:t>chọn</a:t>
            </a:r>
            <a:r>
              <a:rPr lang="en-US" dirty="0"/>
              <a:t> Allow </a:t>
            </a:r>
            <a:r>
              <a:rPr lang="en-US" dirty="0">
                <a:solidFill>
                  <a:srgbClr val="FF0000"/>
                </a:solidFill>
              </a:rPr>
              <a:t>transfer zone</a:t>
            </a:r>
            <a:r>
              <a:rPr lang="en-US" dirty="0"/>
              <a:t>: </a:t>
            </a:r>
            <a:r>
              <a:rPr lang="en-US" dirty="0" err="1"/>
              <a:t>chỉ</a:t>
            </a:r>
            <a:r>
              <a:rPr lang="en-US" dirty="0"/>
              <a:t> </a:t>
            </a:r>
            <a:r>
              <a:rPr lang="en-US" dirty="0" err="1"/>
              <a:t>định</a:t>
            </a:r>
            <a:r>
              <a:rPr lang="en-US" dirty="0"/>
              <a:t> IP </a:t>
            </a:r>
            <a:r>
              <a:rPr lang="en-US" dirty="0" err="1"/>
              <a:t>của</a:t>
            </a:r>
            <a:r>
              <a:rPr lang="en-US" dirty="0"/>
              <a:t> </a:t>
            </a:r>
            <a:r>
              <a:rPr lang="en-US" dirty="0" err="1"/>
              <a:t>máy</a:t>
            </a:r>
            <a:r>
              <a:rPr lang="en-US" dirty="0"/>
              <a:t> Secondary.</a:t>
            </a:r>
          </a:p>
          <a:p>
            <a:pPr marL="107950" indent="0">
              <a:lnSpc>
                <a:spcPct val="120000"/>
              </a:lnSpc>
              <a:buNone/>
            </a:pPr>
            <a:r>
              <a:rPr lang="en-US" dirty="0" smtClean="0"/>
              <a:t>   =&gt; </a:t>
            </a:r>
            <a:r>
              <a:rPr lang="en-US" dirty="0" err="1" smtClean="0"/>
              <a:t>Các</a:t>
            </a:r>
            <a:r>
              <a:rPr lang="en-US" dirty="0" smtClean="0"/>
              <a:t> </a:t>
            </a:r>
            <a:r>
              <a:rPr lang="en-US" dirty="0" err="1" smtClean="0"/>
              <a:t>bản</a:t>
            </a:r>
            <a:r>
              <a:rPr lang="en-US" dirty="0" smtClean="0"/>
              <a:t> </a:t>
            </a:r>
            <a:r>
              <a:rPr lang="en-US" dirty="0" err="1" smtClean="0"/>
              <a:t>ghi</a:t>
            </a:r>
            <a:r>
              <a:rPr lang="en-US" dirty="0" smtClean="0"/>
              <a:t> RR </a:t>
            </a:r>
            <a:r>
              <a:rPr lang="vi-VN" dirty="0"/>
              <a:t>từ máy </a:t>
            </a:r>
            <a:r>
              <a:rPr lang="en-US" dirty="0" err="1" smtClean="0"/>
              <a:t>máy</a:t>
            </a:r>
            <a:r>
              <a:rPr lang="en-US" dirty="0" smtClean="0"/>
              <a:t> Master </a:t>
            </a:r>
            <a:r>
              <a:rPr lang="en-US" dirty="0" err="1" smtClean="0"/>
              <a:t>sẽ</a:t>
            </a:r>
            <a:r>
              <a:rPr lang="en-US" dirty="0" smtClean="0"/>
              <a:t> transfer </a:t>
            </a:r>
            <a:r>
              <a:rPr lang="en-US" dirty="0" err="1" smtClean="0"/>
              <a:t>cho</a:t>
            </a:r>
            <a:r>
              <a:rPr lang="en-US" dirty="0" smtClean="0"/>
              <a:t> Secondary</a:t>
            </a:r>
            <a:endParaRPr lang="vi-VN" dirty="0"/>
          </a:p>
        </p:txBody>
      </p:sp>
      <p:sp>
        <p:nvSpPr>
          <p:cNvPr id="3" name="Title 2"/>
          <p:cNvSpPr>
            <a:spLocks noGrp="1"/>
          </p:cNvSpPr>
          <p:nvPr>
            <p:ph type="title"/>
          </p:nvPr>
        </p:nvSpPr>
        <p:spPr>
          <a:xfrm>
            <a:off x="0" y="76200"/>
            <a:ext cx="9144000" cy="609600"/>
          </a:xfrm>
        </p:spPr>
        <p:txBody>
          <a:bodyPr/>
          <a:lstStyle/>
          <a:p>
            <a:r>
              <a:rPr lang="vi-VN" sz="3600" smtClean="0"/>
              <a:t> VII</a:t>
            </a:r>
            <a:r>
              <a:rPr lang="en-US" sz="3600" smtClean="0"/>
              <a:t>I</a:t>
            </a:r>
            <a:r>
              <a:rPr lang="vi-VN" sz="3600" smtClean="0"/>
              <a:t>. </a:t>
            </a:r>
            <a:r>
              <a:rPr lang="en-US" sz="3600" smtClean="0"/>
              <a:t>7. T</a:t>
            </a:r>
            <a:r>
              <a:rPr lang="vi-VN" sz="3600" smtClean="0"/>
              <a:t>ạo Secondary Zone.</a:t>
            </a:r>
            <a:endParaRPr lang="en-US" sz="3600" smtClean="0"/>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76200"/>
            <a:ext cx="9144000" cy="609600"/>
          </a:xfrm>
        </p:spPr>
        <p:txBody>
          <a:bodyPr/>
          <a:lstStyle/>
          <a:p>
            <a:r>
              <a:rPr lang="vi-VN" sz="3600" smtClean="0"/>
              <a:t> VII</a:t>
            </a:r>
            <a:r>
              <a:rPr lang="en-US" sz="3600" smtClean="0"/>
              <a:t>I</a:t>
            </a:r>
            <a:r>
              <a:rPr lang="vi-VN" sz="3600" smtClean="0"/>
              <a:t>. </a:t>
            </a:r>
            <a:r>
              <a:rPr lang="en-US" sz="3600" smtClean="0"/>
              <a:t>7. T</a:t>
            </a:r>
            <a:r>
              <a:rPr lang="vi-VN" sz="3600" smtClean="0"/>
              <a:t>ạo Secondary Zone.</a:t>
            </a:r>
            <a:endParaRPr lang="en-US" sz="3600" smtClean="0"/>
          </a:p>
        </p:txBody>
      </p:sp>
      <p:sp>
        <p:nvSpPr>
          <p:cNvPr id="5" name="Content Placeholder 4"/>
          <p:cNvSpPr>
            <a:spLocks noGrp="1"/>
          </p:cNvSpPr>
          <p:nvPr>
            <p:ph idx="1"/>
          </p:nvPr>
        </p:nvSpPr>
        <p:spPr/>
        <p:txBody>
          <a:bodyPr/>
          <a:lstStyle/>
          <a:p>
            <a:r>
              <a:rPr lang="en-US" smtClean="0"/>
              <a:t>Zone transfer</a:t>
            </a:r>
            <a:endParaRPr lang="en-US"/>
          </a:p>
        </p:txBody>
      </p:sp>
      <p:pic>
        <p:nvPicPr>
          <p:cNvPr id="6" name="Picture 2"/>
          <p:cNvPicPr>
            <a:picLocks noChangeAspect="1" noChangeArrowheads="1"/>
          </p:cNvPicPr>
          <p:nvPr/>
        </p:nvPicPr>
        <p:blipFill>
          <a:blip r:embed="rId2"/>
          <a:srcRect/>
          <a:stretch>
            <a:fillRect/>
          </a:stretch>
        </p:blipFill>
        <p:spPr bwMode="auto">
          <a:xfrm>
            <a:off x="4533900" y="1143000"/>
            <a:ext cx="4038600" cy="4854583"/>
          </a:xfrm>
          <a:prstGeom prst="rect">
            <a:avLst/>
          </a:prstGeom>
          <a:noFill/>
          <a:ln w="9525">
            <a:noFill/>
            <a:miter lim="800000"/>
            <a:headEnd/>
            <a:tailEnd/>
          </a:ln>
          <a:effectLst/>
        </p:spPr>
      </p:pic>
    </p:spTree>
    <p:extLst>
      <p:ext uri="{BB962C8B-B14F-4D97-AF65-F5344CB8AC3E}">
        <p14:creationId xmlns:p14="http://schemas.microsoft.com/office/powerpoint/2010/main" val="875547371"/>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76200"/>
            <a:ext cx="9144000" cy="609600"/>
          </a:xfrm>
        </p:spPr>
        <p:txBody>
          <a:bodyPr/>
          <a:lstStyle/>
          <a:p>
            <a:r>
              <a:rPr lang="vi-VN" sz="3600" smtClean="0"/>
              <a:t> VII</a:t>
            </a:r>
            <a:r>
              <a:rPr lang="en-US" sz="3600" smtClean="0"/>
              <a:t>I</a:t>
            </a:r>
            <a:r>
              <a:rPr lang="vi-VN" sz="3600" smtClean="0"/>
              <a:t>. </a:t>
            </a:r>
            <a:r>
              <a:rPr lang="en-US" sz="3600" smtClean="0"/>
              <a:t>7. T</a:t>
            </a:r>
            <a:r>
              <a:rPr lang="vi-VN" sz="3600" smtClean="0"/>
              <a:t>ạo Secondary Zone.</a:t>
            </a:r>
            <a:endParaRPr lang="en-US" sz="3600" smtClean="0"/>
          </a:p>
        </p:txBody>
      </p:sp>
      <p:sp>
        <p:nvSpPr>
          <p:cNvPr id="5" name="Content Placeholder 4"/>
          <p:cNvSpPr>
            <a:spLocks noGrp="1"/>
          </p:cNvSpPr>
          <p:nvPr>
            <p:ph idx="1"/>
          </p:nvPr>
        </p:nvSpPr>
        <p:spPr/>
        <p:txBody>
          <a:bodyPr/>
          <a:lstStyle/>
          <a:p>
            <a:r>
              <a:rPr lang="en-US" smtClean="0"/>
              <a:t>Test tại client DNS:</a:t>
            </a:r>
          </a:p>
          <a:p>
            <a:pPr marL="109537" indent="0">
              <a:buNone/>
            </a:pPr>
            <a:r>
              <a:rPr lang="en-US"/>
              <a:t>Giả sử PC DNS server primary không hoạt </a:t>
            </a:r>
            <a:r>
              <a:rPr lang="en-US" smtClean="0"/>
              <a:t>động, </a:t>
            </a:r>
            <a:r>
              <a:rPr lang="en-US"/>
              <a:t>Khi sử dụng lệnh nslookup cho </a:t>
            </a:r>
            <a:r>
              <a:rPr lang="en-US" smtClean="0"/>
              <a:t>DNS </a:t>
            </a:r>
            <a:r>
              <a:rPr lang="en-US"/>
              <a:t>server secondary thì vẫn phân giải được</a:t>
            </a:r>
          </a:p>
        </p:txBody>
      </p:sp>
    </p:spTree>
    <p:extLst>
      <p:ext uri="{BB962C8B-B14F-4D97-AF65-F5344CB8AC3E}">
        <p14:creationId xmlns:p14="http://schemas.microsoft.com/office/powerpoint/2010/main" val="1331033086"/>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623887" indent="-514350">
              <a:buNone/>
            </a:pPr>
            <a:r>
              <a:rPr lang="en-US" smtClean="0"/>
              <a:t>-</a:t>
            </a:r>
            <a:r>
              <a:rPr lang="vi-VN" smtClean="0"/>
              <a:t> </a:t>
            </a:r>
            <a:r>
              <a:rPr lang="en-US" smtClean="0"/>
              <a:t>Thực hiện trong quá trình cài AD: </a:t>
            </a:r>
          </a:p>
          <a:p>
            <a:pPr marL="111125" indent="-3175">
              <a:buNone/>
            </a:pPr>
            <a:r>
              <a:rPr lang="vi-VN" smtClean="0"/>
              <a:t>chỉ tạo một số </a:t>
            </a:r>
            <a:r>
              <a:rPr lang="en-US" smtClean="0"/>
              <a:t>CSDL </a:t>
            </a:r>
            <a:r>
              <a:rPr lang="vi-VN" smtClean="0"/>
              <a:t>cần  thiết ban đầu để nó  thực hiện một số  thao  tác  truy vấn và quản  lý </a:t>
            </a:r>
            <a:r>
              <a:rPr lang="en-US" smtClean="0"/>
              <a:t>CSDL </a:t>
            </a:r>
            <a:r>
              <a:rPr lang="vi-VN" smtClean="0"/>
              <a:t>cho </a:t>
            </a:r>
            <a:r>
              <a:rPr lang="en-US" smtClean="0"/>
              <a:t>AD</a:t>
            </a:r>
          </a:p>
          <a:p>
            <a:pPr marL="623887" indent="-514350">
              <a:buNone/>
            </a:pPr>
            <a:r>
              <a:rPr lang="en-US" smtClean="0"/>
              <a:t>- Hoặc tạo zone sau: có nhiều option</a:t>
            </a:r>
          </a:p>
          <a:p>
            <a:pPr marL="623887" indent="-514350">
              <a:buNone/>
            </a:pPr>
            <a:r>
              <a:rPr lang="en-US" smtClean="0"/>
              <a:t>Chọn: Store the zone in AD</a:t>
            </a:r>
            <a:endParaRPr lang="vi-VN" smtClean="0"/>
          </a:p>
        </p:txBody>
      </p:sp>
      <p:sp>
        <p:nvSpPr>
          <p:cNvPr id="3" name="Title 2"/>
          <p:cNvSpPr>
            <a:spLocks noGrp="1"/>
          </p:cNvSpPr>
          <p:nvPr>
            <p:ph type="title"/>
          </p:nvPr>
        </p:nvSpPr>
        <p:spPr>
          <a:xfrm>
            <a:off x="0" y="76200"/>
            <a:ext cx="9144000" cy="609600"/>
          </a:xfrm>
        </p:spPr>
        <p:txBody>
          <a:bodyPr/>
          <a:lstStyle/>
          <a:p>
            <a:r>
              <a:rPr lang="vi-VN" sz="3600" smtClean="0"/>
              <a:t> VII</a:t>
            </a:r>
            <a:r>
              <a:rPr lang="en-US" sz="3600" smtClean="0"/>
              <a:t>I</a:t>
            </a:r>
            <a:r>
              <a:rPr lang="vi-VN" sz="3600" smtClean="0"/>
              <a:t>.</a:t>
            </a:r>
            <a:r>
              <a:rPr lang="en-US" sz="3600" smtClean="0"/>
              <a:t>8.</a:t>
            </a:r>
            <a:r>
              <a:rPr lang="vi-VN" sz="3600" smtClean="0"/>
              <a:t> Tạo zone tích hợp với </a:t>
            </a:r>
            <a:r>
              <a:rPr lang="en-US" sz="3600" smtClean="0"/>
              <a:t>AD</a:t>
            </a:r>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buNone/>
            </a:pPr>
            <a:r>
              <a:rPr lang="vi-VN" smtClean="0"/>
              <a:t> Thông thường có ba phần chính trong việc thay đổi tùy chọn. </a:t>
            </a:r>
          </a:p>
          <a:p>
            <a:r>
              <a:rPr lang="vi-VN" smtClean="0"/>
              <a:t>Tùy chọn cho Name Server. </a:t>
            </a:r>
          </a:p>
          <a:p>
            <a:r>
              <a:rPr lang="vi-VN" smtClean="0"/>
              <a:t>Tùy chọn cho từng zone name. </a:t>
            </a:r>
          </a:p>
          <a:p>
            <a:r>
              <a:rPr lang="vi-VN" smtClean="0"/>
              <a:t>Tùy chọn cho từng RR trong zone name. </a:t>
            </a:r>
            <a:endParaRPr lang="en-US"/>
          </a:p>
        </p:txBody>
      </p:sp>
      <p:sp>
        <p:nvSpPr>
          <p:cNvPr id="3" name="Title 2"/>
          <p:cNvSpPr>
            <a:spLocks noGrp="1"/>
          </p:cNvSpPr>
          <p:nvPr>
            <p:ph type="title"/>
          </p:nvPr>
        </p:nvSpPr>
        <p:spPr/>
        <p:txBody>
          <a:bodyPr/>
          <a:lstStyle/>
          <a:p>
            <a:r>
              <a:rPr lang="vi-VN" sz="3200" smtClean="0"/>
              <a:t>9</a:t>
            </a:r>
            <a:r>
              <a:rPr lang="en-US" sz="3200" smtClean="0"/>
              <a:t>.</a:t>
            </a:r>
            <a:r>
              <a:rPr lang="vi-VN" sz="3200" smtClean="0"/>
              <a:t> Thay đổi một số tùy chọn trên Name Server</a:t>
            </a:r>
            <a:endParaRPr lang="en-US" sz="3200"/>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623887" indent="-514350">
              <a:buNone/>
            </a:pPr>
            <a:r>
              <a:rPr lang="vi-VN" smtClean="0"/>
              <a:t>Trong  DNS management console cung cấp mục Event Viewer </a:t>
            </a:r>
            <a:endParaRPr lang="en-US"/>
          </a:p>
        </p:txBody>
      </p:sp>
      <p:sp>
        <p:nvSpPr>
          <p:cNvPr id="3" name="Title 2"/>
          <p:cNvSpPr>
            <a:spLocks noGrp="1"/>
          </p:cNvSpPr>
          <p:nvPr>
            <p:ph type="title"/>
          </p:nvPr>
        </p:nvSpPr>
        <p:spPr/>
        <p:txBody>
          <a:bodyPr/>
          <a:lstStyle/>
          <a:p>
            <a:r>
              <a:rPr lang="vi-VN" smtClean="0"/>
              <a:t>Theo dõi sự kiện log trong DNS. </a:t>
            </a:r>
            <a:endParaRPr lang="en-US"/>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mtClean="0"/>
              <a:t>Theo yêu cầu </a:t>
            </a:r>
            <a:endParaRPr lang="en-US"/>
          </a:p>
        </p:txBody>
      </p:sp>
      <p:sp>
        <p:nvSpPr>
          <p:cNvPr id="3" name="Title 2"/>
          <p:cNvSpPr>
            <a:spLocks noGrp="1"/>
          </p:cNvSpPr>
          <p:nvPr>
            <p:ph type="title"/>
          </p:nvPr>
        </p:nvSpPr>
        <p:spPr/>
        <p:txBody>
          <a:bodyPr/>
          <a:lstStyle/>
          <a:p>
            <a:pPr algn="ctr"/>
            <a:r>
              <a:rPr lang="en-US" smtClean="0"/>
              <a:t>THỰC HÀNH</a:t>
            </a:r>
            <a:endParaRPr lang="en-US"/>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heme1">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Theme1</Template>
  <TotalTime>6654</TotalTime>
  <Words>4282</Words>
  <Application>Microsoft Office PowerPoint</Application>
  <PresentationFormat>On-screen Show (4:3)</PresentationFormat>
  <Paragraphs>612</Paragraphs>
  <Slides>80</Slides>
  <Notes>10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80</vt:i4>
      </vt:variant>
    </vt:vector>
  </HeadingPairs>
  <TitlesOfParts>
    <vt:vector size="92" baseType="lpstr">
      <vt:lpstr>Arial</vt:lpstr>
      <vt:lpstr>Arial Narrow</vt:lpstr>
      <vt:lpstr>Calibri</vt:lpstr>
      <vt:lpstr>Courier New</vt:lpstr>
      <vt:lpstr>Garamond</vt:lpstr>
      <vt:lpstr>Lucida Sans Unicode</vt:lpstr>
      <vt:lpstr>Times New Roman</vt:lpstr>
      <vt:lpstr>Verdana</vt:lpstr>
      <vt:lpstr>Wingdings</vt:lpstr>
      <vt:lpstr>Wingdings 2</vt:lpstr>
      <vt:lpstr>Wingdings 3</vt:lpstr>
      <vt:lpstr>Theme1</vt:lpstr>
      <vt:lpstr>Chapter 1.2: Ethernet</vt:lpstr>
      <vt:lpstr>NỘI DUNG</vt:lpstr>
      <vt:lpstr>I. Tổng quan về DNS</vt:lpstr>
      <vt:lpstr> I.1.  Giới thiệu DNS</vt:lpstr>
      <vt:lpstr>CSDL của DNS</vt:lpstr>
      <vt:lpstr>I.2. Sơ đồ tổ chức của DNS</vt:lpstr>
      <vt:lpstr>I.3. Các thành phần trong dịch vụ DNS:</vt:lpstr>
      <vt:lpstr>I.4.  Đặc điểm của DNS trong Windows</vt:lpstr>
      <vt:lpstr>II.Cách phân bổ dữ liệu quản lý domain name. </vt:lpstr>
      <vt:lpstr>II.Cách phân bổ dữ liệu quản lý domain name. </vt:lpstr>
      <vt:lpstr>Mô hình</vt:lpstr>
      <vt:lpstr>III. Cơ chế phân giải tên.</vt:lpstr>
      <vt:lpstr>Ví dụ: www.hcmute.edu.vn</vt:lpstr>
      <vt:lpstr>1. Phân giải tên thành IP. </vt:lpstr>
      <vt:lpstr>1. Phân giải tên thành IP. </vt:lpstr>
      <vt:lpstr>1. Phân giải tên thành IP. </vt:lpstr>
      <vt:lpstr>1.  Phân giải tên thành IP. </vt:lpstr>
      <vt:lpstr>2. Phân giải IP thành tên máy</vt:lpstr>
      <vt:lpstr>2. Phân giải IP thành tên máy</vt:lpstr>
      <vt:lpstr> IV.  Một số Khái niệm cơ bản</vt:lpstr>
      <vt:lpstr>IV.1. Domain name và zone</vt:lpstr>
      <vt:lpstr> Stub zone</vt:lpstr>
      <vt:lpstr>So sánh</vt:lpstr>
      <vt:lpstr> IV.2. FQDN</vt:lpstr>
      <vt:lpstr>IV.3. Sự ủy quyền(Delegation).</vt:lpstr>
      <vt:lpstr>Sự ủy quyền (delegation)</vt:lpstr>
      <vt:lpstr>IV.4. Forwarder</vt:lpstr>
      <vt:lpstr>IV.5. Dynamic DNS </vt:lpstr>
      <vt:lpstr>Cập nhật RR tự động từ DNS Client</vt:lpstr>
      <vt:lpstr>DHCP server cập nhật dynamic update</vt:lpstr>
      <vt:lpstr>IV.7.  Active Directory-integrated zone. </vt:lpstr>
      <vt:lpstr>Secure Dynamic Update với Active Directory - Integrated Zone</vt:lpstr>
      <vt:lpstr>8.What Are Forward and Reverse Lookup Zones?</vt:lpstr>
      <vt:lpstr>V.  Phân loại Domain Name Server.</vt:lpstr>
      <vt:lpstr>V.1. Primary Name Server</vt:lpstr>
      <vt:lpstr>V.2. Secondary (Slave) Name Server</vt:lpstr>
      <vt:lpstr>Zone transfer</vt:lpstr>
      <vt:lpstr>Primary - Secondary</vt:lpstr>
      <vt:lpstr>How Preferred and Alternate DNS Servers Work</vt:lpstr>
      <vt:lpstr>V.3. Caching Name Server </vt:lpstr>
      <vt:lpstr>V.3. Caching Name Server </vt:lpstr>
      <vt:lpstr>PowerPoint Presentation</vt:lpstr>
      <vt:lpstr>VI.   Resource Record (RR). </vt:lpstr>
      <vt:lpstr>VI.   Resource Record (RR). </vt:lpstr>
      <vt:lpstr>What Are Resource Records and Record Types?</vt:lpstr>
      <vt:lpstr>VI.1. SOA</vt:lpstr>
      <vt:lpstr>SOA</vt:lpstr>
      <vt:lpstr>SOA</vt:lpstr>
      <vt:lpstr>VI.2.  NS </vt:lpstr>
      <vt:lpstr>VI.3.  A và CNAME</vt:lpstr>
      <vt:lpstr>VI.4.  AAAA</vt:lpstr>
      <vt:lpstr>VI.5.  SRV. </vt:lpstr>
      <vt:lpstr>VI.6.  MX (Mail Exchange). </vt:lpstr>
      <vt:lpstr>VI.6.  MX (Mail Exchange). </vt:lpstr>
      <vt:lpstr>VI.7.  PTR (Pointer)</vt:lpstr>
      <vt:lpstr> VII.  Cài đặt dịch vụ DNS. </vt:lpstr>
      <vt:lpstr> VII.  Cài đặt dịch vụ DNS. </vt:lpstr>
      <vt:lpstr> VII.  Cài đặt dịch vụ DNS. </vt:lpstr>
      <vt:lpstr> VIII.  Cấu hình dịch vụ DNS. </vt:lpstr>
      <vt:lpstr>What Are Forward and Reverse Lookup Zones?</vt:lpstr>
      <vt:lpstr> VIII.1. Tạo Forward Lookup Zone</vt:lpstr>
      <vt:lpstr> VIII.2. Tạo Reverse Lookup Zone</vt:lpstr>
      <vt:lpstr> VIII.3. Tạo Resource Record(RR) </vt:lpstr>
      <vt:lpstr> VIII.4. Kiểm tra hoạt động dịch vụ DNS. </vt:lpstr>
      <vt:lpstr>How Preferred and Alternate DNS Servers Work</vt:lpstr>
      <vt:lpstr>Ex: A</vt:lpstr>
      <vt:lpstr>Ex: CNAME</vt:lpstr>
      <vt:lpstr> VIII.5. Tạo miền con (Subdomain). </vt:lpstr>
      <vt:lpstr>Ex: subdomain</vt:lpstr>
      <vt:lpstr> VIII. 6. Ủy quyền cho miền con.</vt:lpstr>
      <vt:lpstr> VIII. 6. Ủy quyền cho miền con.</vt:lpstr>
      <vt:lpstr> VIII. 6. Ủy quyền cho miền con.</vt:lpstr>
      <vt:lpstr>Test</vt:lpstr>
      <vt:lpstr> VIII. 7. Tạo Secondary Zone.</vt:lpstr>
      <vt:lpstr> VIII. 7. Tạo Secondary Zone.</vt:lpstr>
      <vt:lpstr> VIII. 7. Tạo Secondary Zone.</vt:lpstr>
      <vt:lpstr> VIII.8. Tạo zone tích hợp với AD</vt:lpstr>
      <vt:lpstr>9. Thay đổi một số tùy chọn trên Name Server</vt:lpstr>
      <vt:lpstr>Theo dõi sự kiện log trong DNS. </vt:lpstr>
      <vt:lpstr>THỰC HÀNH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vannt</dc:creator>
  <cp:lastModifiedBy>Admin</cp:lastModifiedBy>
  <cp:revision>76</cp:revision>
  <dcterms:created xsi:type="dcterms:W3CDTF">2006-08-16T00:00:00Z</dcterms:created>
  <dcterms:modified xsi:type="dcterms:W3CDTF">2020-04-27T04:24:11Z</dcterms:modified>
</cp:coreProperties>
</file>